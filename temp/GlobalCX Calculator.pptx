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handoutMasterIdLst>
    <p:handoutMasterId r:id="rId24"/>
  </p:handoutMasterIdLst>
  <p:sldIdLst>
    <p:sldId id="517" r:id="rId2"/>
    <p:sldId id="308" r:id="rId3"/>
    <p:sldId id="518" r:id="rId4"/>
    <p:sldId id="309" r:id="rId5"/>
    <p:sldId id="3121" r:id="rId6"/>
    <p:sldId id="3126" r:id="rId7"/>
    <p:sldId id="3128" r:id="rId8"/>
    <p:sldId id="3125" r:id="rId9"/>
    <p:sldId id="2660" r:id="rId10"/>
    <p:sldId id="3132" r:id="rId11"/>
    <p:sldId id="3129" r:id="rId12"/>
    <p:sldId id="3136" r:id="rId13"/>
    <p:sldId id="3131" r:id="rId14"/>
    <p:sldId id="3133" r:id="rId15"/>
    <p:sldId id="3123" r:id="rId16"/>
    <p:sldId id="3124" r:id="rId17"/>
    <p:sldId id="3130" r:id="rId18"/>
    <p:sldId id="3135" r:id="rId19"/>
    <p:sldId id="3137" r:id="rId20"/>
    <p:sldId id="3134" r:id="rId21"/>
    <p:sldId id="479" r:id="rId22"/>
  </p:sldIdLst>
  <p:sldSz cx="12192000" cy="6858000"/>
  <p:notesSz cx="9363075" cy="7077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rle Lommel" initials="AL" lastIdx="3" clrIdx="0">
    <p:extLst>
      <p:ext uri="{19B8F6BF-5375-455C-9EA6-DF929625EA0E}">
        <p15:presenceInfo xmlns:p15="http://schemas.microsoft.com/office/powerpoint/2012/main" userId="S::alommel@csa-research.com::43561685-74be-4128-9233-2d1968b9d84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6AA51"/>
    <a:srgbClr val="875295"/>
    <a:srgbClr val="E48D25"/>
    <a:srgbClr val="C84938"/>
    <a:srgbClr val="FFFCEF"/>
    <a:srgbClr val="6075A7"/>
    <a:srgbClr val="00A79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92" autoAdjust="0"/>
    <p:restoredTop sz="73014" autoAdjust="0"/>
  </p:normalViewPr>
  <p:slideViewPr>
    <p:cSldViewPr snapToGrid="0">
      <p:cViewPr varScale="1">
        <p:scale>
          <a:sx n="86" d="100"/>
          <a:sy n="86" d="100"/>
        </p:scale>
        <p:origin x="1432" y="200"/>
      </p:cViewPr>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0"/>
    </p:cViewPr>
  </p:sorterViewPr>
  <p:notesViewPr>
    <p:cSldViewPr snapToGrid="0">
      <p:cViewPr varScale="1">
        <p:scale>
          <a:sx n="65" d="100"/>
          <a:sy n="65" d="100"/>
        </p:scale>
        <p:origin x="2064" y="6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Volumes\csa\Shared\Research\!In%20production\WOW-GWAI%20series\WOW%202022\masterclass\masterclass-revenue-by-period.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Trends in Growth (Absolute Revenue)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Absolute!$A$2</c:f>
              <c:strCache>
                <c:ptCount val="1"/>
                <c:pt idx="0">
                  <c:v>AR</c:v>
                </c:pt>
              </c:strCache>
            </c:strRef>
          </c:tx>
          <c:spPr>
            <a:ln w="28575" cap="rnd">
              <a:solidFill>
                <a:schemeClr val="accent1"/>
              </a:solidFill>
              <a:prstDash val="sysDash"/>
              <a:round/>
            </a:ln>
            <a:effectLst/>
          </c:spPr>
          <c:marker>
            <c:symbol val="none"/>
          </c:marker>
          <c:cat>
            <c:strRef>
              <c:f>Absolute!$B$1:$BQ$1</c:f>
              <c:strCache>
                <c:ptCount val="68"/>
                <c:pt idx="0">
                  <c:v>2016-06</c:v>
                </c:pt>
                <c:pt idx="1">
                  <c:v>2016-07</c:v>
                </c:pt>
                <c:pt idx="2">
                  <c:v>2016-08</c:v>
                </c:pt>
                <c:pt idx="3">
                  <c:v>2016-09</c:v>
                </c:pt>
                <c:pt idx="4">
                  <c:v>2016-10</c:v>
                </c:pt>
                <c:pt idx="5">
                  <c:v>2016-11</c:v>
                </c:pt>
                <c:pt idx="6">
                  <c:v>2016-12</c:v>
                </c:pt>
                <c:pt idx="7">
                  <c:v>2017-01</c:v>
                </c:pt>
                <c:pt idx="8">
                  <c:v>2017-02</c:v>
                </c:pt>
                <c:pt idx="9">
                  <c:v>2017-03</c:v>
                </c:pt>
                <c:pt idx="10">
                  <c:v>2017-04</c:v>
                </c:pt>
                <c:pt idx="11">
                  <c:v>2017-05</c:v>
                </c:pt>
                <c:pt idx="12">
                  <c:v>2017-06</c:v>
                </c:pt>
                <c:pt idx="13">
                  <c:v>2017-07</c:v>
                </c:pt>
                <c:pt idx="14">
                  <c:v>2017-08</c:v>
                </c:pt>
                <c:pt idx="15">
                  <c:v>2017-09</c:v>
                </c:pt>
                <c:pt idx="16">
                  <c:v>2017-10</c:v>
                </c:pt>
                <c:pt idx="17">
                  <c:v>2017-11</c:v>
                </c:pt>
                <c:pt idx="18">
                  <c:v>2017-12</c:v>
                </c:pt>
                <c:pt idx="19">
                  <c:v>2018-01</c:v>
                </c:pt>
                <c:pt idx="20">
                  <c:v>2018-02</c:v>
                </c:pt>
                <c:pt idx="21">
                  <c:v>2018-03</c:v>
                </c:pt>
                <c:pt idx="22">
                  <c:v>2018-04</c:v>
                </c:pt>
                <c:pt idx="23">
                  <c:v>2018-05</c:v>
                </c:pt>
                <c:pt idx="24">
                  <c:v>2018-06</c:v>
                </c:pt>
                <c:pt idx="25">
                  <c:v>2018-07</c:v>
                </c:pt>
                <c:pt idx="26">
                  <c:v>2018-08</c:v>
                </c:pt>
                <c:pt idx="27">
                  <c:v>2018-09</c:v>
                </c:pt>
                <c:pt idx="28">
                  <c:v>2018-10</c:v>
                </c:pt>
                <c:pt idx="29">
                  <c:v>2018-11</c:v>
                </c:pt>
                <c:pt idx="30">
                  <c:v>2018-12</c:v>
                </c:pt>
                <c:pt idx="31">
                  <c:v>2019-01</c:v>
                </c:pt>
                <c:pt idx="32">
                  <c:v>2019-02</c:v>
                </c:pt>
                <c:pt idx="33">
                  <c:v>2019-03</c:v>
                </c:pt>
                <c:pt idx="34">
                  <c:v>2019-04</c:v>
                </c:pt>
                <c:pt idx="35">
                  <c:v>2019-05</c:v>
                </c:pt>
                <c:pt idx="36">
                  <c:v>2019-06</c:v>
                </c:pt>
                <c:pt idx="37">
                  <c:v>2019-07</c:v>
                </c:pt>
                <c:pt idx="38">
                  <c:v>2019-08</c:v>
                </c:pt>
                <c:pt idx="39">
                  <c:v>2019-09</c:v>
                </c:pt>
                <c:pt idx="40">
                  <c:v>2019-10</c:v>
                </c:pt>
                <c:pt idx="41">
                  <c:v>2019-11</c:v>
                </c:pt>
                <c:pt idx="42">
                  <c:v>2019-12</c:v>
                </c:pt>
                <c:pt idx="43">
                  <c:v>2020-01</c:v>
                </c:pt>
                <c:pt idx="44">
                  <c:v>2020-02</c:v>
                </c:pt>
                <c:pt idx="45">
                  <c:v>2020-03</c:v>
                </c:pt>
                <c:pt idx="46">
                  <c:v>2020-04</c:v>
                </c:pt>
                <c:pt idx="47">
                  <c:v>2020-05</c:v>
                </c:pt>
                <c:pt idx="48">
                  <c:v>2020-06</c:v>
                </c:pt>
                <c:pt idx="49">
                  <c:v>2020-07</c:v>
                </c:pt>
                <c:pt idx="50">
                  <c:v>2020-08</c:v>
                </c:pt>
                <c:pt idx="51">
                  <c:v>2020-09</c:v>
                </c:pt>
                <c:pt idx="52">
                  <c:v>2020-10</c:v>
                </c:pt>
                <c:pt idx="53">
                  <c:v>2020-11</c:v>
                </c:pt>
                <c:pt idx="54">
                  <c:v>2020-12</c:v>
                </c:pt>
                <c:pt idx="55">
                  <c:v>2021-01</c:v>
                </c:pt>
                <c:pt idx="56">
                  <c:v>2021-02</c:v>
                </c:pt>
                <c:pt idx="57">
                  <c:v>2021-03</c:v>
                </c:pt>
                <c:pt idx="58">
                  <c:v>2021-04</c:v>
                </c:pt>
                <c:pt idx="59">
                  <c:v>2021-05</c:v>
                </c:pt>
                <c:pt idx="60">
                  <c:v>2021-06</c:v>
                </c:pt>
                <c:pt idx="61">
                  <c:v>2021-07</c:v>
                </c:pt>
                <c:pt idx="62">
                  <c:v>2021-08</c:v>
                </c:pt>
                <c:pt idx="63">
                  <c:v>2021-09</c:v>
                </c:pt>
                <c:pt idx="64">
                  <c:v>2021-10</c:v>
                </c:pt>
                <c:pt idx="65">
                  <c:v>2021-11</c:v>
                </c:pt>
                <c:pt idx="66">
                  <c:v>2021-12</c:v>
                </c:pt>
                <c:pt idx="67">
                  <c:v>2022-01</c:v>
                </c:pt>
              </c:strCache>
            </c:strRef>
          </c:cat>
          <c:val>
            <c:numRef>
              <c:f>Absolute!$B$2:$BQ$2</c:f>
              <c:numCache>
                <c:formatCode>_("$"* #,##0.00_);_("$"* \(#,##0.00\);_("$"* "-"??_);_(@_)</c:formatCode>
                <c:ptCount val="68"/>
                <c:pt idx="0">
                  <c:v>1531</c:v>
                </c:pt>
                <c:pt idx="1">
                  <c:v>1081</c:v>
                </c:pt>
                <c:pt idx="2">
                  <c:v>2611</c:v>
                </c:pt>
                <c:pt idx="3">
                  <c:v>1531</c:v>
                </c:pt>
                <c:pt idx="4">
                  <c:v>1081</c:v>
                </c:pt>
                <c:pt idx="5">
                  <c:v>271</c:v>
                </c:pt>
                <c:pt idx="6">
                  <c:v>4141</c:v>
                </c:pt>
                <c:pt idx="7">
                  <c:v>1351</c:v>
                </c:pt>
                <c:pt idx="8">
                  <c:v>1531</c:v>
                </c:pt>
                <c:pt idx="9">
                  <c:v>2251</c:v>
                </c:pt>
                <c:pt idx="10">
                  <c:v>3331</c:v>
                </c:pt>
                <c:pt idx="11">
                  <c:v>4231</c:v>
                </c:pt>
                <c:pt idx="12">
                  <c:v>6751</c:v>
                </c:pt>
                <c:pt idx="13">
                  <c:v>6752</c:v>
                </c:pt>
                <c:pt idx="14">
                  <c:v>5041</c:v>
                </c:pt>
                <c:pt idx="15">
                  <c:v>7561</c:v>
                </c:pt>
                <c:pt idx="16">
                  <c:v>11881</c:v>
                </c:pt>
                <c:pt idx="17">
                  <c:v>8461</c:v>
                </c:pt>
                <c:pt idx="18">
                  <c:v>5941</c:v>
                </c:pt>
                <c:pt idx="19">
                  <c:v>23156.26</c:v>
                </c:pt>
                <c:pt idx="20">
                  <c:v>12786.48</c:v>
                </c:pt>
                <c:pt idx="21">
                  <c:v>9996.5</c:v>
                </c:pt>
                <c:pt idx="22">
                  <c:v>9812.27</c:v>
                </c:pt>
                <c:pt idx="23">
                  <c:v>10710.99</c:v>
                </c:pt>
                <c:pt idx="24">
                  <c:v>7663.6</c:v>
                </c:pt>
                <c:pt idx="25">
                  <c:v>5873.82</c:v>
                </c:pt>
                <c:pt idx="26">
                  <c:v>6850.85</c:v>
                </c:pt>
                <c:pt idx="27">
                  <c:v>5533.78</c:v>
                </c:pt>
                <c:pt idx="28">
                  <c:v>2701</c:v>
                </c:pt>
                <c:pt idx="29">
                  <c:v>6596.73</c:v>
                </c:pt>
                <c:pt idx="30">
                  <c:v>8082.35</c:v>
                </c:pt>
                <c:pt idx="31">
                  <c:v>20686.84</c:v>
                </c:pt>
                <c:pt idx="32">
                  <c:v>15847.89</c:v>
                </c:pt>
                <c:pt idx="33">
                  <c:v>11573.26</c:v>
                </c:pt>
                <c:pt idx="34">
                  <c:v>11337.02</c:v>
                </c:pt>
                <c:pt idx="35">
                  <c:v>9540.99</c:v>
                </c:pt>
                <c:pt idx="36">
                  <c:v>9180.98</c:v>
                </c:pt>
                <c:pt idx="37">
                  <c:v>10439.5</c:v>
                </c:pt>
                <c:pt idx="38">
                  <c:v>10080.950000000001</c:v>
                </c:pt>
                <c:pt idx="39">
                  <c:v>8813.3700000000008</c:v>
                </c:pt>
                <c:pt idx="40">
                  <c:v>11767.08</c:v>
                </c:pt>
                <c:pt idx="41">
                  <c:v>8130.94</c:v>
                </c:pt>
                <c:pt idx="42">
                  <c:v>11231.6</c:v>
                </c:pt>
                <c:pt idx="43">
                  <c:v>37506.410000000003</c:v>
                </c:pt>
                <c:pt idx="44">
                  <c:v>19305.939999999999</c:v>
                </c:pt>
                <c:pt idx="45">
                  <c:v>14398.55</c:v>
                </c:pt>
                <c:pt idx="46">
                  <c:v>42150.46</c:v>
                </c:pt>
                <c:pt idx="47">
                  <c:v>48254.39</c:v>
                </c:pt>
                <c:pt idx="48">
                  <c:v>27698.9</c:v>
                </c:pt>
                <c:pt idx="49">
                  <c:v>18010.830000000002</c:v>
                </c:pt>
                <c:pt idx="50">
                  <c:v>15404.47</c:v>
                </c:pt>
                <c:pt idx="51">
                  <c:v>16532.62</c:v>
                </c:pt>
                <c:pt idx="52">
                  <c:v>13196.92</c:v>
                </c:pt>
                <c:pt idx="53">
                  <c:v>9830.93</c:v>
                </c:pt>
                <c:pt idx="54">
                  <c:v>12849.39</c:v>
                </c:pt>
                <c:pt idx="55">
                  <c:v>31992.11</c:v>
                </c:pt>
                <c:pt idx="56">
                  <c:v>17574.82</c:v>
                </c:pt>
                <c:pt idx="57">
                  <c:v>14216.31</c:v>
                </c:pt>
                <c:pt idx="58">
                  <c:v>30987.9</c:v>
                </c:pt>
                <c:pt idx="59">
                  <c:v>51964.36</c:v>
                </c:pt>
                <c:pt idx="60">
                  <c:v>25623.54</c:v>
                </c:pt>
                <c:pt idx="61">
                  <c:v>20897.89</c:v>
                </c:pt>
                <c:pt idx="62">
                  <c:v>13369.52</c:v>
                </c:pt>
                <c:pt idx="63">
                  <c:v>17287.09</c:v>
                </c:pt>
                <c:pt idx="64">
                  <c:v>13932.55</c:v>
                </c:pt>
                <c:pt idx="65">
                  <c:v>8707.58</c:v>
                </c:pt>
                <c:pt idx="66">
                  <c:v>13389.93</c:v>
                </c:pt>
                <c:pt idx="67">
                  <c:v>34147.040000000001</c:v>
                </c:pt>
              </c:numCache>
            </c:numRef>
          </c:val>
          <c:smooth val="0"/>
          <c:extLst>
            <c:ext xmlns:c16="http://schemas.microsoft.com/office/drawing/2014/chart" uri="{C3380CC4-5D6E-409C-BE32-E72D297353CC}">
              <c16:uniqueId val="{00000000-307C-C943-B703-FE5F9C1BF0D5}"/>
            </c:ext>
          </c:extLst>
        </c:ser>
        <c:ser>
          <c:idx val="1"/>
          <c:order val="1"/>
          <c:tx>
            <c:strRef>
              <c:f>Absolute!$A$3</c:f>
              <c:strCache>
                <c:ptCount val="1"/>
                <c:pt idx="0">
                  <c:v>AT</c:v>
                </c:pt>
              </c:strCache>
            </c:strRef>
          </c:tx>
          <c:spPr>
            <a:ln w="28575" cap="rnd" cmpd="dbl">
              <a:solidFill>
                <a:srgbClr val="FFFF00"/>
              </a:solidFill>
              <a:round/>
            </a:ln>
            <a:effectLst/>
          </c:spPr>
          <c:marker>
            <c:symbol val="none"/>
          </c:marker>
          <c:cat>
            <c:strRef>
              <c:f>Absolute!$B$1:$BQ$1</c:f>
              <c:strCache>
                <c:ptCount val="68"/>
                <c:pt idx="0">
                  <c:v>2016-06</c:v>
                </c:pt>
                <c:pt idx="1">
                  <c:v>2016-07</c:v>
                </c:pt>
                <c:pt idx="2">
                  <c:v>2016-08</c:v>
                </c:pt>
                <c:pt idx="3">
                  <c:v>2016-09</c:v>
                </c:pt>
                <c:pt idx="4">
                  <c:v>2016-10</c:v>
                </c:pt>
                <c:pt idx="5">
                  <c:v>2016-11</c:v>
                </c:pt>
                <c:pt idx="6">
                  <c:v>2016-12</c:v>
                </c:pt>
                <c:pt idx="7">
                  <c:v>2017-01</c:v>
                </c:pt>
                <c:pt idx="8">
                  <c:v>2017-02</c:v>
                </c:pt>
                <c:pt idx="9">
                  <c:v>2017-03</c:v>
                </c:pt>
                <c:pt idx="10">
                  <c:v>2017-04</c:v>
                </c:pt>
                <c:pt idx="11">
                  <c:v>2017-05</c:v>
                </c:pt>
                <c:pt idx="12">
                  <c:v>2017-06</c:v>
                </c:pt>
                <c:pt idx="13">
                  <c:v>2017-07</c:v>
                </c:pt>
                <c:pt idx="14">
                  <c:v>2017-08</c:v>
                </c:pt>
                <c:pt idx="15">
                  <c:v>2017-09</c:v>
                </c:pt>
                <c:pt idx="16">
                  <c:v>2017-10</c:v>
                </c:pt>
                <c:pt idx="17">
                  <c:v>2017-11</c:v>
                </c:pt>
                <c:pt idx="18">
                  <c:v>2017-12</c:v>
                </c:pt>
                <c:pt idx="19">
                  <c:v>2018-01</c:v>
                </c:pt>
                <c:pt idx="20">
                  <c:v>2018-02</c:v>
                </c:pt>
                <c:pt idx="21">
                  <c:v>2018-03</c:v>
                </c:pt>
                <c:pt idx="22">
                  <c:v>2018-04</c:v>
                </c:pt>
                <c:pt idx="23">
                  <c:v>2018-05</c:v>
                </c:pt>
                <c:pt idx="24">
                  <c:v>2018-06</c:v>
                </c:pt>
                <c:pt idx="25">
                  <c:v>2018-07</c:v>
                </c:pt>
                <c:pt idx="26">
                  <c:v>2018-08</c:v>
                </c:pt>
                <c:pt idx="27">
                  <c:v>2018-09</c:v>
                </c:pt>
                <c:pt idx="28">
                  <c:v>2018-10</c:v>
                </c:pt>
                <c:pt idx="29">
                  <c:v>2018-11</c:v>
                </c:pt>
                <c:pt idx="30">
                  <c:v>2018-12</c:v>
                </c:pt>
                <c:pt idx="31">
                  <c:v>2019-01</c:v>
                </c:pt>
                <c:pt idx="32">
                  <c:v>2019-02</c:v>
                </c:pt>
                <c:pt idx="33">
                  <c:v>2019-03</c:v>
                </c:pt>
                <c:pt idx="34">
                  <c:v>2019-04</c:v>
                </c:pt>
                <c:pt idx="35">
                  <c:v>2019-05</c:v>
                </c:pt>
                <c:pt idx="36">
                  <c:v>2019-06</c:v>
                </c:pt>
                <c:pt idx="37">
                  <c:v>2019-07</c:v>
                </c:pt>
                <c:pt idx="38">
                  <c:v>2019-08</c:v>
                </c:pt>
                <c:pt idx="39">
                  <c:v>2019-09</c:v>
                </c:pt>
                <c:pt idx="40">
                  <c:v>2019-10</c:v>
                </c:pt>
                <c:pt idx="41">
                  <c:v>2019-11</c:v>
                </c:pt>
                <c:pt idx="42">
                  <c:v>2019-12</c:v>
                </c:pt>
                <c:pt idx="43">
                  <c:v>2020-01</c:v>
                </c:pt>
                <c:pt idx="44">
                  <c:v>2020-02</c:v>
                </c:pt>
                <c:pt idx="45">
                  <c:v>2020-03</c:v>
                </c:pt>
                <c:pt idx="46">
                  <c:v>2020-04</c:v>
                </c:pt>
                <c:pt idx="47">
                  <c:v>2020-05</c:v>
                </c:pt>
                <c:pt idx="48">
                  <c:v>2020-06</c:v>
                </c:pt>
                <c:pt idx="49">
                  <c:v>2020-07</c:v>
                </c:pt>
                <c:pt idx="50">
                  <c:v>2020-08</c:v>
                </c:pt>
                <c:pt idx="51">
                  <c:v>2020-09</c:v>
                </c:pt>
                <c:pt idx="52">
                  <c:v>2020-10</c:v>
                </c:pt>
                <c:pt idx="53">
                  <c:v>2020-11</c:v>
                </c:pt>
                <c:pt idx="54">
                  <c:v>2020-12</c:v>
                </c:pt>
                <c:pt idx="55">
                  <c:v>2021-01</c:v>
                </c:pt>
                <c:pt idx="56">
                  <c:v>2021-02</c:v>
                </c:pt>
                <c:pt idx="57">
                  <c:v>2021-03</c:v>
                </c:pt>
                <c:pt idx="58">
                  <c:v>2021-04</c:v>
                </c:pt>
                <c:pt idx="59">
                  <c:v>2021-05</c:v>
                </c:pt>
                <c:pt idx="60">
                  <c:v>2021-06</c:v>
                </c:pt>
                <c:pt idx="61">
                  <c:v>2021-07</c:v>
                </c:pt>
                <c:pt idx="62">
                  <c:v>2021-08</c:v>
                </c:pt>
                <c:pt idx="63">
                  <c:v>2021-09</c:v>
                </c:pt>
                <c:pt idx="64">
                  <c:v>2021-10</c:v>
                </c:pt>
                <c:pt idx="65">
                  <c:v>2021-11</c:v>
                </c:pt>
                <c:pt idx="66">
                  <c:v>2021-12</c:v>
                </c:pt>
                <c:pt idx="67">
                  <c:v>2022-01</c:v>
                </c:pt>
              </c:strCache>
            </c:strRef>
          </c:cat>
          <c:val>
            <c:numRef>
              <c:f>Absolute!$B$3:$BQ$3</c:f>
              <c:numCache>
                <c:formatCode>_("$"* #,##0.00_);_("$"* \(#,##0.00\);_("$"* "-"??_);_(@_)</c:formatCode>
                <c:ptCount val="68"/>
                <c:pt idx="0">
                  <c:v>3511</c:v>
                </c:pt>
                <c:pt idx="1">
                  <c:v>2611</c:v>
                </c:pt>
                <c:pt idx="2">
                  <c:v>7201</c:v>
                </c:pt>
                <c:pt idx="3">
                  <c:v>5401</c:v>
                </c:pt>
                <c:pt idx="4">
                  <c:v>3961</c:v>
                </c:pt>
                <c:pt idx="5">
                  <c:v>3871</c:v>
                </c:pt>
                <c:pt idx="6">
                  <c:v>19621</c:v>
                </c:pt>
                <c:pt idx="7">
                  <c:v>19711</c:v>
                </c:pt>
                <c:pt idx="8">
                  <c:v>9991</c:v>
                </c:pt>
                <c:pt idx="9">
                  <c:v>8191</c:v>
                </c:pt>
                <c:pt idx="10">
                  <c:v>9361</c:v>
                </c:pt>
                <c:pt idx="11">
                  <c:v>6481</c:v>
                </c:pt>
                <c:pt idx="12">
                  <c:v>8280.27</c:v>
                </c:pt>
                <c:pt idx="13">
                  <c:v>8309.67</c:v>
                </c:pt>
                <c:pt idx="14">
                  <c:v>6391</c:v>
                </c:pt>
                <c:pt idx="15">
                  <c:v>6994.08</c:v>
                </c:pt>
                <c:pt idx="16">
                  <c:v>6661</c:v>
                </c:pt>
                <c:pt idx="17">
                  <c:v>7921</c:v>
                </c:pt>
                <c:pt idx="18">
                  <c:v>8731</c:v>
                </c:pt>
                <c:pt idx="19">
                  <c:v>42810.31</c:v>
                </c:pt>
                <c:pt idx="20">
                  <c:v>24530.93</c:v>
                </c:pt>
                <c:pt idx="21">
                  <c:v>16034.83</c:v>
                </c:pt>
                <c:pt idx="22">
                  <c:v>14354.92</c:v>
                </c:pt>
                <c:pt idx="23">
                  <c:v>11583.08</c:v>
                </c:pt>
                <c:pt idx="24">
                  <c:v>11103.63</c:v>
                </c:pt>
                <c:pt idx="25">
                  <c:v>7016.56</c:v>
                </c:pt>
                <c:pt idx="26">
                  <c:v>7714.58</c:v>
                </c:pt>
                <c:pt idx="27">
                  <c:v>8387.2999999999993</c:v>
                </c:pt>
                <c:pt idx="28">
                  <c:v>9057.57</c:v>
                </c:pt>
                <c:pt idx="29">
                  <c:v>12221.65</c:v>
                </c:pt>
                <c:pt idx="30">
                  <c:v>18387.38</c:v>
                </c:pt>
                <c:pt idx="31">
                  <c:v>46434.720000000001</c:v>
                </c:pt>
                <c:pt idx="32">
                  <c:v>27417.53</c:v>
                </c:pt>
                <c:pt idx="33">
                  <c:v>17276.25</c:v>
                </c:pt>
                <c:pt idx="34">
                  <c:v>18909.330000000002</c:v>
                </c:pt>
                <c:pt idx="35">
                  <c:v>12014.67</c:v>
                </c:pt>
                <c:pt idx="36">
                  <c:v>15767.2</c:v>
                </c:pt>
                <c:pt idx="37">
                  <c:v>17924.62</c:v>
                </c:pt>
                <c:pt idx="38">
                  <c:v>14648.67</c:v>
                </c:pt>
                <c:pt idx="39">
                  <c:v>17717.53</c:v>
                </c:pt>
                <c:pt idx="40">
                  <c:v>25441.79</c:v>
                </c:pt>
                <c:pt idx="41">
                  <c:v>16387.400000000001</c:v>
                </c:pt>
                <c:pt idx="42">
                  <c:v>26979.91</c:v>
                </c:pt>
                <c:pt idx="43">
                  <c:v>158887.01999999999</c:v>
                </c:pt>
                <c:pt idx="44">
                  <c:v>54546.04</c:v>
                </c:pt>
                <c:pt idx="45">
                  <c:v>27640.34</c:v>
                </c:pt>
                <c:pt idx="46">
                  <c:v>65296.11</c:v>
                </c:pt>
                <c:pt idx="47">
                  <c:v>78324.86</c:v>
                </c:pt>
                <c:pt idx="48">
                  <c:v>43044.34</c:v>
                </c:pt>
                <c:pt idx="49">
                  <c:v>23839.87</c:v>
                </c:pt>
                <c:pt idx="50">
                  <c:v>19648.27</c:v>
                </c:pt>
                <c:pt idx="51">
                  <c:v>23239.599999999999</c:v>
                </c:pt>
                <c:pt idx="52">
                  <c:v>26742.7</c:v>
                </c:pt>
                <c:pt idx="53">
                  <c:v>32378.55</c:v>
                </c:pt>
                <c:pt idx="54">
                  <c:v>64707.6</c:v>
                </c:pt>
                <c:pt idx="55">
                  <c:v>185799.35</c:v>
                </c:pt>
                <c:pt idx="56">
                  <c:v>68344.509999999995</c:v>
                </c:pt>
                <c:pt idx="57">
                  <c:v>45425.82</c:v>
                </c:pt>
                <c:pt idx="58">
                  <c:v>88690.48</c:v>
                </c:pt>
                <c:pt idx="59">
                  <c:v>97556.05</c:v>
                </c:pt>
                <c:pt idx="60">
                  <c:v>63718.71</c:v>
                </c:pt>
                <c:pt idx="61">
                  <c:v>36126.92</c:v>
                </c:pt>
                <c:pt idx="62">
                  <c:v>27161.97</c:v>
                </c:pt>
                <c:pt idx="63">
                  <c:v>41198.379999999997</c:v>
                </c:pt>
                <c:pt idx="64">
                  <c:v>33352.370000000003</c:v>
                </c:pt>
                <c:pt idx="65">
                  <c:v>31322.21</c:v>
                </c:pt>
                <c:pt idx="66">
                  <c:v>61340.04</c:v>
                </c:pt>
                <c:pt idx="67">
                  <c:v>152615.95000000001</c:v>
                </c:pt>
              </c:numCache>
            </c:numRef>
          </c:val>
          <c:smooth val="0"/>
          <c:extLst>
            <c:ext xmlns:c16="http://schemas.microsoft.com/office/drawing/2014/chart" uri="{C3380CC4-5D6E-409C-BE32-E72D297353CC}">
              <c16:uniqueId val="{00000001-307C-C943-B703-FE5F9C1BF0D5}"/>
            </c:ext>
          </c:extLst>
        </c:ser>
        <c:ser>
          <c:idx val="2"/>
          <c:order val="2"/>
          <c:tx>
            <c:strRef>
              <c:f>Absolute!$A$4</c:f>
              <c:strCache>
                <c:ptCount val="1"/>
                <c:pt idx="0">
                  <c:v>BE</c:v>
                </c:pt>
              </c:strCache>
            </c:strRef>
          </c:tx>
          <c:spPr>
            <a:ln w="28575" cap="rnd" cmpd="dbl">
              <a:solidFill>
                <a:schemeClr val="accent5">
                  <a:lumMod val="75000"/>
                </a:schemeClr>
              </a:solidFill>
              <a:prstDash val="solid"/>
              <a:round/>
            </a:ln>
            <a:effectLst/>
          </c:spPr>
          <c:marker>
            <c:symbol val="none"/>
          </c:marker>
          <c:cat>
            <c:strRef>
              <c:f>Absolute!$B$1:$BQ$1</c:f>
              <c:strCache>
                <c:ptCount val="68"/>
                <c:pt idx="0">
                  <c:v>2016-06</c:v>
                </c:pt>
                <c:pt idx="1">
                  <c:v>2016-07</c:v>
                </c:pt>
                <c:pt idx="2">
                  <c:v>2016-08</c:v>
                </c:pt>
                <c:pt idx="3">
                  <c:v>2016-09</c:v>
                </c:pt>
                <c:pt idx="4">
                  <c:v>2016-10</c:v>
                </c:pt>
                <c:pt idx="5">
                  <c:v>2016-11</c:v>
                </c:pt>
                <c:pt idx="6">
                  <c:v>2016-12</c:v>
                </c:pt>
                <c:pt idx="7">
                  <c:v>2017-01</c:v>
                </c:pt>
                <c:pt idx="8">
                  <c:v>2017-02</c:v>
                </c:pt>
                <c:pt idx="9">
                  <c:v>2017-03</c:v>
                </c:pt>
                <c:pt idx="10">
                  <c:v>2017-04</c:v>
                </c:pt>
                <c:pt idx="11">
                  <c:v>2017-05</c:v>
                </c:pt>
                <c:pt idx="12">
                  <c:v>2017-06</c:v>
                </c:pt>
                <c:pt idx="13">
                  <c:v>2017-07</c:v>
                </c:pt>
                <c:pt idx="14">
                  <c:v>2017-08</c:v>
                </c:pt>
                <c:pt idx="15">
                  <c:v>2017-09</c:v>
                </c:pt>
                <c:pt idx="16">
                  <c:v>2017-10</c:v>
                </c:pt>
                <c:pt idx="17">
                  <c:v>2017-11</c:v>
                </c:pt>
                <c:pt idx="18">
                  <c:v>2017-12</c:v>
                </c:pt>
                <c:pt idx="19">
                  <c:v>2018-01</c:v>
                </c:pt>
                <c:pt idx="20">
                  <c:v>2018-02</c:v>
                </c:pt>
                <c:pt idx="21">
                  <c:v>2018-03</c:v>
                </c:pt>
                <c:pt idx="22">
                  <c:v>2018-04</c:v>
                </c:pt>
                <c:pt idx="23">
                  <c:v>2018-05</c:v>
                </c:pt>
                <c:pt idx="24">
                  <c:v>2018-06</c:v>
                </c:pt>
                <c:pt idx="25">
                  <c:v>2018-07</c:v>
                </c:pt>
                <c:pt idx="26">
                  <c:v>2018-08</c:v>
                </c:pt>
                <c:pt idx="27">
                  <c:v>2018-09</c:v>
                </c:pt>
                <c:pt idx="28">
                  <c:v>2018-10</c:v>
                </c:pt>
                <c:pt idx="29">
                  <c:v>2018-11</c:v>
                </c:pt>
                <c:pt idx="30">
                  <c:v>2018-12</c:v>
                </c:pt>
                <c:pt idx="31">
                  <c:v>2019-01</c:v>
                </c:pt>
                <c:pt idx="32">
                  <c:v>2019-02</c:v>
                </c:pt>
                <c:pt idx="33">
                  <c:v>2019-03</c:v>
                </c:pt>
                <c:pt idx="34">
                  <c:v>2019-04</c:v>
                </c:pt>
                <c:pt idx="35">
                  <c:v>2019-05</c:v>
                </c:pt>
                <c:pt idx="36">
                  <c:v>2019-06</c:v>
                </c:pt>
                <c:pt idx="37">
                  <c:v>2019-07</c:v>
                </c:pt>
                <c:pt idx="38">
                  <c:v>2019-08</c:v>
                </c:pt>
                <c:pt idx="39">
                  <c:v>2019-09</c:v>
                </c:pt>
                <c:pt idx="40">
                  <c:v>2019-10</c:v>
                </c:pt>
                <c:pt idx="41">
                  <c:v>2019-11</c:v>
                </c:pt>
                <c:pt idx="42">
                  <c:v>2019-12</c:v>
                </c:pt>
                <c:pt idx="43">
                  <c:v>2020-01</c:v>
                </c:pt>
                <c:pt idx="44">
                  <c:v>2020-02</c:v>
                </c:pt>
                <c:pt idx="45">
                  <c:v>2020-03</c:v>
                </c:pt>
                <c:pt idx="46">
                  <c:v>2020-04</c:v>
                </c:pt>
                <c:pt idx="47">
                  <c:v>2020-05</c:v>
                </c:pt>
                <c:pt idx="48">
                  <c:v>2020-06</c:v>
                </c:pt>
                <c:pt idx="49">
                  <c:v>2020-07</c:v>
                </c:pt>
                <c:pt idx="50">
                  <c:v>2020-08</c:v>
                </c:pt>
                <c:pt idx="51">
                  <c:v>2020-09</c:v>
                </c:pt>
                <c:pt idx="52">
                  <c:v>2020-10</c:v>
                </c:pt>
                <c:pt idx="53">
                  <c:v>2020-11</c:v>
                </c:pt>
                <c:pt idx="54">
                  <c:v>2020-12</c:v>
                </c:pt>
                <c:pt idx="55">
                  <c:v>2021-01</c:v>
                </c:pt>
                <c:pt idx="56">
                  <c:v>2021-02</c:v>
                </c:pt>
                <c:pt idx="57">
                  <c:v>2021-03</c:v>
                </c:pt>
                <c:pt idx="58">
                  <c:v>2021-04</c:v>
                </c:pt>
                <c:pt idx="59">
                  <c:v>2021-05</c:v>
                </c:pt>
                <c:pt idx="60">
                  <c:v>2021-06</c:v>
                </c:pt>
                <c:pt idx="61">
                  <c:v>2021-07</c:v>
                </c:pt>
                <c:pt idx="62">
                  <c:v>2021-08</c:v>
                </c:pt>
                <c:pt idx="63">
                  <c:v>2021-09</c:v>
                </c:pt>
                <c:pt idx="64">
                  <c:v>2021-10</c:v>
                </c:pt>
                <c:pt idx="65">
                  <c:v>2021-11</c:v>
                </c:pt>
                <c:pt idx="66">
                  <c:v>2021-12</c:v>
                </c:pt>
                <c:pt idx="67">
                  <c:v>2022-01</c:v>
                </c:pt>
              </c:strCache>
            </c:strRef>
          </c:cat>
          <c:val>
            <c:numRef>
              <c:f>Absolute!$B$4:$BQ$4</c:f>
              <c:numCache>
                <c:formatCode>_("$"* #,##0.00_);_("$"* \(#,##0.00\);_("$"* "-"??_);_(@_)</c:formatCode>
                <c:ptCount val="68"/>
                <c:pt idx="0">
                  <c:v>2341</c:v>
                </c:pt>
                <c:pt idx="1">
                  <c:v>2971</c:v>
                </c:pt>
                <c:pt idx="2">
                  <c:v>5581</c:v>
                </c:pt>
                <c:pt idx="3">
                  <c:v>4951</c:v>
                </c:pt>
                <c:pt idx="4">
                  <c:v>5761</c:v>
                </c:pt>
                <c:pt idx="5">
                  <c:v>3601</c:v>
                </c:pt>
                <c:pt idx="6">
                  <c:v>20431</c:v>
                </c:pt>
                <c:pt idx="7">
                  <c:v>18271</c:v>
                </c:pt>
                <c:pt idx="8">
                  <c:v>11971</c:v>
                </c:pt>
                <c:pt idx="9">
                  <c:v>8641</c:v>
                </c:pt>
                <c:pt idx="10">
                  <c:v>9361</c:v>
                </c:pt>
                <c:pt idx="11">
                  <c:v>6301</c:v>
                </c:pt>
                <c:pt idx="12">
                  <c:v>7558.44</c:v>
                </c:pt>
                <c:pt idx="13">
                  <c:v>7827.09</c:v>
                </c:pt>
                <c:pt idx="14">
                  <c:v>7561</c:v>
                </c:pt>
                <c:pt idx="15">
                  <c:v>8551</c:v>
                </c:pt>
                <c:pt idx="16">
                  <c:v>8371</c:v>
                </c:pt>
                <c:pt idx="17">
                  <c:v>7381</c:v>
                </c:pt>
                <c:pt idx="18">
                  <c:v>8641</c:v>
                </c:pt>
                <c:pt idx="19">
                  <c:v>31172.15</c:v>
                </c:pt>
                <c:pt idx="20">
                  <c:v>19779.12</c:v>
                </c:pt>
                <c:pt idx="21">
                  <c:v>12303.03</c:v>
                </c:pt>
                <c:pt idx="22">
                  <c:v>10375.61</c:v>
                </c:pt>
                <c:pt idx="23">
                  <c:v>10046.69</c:v>
                </c:pt>
                <c:pt idx="24">
                  <c:v>10169.34</c:v>
                </c:pt>
                <c:pt idx="25">
                  <c:v>5998.65</c:v>
                </c:pt>
                <c:pt idx="26">
                  <c:v>8239.5400000000009</c:v>
                </c:pt>
                <c:pt idx="27">
                  <c:v>8996.5300000000007</c:v>
                </c:pt>
                <c:pt idx="28">
                  <c:v>6220.1</c:v>
                </c:pt>
                <c:pt idx="29">
                  <c:v>8369.7000000000007</c:v>
                </c:pt>
                <c:pt idx="30">
                  <c:v>16835.34</c:v>
                </c:pt>
                <c:pt idx="31">
                  <c:v>41771.440000000002</c:v>
                </c:pt>
                <c:pt idx="32">
                  <c:v>24732.45</c:v>
                </c:pt>
                <c:pt idx="33">
                  <c:v>17405.509999999998</c:v>
                </c:pt>
                <c:pt idx="34">
                  <c:v>17548.02</c:v>
                </c:pt>
                <c:pt idx="35">
                  <c:v>12819.31</c:v>
                </c:pt>
                <c:pt idx="36">
                  <c:v>14803.59</c:v>
                </c:pt>
                <c:pt idx="37">
                  <c:v>16232.06</c:v>
                </c:pt>
                <c:pt idx="38">
                  <c:v>15285.69</c:v>
                </c:pt>
                <c:pt idx="39">
                  <c:v>14919.31</c:v>
                </c:pt>
                <c:pt idx="40">
                  <c:v>17101.39</c:v>
                </c:pt>
                <c:pt idx="41">
                  <c:v>11838.25</c:v>
                </c:pt>
                <c:pt idx="42">
                  <c:v>25704.48</c:v>
                </c:pt>
                <c:pt idx="43">
                  <c:v>102068.83</c:v>
                </c:pt>
                <c:pt idx="44">
                  <c:v>42627.47</c:v>
                </c:pt>
                <c:pt idx="45">
                  <c:v>28685.38</c:v>
                </c:pt>
                <c:pt idx="46">
                  <c:v>94920.4</c:v>
                </c:pt>
                <c:pt idx="47">
                  <c:v>135832.54</c:v>
                </c:pt>
                <c:pt idx="48">
                  <c:v>68191.649999999994</c:v>
                </c:pt>
                <c:pt idx="49">
                  <c:v>24258.82</c:v>
                </c:pt>
                <c:pt idx="50">
                  <c:v>27185.1</c:v>
                </c:pt>
                <c:pt idx="51">
                  <c:v>28223.43</c:v>
                </c:pt>
                <c:pt idx="52">
                  <c:v>30137.5</c:v>
                </c:pt>
                <c:pt idx="53">
                  <c:v>36984.5</c:v>
                </c:pt>
                <c:pt idx="54">
                  <c:v>71917.73</c:v>
                </c:pt>
                <c:pt idx="55">
                  <c:v>156601.9</c:v>
                </c:pt>
                <c:pt idx="56">
                  <c:v>62416.03</c:v>
                </c:pt>
                <c:pt idx="57">
                  <c:v>47060.62</c:v>
                </c:pt>
                <c:pt idx="58">
                  <c:v>112808.54</c:v>
                </c:pt>
                <c:pt idx="59">
                  <c:v>145838.59</c:v>
                </c:pt>
                <c:pt idx="60">
                  <c:v>82997.399999999994</c:v>
                </c:pt>
                <c:pt idx="61">
                  <c:v>43302.27</c:v>
                </c:pt>
                <c:pt idx="62">
                  <c:v>31039.17</c:v>
                </c:pt>
                <c:pt idx="63">
                  <c:v>36854.99</c:v>
                </c:pt>
                <c:pt idx="64">
                  <c:v>36427.83</c:v>
                </c:pt>
                <c:pt idx="65">
                  <c:v>32797.15</c:v>
                </c:pt>
                <c:pt idx="66">
                  <c:v>57103.58</c:v>
                </c:pt>
                <c:pt idx="67">
                  <c:v>136792.32999999999</c:v>
                </c:pt>
              </c:numCache>
            </c:numRef>
          </c:val>
          <c:smooth val="0"/>
          <c:extLst>
            <c:ext xmlns:c16="http://schemas.microsoft.com/office/drawing/2014/chart" uri="{C3380CC4-5D6E-409C-BE32-E72D297353CC}">
              <c16:uniqueId val="{00000002-307C-C943-B703-FE5F9C1BF0D5}"/>
            </c:ext>
          </c:extLst>
        </c:ser>
        <c:ser>
          <c:idx val="3"/>
          <c:order val="3"/>
          <c:tx>
            <c:strRef>
              <c:f>Absolute!$A$5</c:f>
              <c:strCache>
                <c:ptCount val="1"/>
                <c:pt idx="0">
                  <c:v>CH</c:v>
                </c:pt>
              </c:strCache>
            </c:strRef>
          </c:tx>
          <c:spPr>
            <a:ln w="28575" cap="rnd" cmpd="dbl">
              <a:solidFill>
                <a:schemeClr val="accent4"/>
              </a:solidFill>
              <a:round/>
            </a:ln>
            <a:effectLst/>
          </c:spPr>
          <c:marker>
            <c:symbol val="none"/>
          </c:marker>
          <c:cat>
            <c:strRef>
              <c:f>Absolute!$B$1:$BQ$1</c:f>
              <c:strCache>
                <c:ptCount val="68"/>
                <c:pt idx="0">
                  <c:v>2016-06</c:v>
                </c:pt>
                <c:pt idx="1">
                  <c:v>2016-07</c:v>
                </c:pt>
                <c:pt idx="2">
                  <c:v>2016-08</c:v>
                </c:pt>
                <c:pt idx="3">
                  <c:v>2016-09</c:v>
                </c:pt>
                <c:pt idx="4">
                  <c:v>2016-10</c:v>
                </c:pt>
                <c:pt idx="5">
                  <c:v>2016-11</c:v>
                </c:pt>
                <c:pt idx="6">
                  <c:v>2016-12</c:v>
                </c:pt>
                <c:pt idx="7">
                  <c:v>2017-01</c:v>
                </c:pt>
                <c:pt idx="8">
                  <c:v>2017-02</c:v>
                </c:pt>
                <c:pt idx="9">
                  <c:v>2017-03</c:v>
                </c:pt>
                <c:pt idx="10">
                  <c:v>2017-04</c:v>
                </c:pt>
                <c:pt idx="11">
                  <c:v>2017-05</c:v>
                </c:pt>
                <c:pt idx="12">
                  <c:v>2017-06</c:v>
                </c:pt>
                <c:pt idx="13">
                  <c:v>2017-07</c:v>
                </c:pt>
                <c:pt idx="14">
                  <c:v>2017-08</c:v>
                </c:pt>
                <c:pt idx="15">
                  <c:v>2017-09</c:v>
                </c:pt>
                <c:pt idx="16">
                  <c:v>2017-10</c:v>
                </c:pt>
                <c:pt idx="17">
                  <c:v>2017-11</c:v>
                </c:pt>
                <c:pt idx="18">
                  <c:v>2017-12</c:v>
                </c:pt>
                <c:pt idx="19">
                  <c:v>2018-01</c:v>
                </c:pt>
                <c:pt idx="20">
                  <c:v>2018-02</c:v>
                </c:pt>
                <c:pt idx="21">
                  <c:v>2018-03</c:v>
                </c:pt>
                <c:pt idx="22">
                  <c:v>2018-04</c:v>
                </c:pt>
                <c:pt idx="23">
                  <c:v>2018-05</c:v>
                </c:pt>
                <c:pt idx="24">
                  <c:v>2018-06</c:v>
                </c:pt>
                <c:pt idx="25">
                  <c:v>2018-07</c:v>
                </c:pt>
                <c:pt idx="26">
                  <c:v>2018-08</c:v>
                </c:pt>
                <c:pt idx="27">
                  <c:v>2018-09</c:v>
                </c:pt>
                <c:pt idx="28">
                  <c:v>2018-10</c:v>
                </c:pt>
                <c:pt idx="29">
                  <c:v>2018-11</c:v>
                </c:pt>
                <c:pt idx="30">
                  <c:v>2018-12</c:v>
                </c:pt>
                <c:pt idx="31">
                  <c:v>2019-01</c:v>
                </c:pt>
                <c:pt idx="32">
                  <c:v>2019-02</c:v>
                </c:pt>
                <c:pt idx="33">
                  <c:v>2019-03</c:v>
                </c:pt>
                <c:pt idx="34">
                  <c:v>2019-04</c:v>
                </c:pt>
                <c:pt idx="35">
                  <c:v>2019-05</c:v>
                </c:pt>
                <c:pt idx="36">
                  <c:v>2019-06</c:v>
                </c:pt>
                <c:pt idx="37">
                  <c:v>2019-07</c:v>
                </c:pt>
                <c:pt idx="38">
                  <c:v>2019-08</c:v>
                </c:pt>
                <c:pt idx="39">
                  <c:v>2019-09</c:v>
                </c:pt>
                <c:pt idx="40">
                  <c:v>2019-10</c:v>
                </c:pt>
                <c:pt idx="41">
                  <c:v>2019-11</c:v>
                </c:pt>
                <c:pt idx="42">
                  <c:v>2019-12</c:v>
                </c:pt>
                <c:pt idx="43">
                  <c:v>2020-01</c:v>
                </c:pt>
                <c:pt idx="44">
                  <c:v>2020-02</c:v>
                </c:pt>
                <c:pt idx="45">
                  <c:v>2020-03</c:v>
                </c:pt>
                <c:pt idx="46">
                  <c:v>2020-04</c:v>
                </c:pt>
                <c:pt idx="47">
                  <c:v>2020-05</c:v>
                </c:pt>
                <c:pt idx="48">
                  <c:v>2020-06</c:v>
                </c:pt>
                <c:pt idx="49">
                  <c:v>2020-07</c:v>
                </c:pt>
                <c:pt idx="50">
                  <c:v>2020-08</c:v>
                </c:pt>
                <c:pt idx="51">
                  <c:v>2020-09</c:v>
                </c:pt>
                <c:pt idx="52">
                  <c:v>2020-10</c:v>
                </c:pt>
                <c:pt idx="53">
                  <c:v>2020-11</c:v>
                </c:pt>
                <c:pt idx="54">
                  <c:v>2020-12</c:v>
                </c:pt>
                <c:pt idx="55">
                  <c:v>2021-01</c:v>
                </c:pt>
                <c:pt idx="56">
                  <c:v>2021-02</c:v>
                </c:pt>
                <c:pt idx="57">
                  <c:v>2021-03</c:v>
                </c:pt>
                <c:pt idx="58">
                  <c:v>2021-04</c:v>
                </c:pt>
                <c:pt idx="59">
                  <c:v>2021-05</c:v>
                </c:pt>
                <c:pt idx="60">
                  <c:v>2021-06</c:v>
                </c:pt>
                <c:pt idx="61">
                  <c:v>2021-07</c:v>
                </c:pt>
                <c:pt idx="62">
                  <c:v>2021-08</c:v>
                </c:pt>
                <c:pt idx="63">
                  <c:v>2021-09</c:v>
                </c:pt>
                <c:pt idx="64">
                  <c:v>2021-10</c:v>
                </c:pt>
                <c:pt idx="65">
                  <c:v>2021-11</c:v>
                </c:pt>
                <c:pt idx="66">
                  <c:v>2021-12</c:v>
                </c:pt>
                <c:pt idx="67">
                  <c:v>2022-01</c:v>
                </c:pt>
              </c:strCache>
            </c:strRef>
          </c:cat>
          <c:val>
            <c:numRef>
              <c:f>Absolute!$B$5:$BQ$5</c:f>
              <c:numCache>
                <c:formatCode>_("$"* #,##0.00_);_("$"* \(#,##0.00\);_("$"* "-"??_);_(@_)</c:formatCode>
                <c:ptCount val="68"/>
                <c:pt idx="0">
                  <c:v>4051</c:v>
                </c:pt>
                <c:pt idx="1">
                  <c:v>2701</c:v>
                </c:pt>
                <c:pt idx="2">
                  <c:v>8911</c:v>
                </c:pt>
                <c:pt idx="3">
                  <c:v>8551</c:v>
                </c:pt>
                <c:pt idx="4">
                  <c:v>9091</c:v>
                </c:pt>
                <c:pt idx="5">
                  <c:v>7561</c:v>
                </c:pt>
                <c:pt idx="6">
                  <c:v>35101</c:v>
                </c:pt>
                <c:pt idx="7">
                  <c:v>32401</c:v>
                </c:pt>
                <c:pt idx="8">
                  <c:v>18001</c:v>
                </c:pt>
                <c:pt idx="9">
                  <c:v>14041</c:v>
                </c:pt>
                <c:pt idx="10">
                  <c:v>14311</c:v>
                </c:pt>
                <c:pt idx="11">
                  <c:v>9811</c:v>
                </c:pt>
                <c:pt idx="12">
                  <c:v>12056.43</c:v>
                </c:pt>
                <c:pt idx="13">
                  <c:v>15211</c:v>
                </c:pt>
                <c:pt idx="14">
                  <c:v>10891</c:v>
                </c:pt>
                <c:pt idx="15">
                  <c:v>15641.52</c:v>
                </c:pt>
                <c:pt idx="16">
                  <c:v>14311</c:v>
                </c:pt>
                <c:pt idx="17">
                  <c:v>14041</c:v>
                </c:pt>
                <c:pt idx="18">
                  <c:v>17640.93</c:v>
                </c:pt>
                <c:pt idx="19">
                  <c:v>70997.929999999993</c:v>
                </c:pt>
                <c:pt idx="20">
                  <c:v>41785.910000000003</c:v>
                </c:pt>
                <c:pt idx="21">
                  <c:v>28173.98</c:v>
                </c:pt>
                <c:pt idx="22">
                  <c:v>22359.93</c:v>
                </c:pt>
                <c:pt idx="23">
                  <c:v>18132.53</c:v>
                </c:pt>
                <c:pt idx="24">
                  <c:v>24546.78</c:v>
                </c:pt>
                <c:pt idx="25">
                  <c:v>16718.71</c:v>
                </c:pt>
                <c:pt idx="26">
                  <c:v>14836.3</c:v>
                </c:pt>
                <c:pt idx="27">
                  <c:v>17873.29</c:v>
                </c:pt>
                <c:pt idx="28">
                  <c:v>15659.69</c:v>
                </c:pt>
                <c:pt idx="29">
                  <c:v>20001.61</c:v>
                </c:pt>
                <c:pt idx="30">
                  <c:v>37533.129999999997</c:v>
                </c:pt>
                <c:pt idx="31">
                  <c:v>74281.81</c:v>
                </c:pt>
                <c:pt idx="32">
                  <c:v>54524.2</c:v>
                </c:pt>
                <c:pt idx="33">
                  <c:v>38728.01</c:v>
                </c:pt>
                <c:pt idx="34">
                  <c:v>36578.82</c:v>
                </c:pt>
                <c:pt idx="35">
                  <c:v>25910.99</c:v>
                </c:pt>
                <c:pt idx="36">
                  <c:v>32316.7</c:v>
                </c:pt>
                <c:pt idx="37">
                  <c:v>30240.53</c:v>
                </c:pt>
                <c:pt idx="38">
                  <c:v>29429.439999999999</c:v>
                </c:pt>
                <c:pt idx="39">
                  <c:v>30495.7</c:v>
                </c:pt>
                <c:pt idx="40">
                  <c:v>55964.06</c:v>
                </c:pt>
                <c:pt idx="41">
                  <c:v>36109.910000000003</c:v>
                </c:pt>
                <c:pt idx="42">
                  <c:v>72111.039999999994</c:v>
                </c:pt>
                <c:pt idx="43">
                  <c:v>290627.32</c:v>
                </c:pt>
                <c:pt idx="44">
                  <c:v>120772.53</c:v>
                </c:pt>
                <c:pt idx="45">
                  <c:v>79718.8</c:v>
                </c:pt>
                <c:pt idx="46">
                  <c:v>199204.21</c:v>
                </c:pt>
                <c:pt idx="47">
                  <c:v>291581.44</c:v>
                </c:pt>
                <c:pt idx="48">
                  <c:v>146082.59</c:v>
                </c:pt>
                <c:pt idx="49">
                  <c:v>59446.19</c:v>
                </c:pt>
                <c:pt idx="50">
                  <c:v>58067.96</c:v>
                </c:pt>
                <c:pt idx="51">
                  <c:v>61875.61</c:v>
                </c:pt>
                <c:pt idx="52">
                  <c:v>73302.75</c:v>
                </c:pt>
                <c:pt idx="53">
                  <c:v>70349.149999999994</c:v>
                </c:pt>
                <c:pt idx="54">
                  <c:v>170069.06</c:v>
                </c:pt>
                <c:pt idx="55">
                  <c:v>446930.21</c:v>
                </c:pt>
                <c:pt idx="56">
                  <c:v>184708.8</c:v>
                </c:pt>
                <c:pt idx="57">
                  <c:v>146722.66</c:v>
                </c:pt>
                <c:pt idx="58">
                  <c:v>251678.85</c:v>
                </c:pt>
                <c:pt idx="59">
                  <c:v>300572.84000000003</c:v>
                </c:pt>
                <c:pt idx="60">
                  <c:v>179615.35999999999</c:v>
                </c:pt>
                <c:pt idx="61">
                  <c:v>90914.97</c:v>
                </c:pt>
                <c:pt idx="62">
                  <c:v>73409.78</c:v>
                </c:pt>
                <c:pt idx="63">
                  <c:v>100219.96</c:v>
                </c:pt>
                <c:pt idx="64">
                  <c:v>108171.08</c:v>
                </c:pt>
                <c:pt idx="65">
                  <c:v>83177.600000000006</c:v>
                </c:pt>
                <c:pt idx="66">
                  <c:v>152219.89000000001</c:v>
                </c:pt>
                <c:pt idx="67">
                  <c:v>416977.62</c:v>
                </c:pt>
              </c:numCache>
            </c:numRef>
          </c:val>
          <c:smooth val="0"/>
          <c:extLst>
            <c:ext xmlns:c16="http://schemas.microsoft.com/office/drawing/2014/chart" uri="{C3380CC4-5D6E-409C-BE32-E72D297353CC}">
              <c16:uniqueId val="{00000003-307C-C943-B703-FE5F9C1BF0D5}"/>
            </c:ext>
          </c:extLst>
        </c:ser>
        <c:ser>
          <c:idx val="4"/>
          <c:order val="4"/>
          <c:tx>
            <c:strRef>
              <c:f>Absolute!$A$6</c:f>
              <c:strCache>
                <c:ptCount val="1"/>
                <c:pt idx="0">
                  <c:v>CL</c:v>
                </c:pt>
              </c:strCache>
            </c:strRef>
          </c:tx>
          <c:spPr>
            <a:ln w="28575" cap="rnd">
              <a:solidFill>
                <a:schemeClr val="accent5"/>
              </a:solidFill>
              <a:prstDash val="sysDash"/>
              <a:round/>
            </a:ln>
            <a:effectLst/>
          </c:spPr>
          <c:marker>
            <c:symbol val="none"/>
          </c:marker>
          <c:cat>
            <c:strRef>
              <c:f>Absolute!$B$1:$BQ$1</c:f>
              <c:strCache>
                <c:ptCount val="68"/>
                <c:pt idx="0">
                  <c:v>2016-06</c:v>
                </c:pt>
                <c:pt idx="1">
                  <c:v>2016-07</c:v>
                </c:pt>
                <c:pt idx="2">
                  <c:v>2016-08</c:v>
                </c:pt>
                <c:pt idx="3">
                  <c:v>2016-09</c:v>
                </c:pt>
                <c:pt idx="4">
                  <c:v>2016-10</c:v>
                </c:pt>
                <c:pt idx="5">
                  <c:v>2016-11</c:v>
                </c:pt>
                <c:pt idx="6">
                  <c:v>2016-12</c:v>
                </c:pt>
                <c:pt idx="7">
                  <c:v>2017-01</c:v>
                </c:pt>
                <c:pt idx="8">
                  <c:v>2017-02</c:v>
                </c:pt>
                <c:pt idx="9">
                  <c:v>2017-03</c:v>
                </c:pt>
                <c:pt idx="10">
                  <c:v>2017-04</c:v>
                </c:pt>
                <c:pt idx="11">
                  <c:v>2017-05</c:v>
                </c:pt>
                <c:pt idx="12">
                  <c:v>2017-06</c:v>
                </c:pt>
                <c:pt idx="13">
                  <c:v>2017-07</c:v>
                </c:pt>
                <c:pt idx="14">
                  <c:v>2017-08</c:v>
                </c:pt>
                <c:pt idx="15">
                  <c:v>2017-09</c:v>
                </c:pt>
                <c:pt idx="16">
                  <c:v>2017-10</c:v>
                </c:pt>
                <c:pt idx="17">
                  <c:v>2017-11</c:v>
                </c:pt>
                <c:pt idx="18">
                  <c:v>2017-12</c:v>
                </c:pt>
                <c:pt idx="19">
                  <c:v>2018-01</c:v>
                </c:pt>
                <c:pt idx="20">
                  <c:v>2018-02</c:v>
                </c:pt>
                <c:pt idx="21">
                  <c:v>2018-03</c:v>
                </c:pt>
                <c:pt idx="22">
                  <c:v>2018-04</c:v>
                </c:pt>
                <c:pt idx="23">
                  <c:v>2018-05</c:v>
                </c:pt>
                <c:pt idx="24">
                  <c:v>2018-06</c:v>
                </c:pt>
                <c:pt idx="25">
                  <c:v>2018-07</c:v>
                </c:pt>
                <c:pt idx="26">
                  <c:v>2018-08</c:v>
                </c:pt>
                <c:pt idx="27">
                  <c:v>2018-09</c:v>
                </c:pt>
                <c:pt idx="28">
                  <c:v>2018-10</c:v>
                </c:pt>
                <c:pt idx="29">
                  <c:v>2018-11</c:v>
                </c:pt>
                <c:pt idx="30">
                  <c:v>2018-12</c:v>
                </c:pt>
                <c:pt idx="31">
                  <c:v>2019-01</c:v>
                </c:pt>
                <c:pt idx="32">
                  <c:v>2019-02</c:v>
                </c:pt>
                <c:pt idx="33">
                  <c:v>2019-03</c:v>
                </c:pt>
                <c:pt idx="34">
                  <c:v>2019-04</c:v>
                </c:pt>
                <c:pt idx="35">
                  <c:v>2019-05</c:v>
                </c:pt>
                <c:pt idx="36">
                  <c:v>2019-06</c:v>
                </c:pt>
                <c:pt idx="37">
                  <c:v>2019-07</c:v>
                </c:pt>
                <c:pt idx="38">
                  <c:v>2019-08</c:v>
                </c:pt>
                <c:pt idx="39">
                  <c:v>2019-09</c:v>
                </c:pt>
                <c:pt idx="40">
                  <c:v>2019-10</c:v>
                </c:pt>
                <c:pt idx="41">
                  <c:v>2019-11</c:v>
                </c:pt>
                <c:pt idx="42">
                  <c:v>2019-12</c:v>
                </c:pt>
                <c:pt idx="43">
                  <c:v>2020-01</c:v>
                </c:pt>
                <c:pt idx="44">
                  <c:v>2020-02</c:v>
                </c:pt>
                <c:pt idx="45">
                  <c:v>2020-03</c:v>
                </c:pt>
                <c:pt idx="46">
                  <c:v>2020-04</c:v>
                </c:pt>
                <c:pt idx="47">
                  <c:v>2020-05</c:v>
                </c:pt>
                <c:pt idx="48">
                  <c:v>2020-06</c:v>
                </c:pt>
                <c:pt idx="49">
                  <c:v>2020-07</c:v>
                </c:pt>
                <c:pt idx="50">
                  <c:v>2020-08</c:v>
                </c:pt>
                <c:pt idx="51">
                  <c:v>2020-09</c:v>
                </c:pt>
                <c:pt idx="52">
                  <c:v>2020-10</c:v>
                </c:pt>
                <c:pt idx="53">
                  <c:v>2020-11</c:v>
                </c:pt>
                <c:pt idx="54">
                  <c:v>2020-12</c:v>
                </c:pt>
                <c:pt idx="55">
                  <c:v>2021-01</c:v>
                </c:pt>
                <c:pt idx="56">
                  <c:v>2021-02</c:v>
                </c:pt>
                <c:pt idx="57">
                  <c:v>2021-03</c:v>
                </c:pt>
                <c:pt idx="58">
                  <c:v>2021-04</c:v>
                </c:pt>
                <c:pt idx="59">
                  <c:v>2021-05</c:v>
                </c:pt>
                <c:pt idx="60">
                  <c:v>2021-06</c:v>
                </c:pt>
                <c:pt idx="61">
                  <c:v>2021-07</c:v>
                </c:pt>
                <c:pt idx="62">
                  <c:v>2021-08</c:v>
                </c:pt>
                <c:pt idx="63">
                  <c:v>2021-09</c:v>
                </c:pt>
                <c:pt idx="64">
                  <c:v>2021-10</c:v>
                </c:pt>
                <c:pt idx="65">
                  <c:v>2021-11</c:v>
                </c:pt>
                <c:pt idx="66">
                  <c:v>2021-12</c:v>
                </c:pt>
                <c:pt idx="67">
                  <c:v>2022-01</c:v>
                </c:pt>
              </c:strCache>
            </c:strRef>
          </c:cat>
          <c:val>
            <c:numRef>
              <c:f>Absolute!$B$6:$BQ$6</c:f>
              <c:numCache>
                <c:formatCode>_("$"* #,##0.00_);_("$"* \(#,##0.00\);_("$"* "-"??_);_(@_)</c:formatCode>
                <c:ptCount val="68"/>
                <c:pt idx="0">
                  <c:v>451</c:v>
                </c:pt>
                <c:pt idx="1">
                  <c:v>991</c:v>
                </c:pt>
                <c:pt idx="2">
                  <c:v>1891</c:v>
                </c:pt>
                <c:pt idx="3">
                  <c:v>991</c:v>
                </c:pt>
                <c:pt idx="4">
                  <c:v>181</c:v>
                </c:pt>
                <c:pt idx="5">
                  <c:v>451</c:v>
                </c:pt>
                <c:pt idx="6">
                  <c:v>3241</c:v>
                </c:pt>
                <c:pt idx="7">
                  <c:v>1981</c:v>
                </c:pt>
                <c:pt idx="8">
                  <c:v>1081</c:v>
                </c:pt>
                <c:pt idx="9">
                  <c:v>1891</c:v>
                </c:pt>
                <c:pt idx="10">
                  <c:v>1801</c:v>
                </c:pt>
                <c:pt idx="11">
                  <c:v>2611</c:v>
                </c:pt>
                <c:pt idx="12">
                  <c:v>3961</c:v>
                </c:pt>
                <c:pt idx="13">
                  <c:v>3331</c:v>
                </c:pt>
                <c:pt idx="14">
                  <c:v>3601</c:v>
                </c:pt>
                <c:pt idx="15">
                  <c:v>4681</c:v>
                </c:pt>
                <c:pt idx="16">
                  <c:v>4771</c:v>
                </c:pt>
                <c:pt idx="17">
                  <c:v>4141</c:v>
                </c:pt>
                <c:pt idx="18">
                  <c:v>3871</c:v>
                </c:pt>
                <c:pt idx="19">
                  <c:v>13051</c:v>
                </c:pt>
                <c:pt idx="20">
                  <c:v>7471</c:v>
                </c:pt>
                <c:pt idx="21">
                  <c:v>6121</c:v>
                </c:pt>
                <c:pt idx="22">
                  <c:v>6125.7</c:v>
                </c:pt>
                <c:pt idx="23">
                  <c:v>5400.99</c:v>
                </c:pt>
                <c:pt idx="24">
                  <c:v>7377.74</c:v>
                </c:pt>
                <c:pt idx="25">
                  <c:v>5041</c:v>
                </c:pt>
                <c:pt idx="26">
                  <c:v>5049.53</c:v>
                </c:pt>
                <c:pt idx="27">
                  <c:v>3061</c:v>
                </c:pt>
                <c:pt idx="28">
                  <c:v>3054.29</c:v>
                </c:pt>
                <c:pt idx="29">
                  <c:v>3409</c:v>
                </c:pt>
                <c:pt idx="30">
                  <c:v>6503.84</c:v>
                </c:pt>
                <c:pt idx="31">
                  <c:v>16452.72</c:v>
                </c:pt>
                <c:pt idx="32">
                  <c:v>9047.64</c:v>
                </c:pt>
                <c:pt idx="33">
                  <c:v>7972.32</c:v>
                </c:pt>
                <c:pt idx="34">
                  <c:v>11342.55</c:v>
                </c:pt>
                <c:pt idx="35">
                  <c:v>6212.66</c:v>
                </c:pt>
                <c:pt idx="36">
                  <c:v>11375.57</c:v>
                </c:pt>
                <c:pt idx="37">
                  <c:v>10315.15</c:v>
                </c:pt>
                <c:pt idx="38">
                  <c:v>11484.9</c:v>
                </c:pt>
                <c:pt idx="39">
                  <c:v>6052.34</c:v>
                </c:pt>
                <c:pt idx="40">
                  <c:v>12133.01</c:v>
                </c:pt>
                <c:pt idx="41">
                  <c:v>6783.04</c:v>
                </c:pt>
                <c:pt idx="42">
                  <c:v>9048.81</c:v>
                </c:pt>
                <c:pt idx="43">
                  <c:v>33505.019999999997</c:v>
                </c:pt>
                <c:pt idx="44">
                  <c:v>20586.599999999999</c:v>
                </c:pt>
                <c:pt idx="45">
                  <c:v>15184.36</c:v>
                </c:pt>
                <c:pt idx="46">
                  <c:v>23561.77</c:v>
                </c:pt>
                <c:pt idx="47">
                  <c:v>30046.080000000002</c:v>
                </c:pt>
                <c:pt idx="48">
                  <c:v>31506</c:v>
                </c:pt>
                <c:pt idx="49">
                  <c:v>21228.27</c:v>
                </c:pt>
                <c:pt idx="50">
                  <c:v>21081.94</c:v>
                </c:pt>
                <c:pt idx="51">
                  <c:v>11182.58</c:v>
                </c:pt>
                <c:pt idx="52">
                  <c:v>14470.7</c:v>
                </c:pt>
                <c:pt idx="53">
                  <c:v>12286.95</c:v>
                </c:pt>
                <c:pt idx="54">
                  <c:v>9985.74</c:v>
                </c:pt>
                <c:pt idx="55">
                  <c:v>32432.560000000001</c:v>
                </c:pt>
                <c:pt idx="56">
                  <c:v>17806.259999999998</c:v>
                </c:pt>
                <c:pt idx="57">
                  <c:v>16562.02</c:v>
                </c:pt>
                <c:pt idx="58">
                  <c:v>28047.51</c:v>
                </c:pt>
                <c:pt idx="59">
                  <c:v>35616.82</c:v>
                </c:pt>
                <c:pt idx="60">
                  <c:v>26958.880000000001</c:v>
                </c:pt>
                <c:pt idx="61">
                  <c:v>24449.95</c:v>
                </c:pt>
                <c:pt idx="62">
                  <c:v>15033.42</c:v>
                </c:pt>
                <c:pt idx="63">
                  <c:v>15071.62</c:v>
                </c:pt>
                <c:pt idx="64">
                  <c:v>10189.02</c:v>
                </c:pt>
                <c:pt idx="65">
                  <c:v>7895.33</c:v>
                </c:pt>
                <c:pt idx="66">
                  <c:v>8852.24</c:v>
                </c:pt>
                <c:pt idx="67">
                  <c:v>22835.56</c:v>
                </c:pt>
              </c:numCache>
            </c:numRef>
          </c:val>
          <c:smooth val="0"/>
          <c:extLst>
            <c:ext xmlns:c16="http://schemas.microsoft.com/office/drawing/2014/chart" uri="{C3380CC4-5D6E-409C-BE32-E72D297353CC}">
              <c16:uniqueId val="{00000004-307C-C943-B703-FE5F9C1BF0D5}"/>
            </c:ext>
          </c:extLst>
        </c:ser>
        <c:ser>
          <c:idx val="5"/>
          <c:order val="5"/>
          <c:tx>
            <c:strRef>
              <c:f>Absolute!$A$7</c:f>
              <c:strCache>
                <c:ptCount val="1"/>
                <c:pt idx="0">
                  <c:v>DE</c:v>
                </c:pt>
              </c:strCache>
            </c:strRef>
          </c:tx>
          <c:spPr>
            <a:ln w="28575" cap="rnd" cmpd="dbl">
              <a:solidFill>
                <a:schemeClr val="accent4"/>
              </a:solidFill>
              <a:round/>
            </a:ln>
            <a:effectLst/>
          </c:spPr>
          <c:marker>
            <c:symbol val="none"/>
          </c:marker>
          <c:cat>
            <c:strRef>
              <c:f>Absolute!$B$1:$BQ$1</c:f>
              <c:strCache>
                <c:ptCount val="68"/>
                <c:pt idx="0">
                  <c:v>2016-06</c:v>
                </c:pt>
                <c:pt idx="1">
                  <c:v>2016-07</c:v>
                </c:pt>
                <c:pt idx="2">
                  <c:v>2016-08</c:v>
                </c:pt>
                <c:pt idx="3">
                  <c:v>2016-09</c:v>
                </c:pt>
                <c:pt idx="4">
                  <c:v>2016-10</c:v>
                </c:pt>
                <c:pt idx="5">
                  <c:v>2016-11</c:v>
                </c:pt>
                <c:pt idx="6">
                  <c:v>2016-12</c:v>
                </c:pt>
                <c:pt idx="7">
                  <c:v>2017-01</c:v>
                </c:pt>
                <c:pt idx="8">
                  <c:v>2017-02</c:v>
                </c:pt>
                <c:pt idx="9">
                  <c:v>2017-03</c:v>
                </c:pt>
                <c:pt idx="10">
                  <c:v>2017-04</c:v>
                </c:pt>
                <c:pt idx="11">
                  <c:v>2017-05</c:v>
                </c:pt>
                <c:pt idx="12">
                  <c:v>2017-06</c:v>
                </c:pt>
                <c:pt idx="13">
                  <c:v>2017-07</c:v>
                </c:pt>
                <c:pt idx="14">
                  <c:v>2017-08</c:v>
                </c:pt>
                <c:pt idx="15">
                  <c:v>2017-09</c:v>
                </c:pt>
                <c:pt idx="16">
                  <c:v>2017-10</c:v>
                </c:pt>
                <c:pt idx="17">
                  <c:v>2017-11</c:v>
                </c:pt>
                <c:pt idx="18">
                  <c:v>2017-12</c:v>
                </c:pt>
                <c:pt idx="19">
                  <c:v>2018-01</c:v>
                </c:pt>
                <c:pt idx="20">
                  <c:v>2018-02</c:v>
                </c:pt>
                <c:pt idx="21">
                  <c:v>2018-03</c:v>
                </c:pt>
                <c:pt idx="22">
                  <c:v>2018-04</c:v>
                </c:pt>
                <c:pt idx="23">
                  <c:v>2018-05</c:v>
                </c:pt>
                <c:pt idx="24">
                  <c:v>2018-06</c:v>
                </c:pt>
                <c:pt idx="25">
                  <c:v>2018-07</c:v>
                </c:pt>
                <c:pt idx="26">
                  <c:v>2018-08</c:v>
                </c:pt>
                <c:pt idx="27">
                  <c:v>2018-09</c:v>
                </c:pt>
                <c:pt idx="28">
                  <c:v>2018-10</c:v>
                </c:pt>
                <c:pt idx="29">
                  <c:v>2018-11</c:v>
                </c:pt>
                <c:pt idx="30">
                  <c:v>2018-12</c:v>
                </c:pt>
                <c:pt idx="31">
                  <c:v>2019-01</c:v>
                </c:pt>
                <c:pt idx="32">
                  <c:v>2019-02</c:v>
                </c:pt>
                <c:pt idx="33">
                  <c:v>2019-03</c:v>
                </c:pt>
                <c:pt idx="34">
                  <c:v>2019-04</c:v>
                </c:pt>
                <c:pt idx="35">
                  <c:v>2019-05</c:v>
                </c:pt>
                <c:pt idx="36">
                  <c:v>2019-06</c:v>
                </c:pt>
                <c:pt idx="37">
                  <c:v>2019-07</c:v>
                </c:pt>
                <c:pt idx="38">
                  <c:v>2019-08</c:v>
                </c:pt>
                <c:pt idx="39">
                  <c:v>2019-09</c:v>
                </c:pt>
                <c:pt idx="40">
                  <c:v>2019-10</c:v>
                </c:pt>
                <c:pt idx="41">
                  <c:v>2019-11</c:v>
                </c:pt>
                <c:pt idx="42">
                  <c:v>2019-12</c:v>
                </c:pt>
                <c:pt idx="43">
                  <c:v>2020-01</c:v>
                </c:pt>
                <c:pt idx="44">
                  <c:v>2020-02</c:v>
                </c:pt>
                <c:pt idx="45">
                  <c:v>2020-03</c:v>
                </c:pt>
                <c:pt idx="46">
                  <c:v>2020-04</c:v>
                </c:pt>
                <c:pt idx="47">
                  <c:v>2020-05</c:v>
                </c:pt>
                <c:pt idx="48">
                  <c:v>2020-06</c:v>
                </c:pt>
                <c:pt idx="49">
                  <c:v>2020-07</c:v>
                </c:pt>
                <c:pt idx="50">
                  <c:v>2020-08</c:v>
                </c:pt>
                <c:pt idx="51">
                  <c:v>2020-09</c:v>
                </c:pt>
                <c:pt idx="52">
                  <c:v>2020-10</c:v>
                </c:pt>
                <c:pt idx="53">
                  <c:v>2020-11</c:v>
                </c:pt>
                <c:pt idx="54">
                  <c:v>2020-12</c:v>
                </c:pt>
                <c:pt idx="55">
                  <c:v>2021-01</c:v>
                </c:pt>
                <c:pt idx="56">
                  <c:v>2021-02</c:v>
                </c:pt>
                <c:pt idx="57">
                  <c:v>2021-03</c:v>
                </c:pt>
                <c:pt idx="58">
                  <c:v>2021-04</c:v>
                </c:pt>
                <c:pt idx="59">
                  <c:v>2021-05</c:v>
                </c:pt>
                <c:pt idx="60">
                  <c:v>2021-06</c:v>
                </c:pt>
                <c:pt idx="61">
                  <c:v>2021-07</c:v>
                </c:pt>
                <c:pt idx="62">
                  <c:v>2021-08</c:v>
                </c:pt>
                <c:pt idx="63">
                  <c:v>2021-09</c:v>
                </c:pt>
                <c:pt idx="64">
                  <c:v>2021-10</c:v>
                </c:pt>
                <c:pt idx="65">
                  <c:v>2021-11</c:v>
                </c:pt>
                <c:pt idx="66">
                  <c:v>2021-12</c:v>
                </c:pt>
                <c:pt idx="67">
                  <c:v>2022-01</c:v>
                </c:pt>
              </c:strCache>
            </c:strRef>
          </c:cat>
          <c:val>
            <c:numRef>
              <c:f>Absolute!$B$7:$BQ$7</c:f>
              <c:numCache>
                <c:formatCode>_("$"* #,##0.00_);_("$"* \(#,##0.00\);_("$"* "-"??_);_(@_)</c:formatCode>
                <c:ptCount val="68"/>
                <c:pt idx="0">
                  <c:v>15031</c:v>
                </c:pt>
                <c:pt idx="1">
                  <c:v>19981</c:v>
                </c:pt>
                <c:pt idx="2">
                  <c:v>31051</c:v>
                </c:pt>
                <c:pt idx="3">
                  <c:v>26101</c:v>
                </c:pt>
                <c:pt idx="4">
                  <c:v>21421</c:v>
                </c:pt>
                <c:pt idx="5">
                  <c:v>21961</c:v>
                </c:pt>
                <c:pt idx="6">
                  <c:v>86761</c:v>
                </c:pt>
                <c:pt idx="7">
                  <c:v>94591</c:v>
                </c:pt>
                <c:pt idx="8">
                  <c:v>51931</c:v>
                </c:pt>
                <c:pt idx="9">
                  <c:v>39061</c:v>
                </c:pt>
                <c:pt idx="10">
                  <c:v>47971</c:v>
                </c:pt>
                <c:pt idx="11">
                  <c:v>29251</c:v>
                </c:pt>
                <c:pt idx="12">
                  <c:v>35634.32</c:v>
                </c:pt>
                <c:pt idx="13">
                  <c:v>34592.06</c:v>
                </c:pt>
                <c:pt idx="14">
                  <c:v>31263.89</c:v>
                </c:pt>
                <c:pt idx="15">
                  <c:v>35281</c:v>
                </c:pt>
                <c:pt idx="16">
                  <c:v>34154.080000000002</c:v>
                </c:pt>
                <c:pt idx="17">
                  <c:v>36370.39</c:v>
                </c:pt>
                <c:pt idx="18">
                  <c:v>35014.769999999997</c:v>
                </c:pt>
                <c:pt idx="19">
                  <c:v>173375.96</c:v>
                </c:pt>
                <c:pt idx="20">
                  <c:v>100919.31</c:v>
                </c:pt>
                <c:pt idx="21">
                  <c:v>49273.83</c:v>
                </c:pt>
                <c:pt idx="22">
                  <c:v>61385.39</c:v>
                </c:pt>
                <c:pt idx="23">
                  <c:v>50500.17</c:v>
                </c:pt>
                <c:pt idx="24">
                  <c:v>50565.71</c:v>
                </c:pt>
                <c:pt idx="25">
                  <c:v>39984.620000000003</c:v>
                </c:pt>
                <c:pt idx="26">
                  <c:v>38192.800000000003</c:v>
                </c:pt>
                <c:pt idx="27">
                  <c:v>41753.589999999997</c:v>
                </c:pt>
                <c:pt idx="28">
                  <c:v>34785.49</c:v>
                </c:pt>
                <c:pt idx="29">
                  <c:v>45148.25</c:v>
                </c:pt>
                <c:pt idx="30">
                  <c:v>85628.08</c:v>
                </c:pt>
                <c:pt idx="31">
                  <c:v>181112.77</c:v>
                </c:pt>
                <c:pt idx="32">
                  <c:v>112981.18</c:v>
                </c:pt>
                <c:pt idx="33">
                  <c:v>82461.77</c:v>
                </c:pt>
                <c:pt idx="34">
                  <c:v>98838.65</c:v>
                </c:pt>
                <c:pt idx="35">
                  <c:v>71995.199999999997</c:v>
                </c:pt>
                <c:pt idx="36">
                  <c:v>73210.149999999994</c:v>
                </c:pt>
                <c:pt idx="37">
                  <c:v>69728.02</c:v>
                </c:pt>
                <c:pt idx="38">
                  <c:v>78504.59</c:v>
                </c:pt>
                <c:pt idx="39">
                  <c:v>70568.070000000007</c:v>
                </c:pt>
                <c:pt idx="40">
                  <c:v>111827.24</c:v>
                </c:pt>
                <c:pt idx="41">
                  <c:v>71599.25</c:v>
                </c:pt>
                <c:pt idx="42">
                  <c:v>146109.32999999999</c:v>
                </c:pt>
                <c:pt idx="43">
                  <c:v>563975.54</c:v>
                </c:pt>
                <c:pt idx="44">
                  <c:v>239709.73</c:v>
                </c:pt>
                <c:pt idx="45">
                  <c:v>152156.17000000001</c:v>
                </c:pt>
                <c:pt idx="46">
                  <c:v>363644.76</c:v>
                </c:pt>
                <c:pt idx="47">
                  <c:v>606228.63</c:v>
                </c:pt>
                <c:pt idx="48">
                  <c:v>354495.05</c:v>
                </c:pt>
                <c:pt idx="49">
                  <c:v>127216.05</c:v>
                </c:pt>
                <c:pt idx="50">
                  <c:v>138225.92000000001</c:v>
                </c:pt>
                <c:pt idx="51">
                  <c:v>133052.56</c:v>
                </c:pt>
                <c:pt idx="52">
                  <c:v>152091.65</c:v>
                </c:pt>
                <c:pt idx="53">
                  <c:v>146430.54</c:v>
                </c:pt>
                <c:pt idx="54">
                  <c:v>338562.71</c:v>
                </c:pt>
                <c:pt idx="55">
                  <c:v>920696.26</c:v>
                </c:pt>
                <c:pt idx="56">
                  <c:v>350461.79</c:v>
                </c:pt>
                <c:pt idx="57">
                  <c:v>300854.69</c:v>
                </c:pt>
                <c:pt idx="58">
                  <c:v>504243.59</c:v>
                </c:pt>
                <c:pt idx="59">
                  <c:v>659054.16</c:v>
                </c:pt>
                <c:pt idx="60">
                  <c:v>400964.37</c:v>
                </c:pt>
                <c:pt idx="61">
                  <c:v>189359.88</c:v>
                </c:pt>
                <c:pt idx="62">
                  <c:v>168664.08</c:v>
                </c:pt>
                <c:pt idx="63">
                  <c:v>212508.2</c:v>
                </c:pt>
                <c:pt idx="64">
                  <c:v>222714.56</c:v>
                </c:pt>
                <c:pt idx="65">
                  <c:v>178770</c:v>
                </c:pt>
                <c:pt idx="66">
                  <c:v>323437.88</c:v>
                </c:pt>
                <c:pt idx="67">
                  <c:v>847313.67</c:v>
                </c:pt>
              </c:numCache>
            </c:numRef>
          </c:val>
          <c:smooth val="0"/>
          <c:extLst>
            <c:ext xmlns:c16="http://schemas.microsoft.com/office/drawing/2014/chart" uri="{C3380CC4-5D6E-409C-BE32-E72D297353CC}">
              <c16:uniqueId val="{00000005-307C-C943-B703-FE5F9C1BF0D5}"/>
            </c:ext>
          </c:extLst>
        </c:ser>
        <c:ser>
          <c:idx val="6"/>
          <c:order val="6"/>
          <c:tx>
            <c:strRef>
              <c:f>Absolute!$A$8</c:f>
              <c:strCache>
                <c:ptCount val="1"/>
                <c:pt idx="0">
                  <c:v>ES</c:v>
                </c:pt>
              </c:strCache>
            </c:strRef>
          </c:tx>
          <c:spPr>
            <a:ln w="28575" cap="rnd" cmpd="dbl">
              <a:solidFill>
                <a:schemeClr val="accent1">
                  <a:lumMod val="60000"/>
                </a:schemeClr>
              </a:solidFill>
              <a:round/>
            </a:ln>
            <a:effectLst/>
          </c:spPr>
          <c:marker>
            <c:symbol val="none"/>
          </c:marker>
          <c:cat>
            <c:strRef>
              <c:f>Absolute!$B$1:$BQ$1</c:f>
              <c:strCache>
                <c:ptCount val="68"/>
                <c:pt idx="0">
                  <c:v>2016-06</c:v>
                </c:pt>
                <c:pt idx="1">
                  <c:v>2016-07</c:v>
                </c:pt>
                <c:pt idx="2">
                  <c:v>2016-08</c:v>
                </c:pt>
                <c:pt idx="3">
                  <c:v>2016-09</c:v>
                </c:pt>
                <c:pt idx="4">
                  <c:v>2016-10</c:v>
                </c:pt>
                <c:pt idx="5">
                  <c:v>2016-11</c:v>
                </c:pt>
                <c:pt idx="6">
                  <c:v>2016-12</c:v>
                </c:pt>
                <c:pt idx="7">
                  <c:v>2017-01</c:v>
                </c:pt>
                <c:pt idx="8">
                  <c:v>2017-02</c:v>
                </c:pt>
                <c:pt idx="9">
                  <c:v>2017-03</c:v>
                </c:pt>
                <c:pt idx="10">
                  <c:v>2017-04</c:v>
                </c:pt>
                <c:pt idx="11">
                  <c:v>2017-05</c:v>
                </c:pt>
                <c:pt idx="12">
                  <c:v>2017-06</c:v>
                </c:pt>
                <c:pt idx="13">
                  <c:v>2017-07</c:v>
                </c:pt>
                <c:pt idx="14">
                  <c:v>2017-08</c:v>
                </c:pt>
                <c:pt idx="15">
                  <c:v>2017-09</c:v>
                </c:pt>
                <c:pt idx="16">
                  <c:v>2017-10</c:v>
                </c:pt>
                <c:pt idx="17">
                  <c:v>2017-11</c:v>
                </c:pt>
                <c:pt idx="18">
                  <c:v>2017-12</c:v>
                </c:pt>
                <c:pt idx="19">
                  <c:v>2018-01</c:v>
                </c:pt>
                <c:pt idx="20">
                  <c:v>2018-02</c:v>
                </c:pt>
                <c:pt idx="21">
                  <c:v>2018-03</c:v>
                </c:pt>
                <c:pt idx="22">
                  <c:v>2018-04</c:v>
                </c:pt>
                <c:pt idx="23">
                  <c:v>2018-05</c:v>
                </c:pt>
                <c:pt idx="24">
                  <c:v>2018-06</c:v>
                </c:pt>
                <c:pt idx="25">
                  <c:v>2018-07</c:v>
                </c:pt>
                <c:pt idx="26">
                  <c:v>2018-08</c:v>
                </c:pt>
                <c:pt idx="27">
                  <c:v>2018-09</c:v>
                </c:pt>
                <c:pt idx="28">
                  <c:v>2018-10</c:v>
                </c:pt>
                <c:pt idx="29">
                  <c:v>2018-11</c:v>
                </c:pt>
                <c:pt idx="30">
                  <c:v>2018-12</c:v>
                </c:pt>
                <c:pt idx="31">
                  <c:v>2019-01</c:v>
                </c:pt>
                <c:pt idx="32">
                  <c:v>2019-02</c:v>
                </c:pt>
                <c:pt idx="33">
                  <c:v>2019-03</c:v>
                </c:pt>
                <c:pt idx="34">
                  <c:v>2019-04</c:v>
                </c:pt>
                <c:pt idx="35">
                  <c:v>2019-05</c:v>
                </c:pt>
                <c:pt idx="36">
                  <c:v>2019-06</c:v>
                </c:pt>
                <c:pt idx="37">
                  <c:v>2019-07</c:v>
                </c:pt>
                <c:pt idx="38">
                  <c:v>2019-08</c:v>
                </c:pt>
                <c:pt idx="39">
                  <c:v>2019-09</c:v>
                </c:pt>
                <c:pt idx="40">
                  <c:v>2019-10</c:v>
                </c:pt>
                <c:pt idx="41">
                  <c:v>2019-11</c:v>
                </c:pt>
                <c:pt idx="42">
                  <c:v>2019-12</c:v>
                </c:pt>
                <c:pt idx="43">
                  <c:v>2020-01</c:v>
                </c:pt>
                <c:pt idx="44">
                  <c:v>2020-02</c:v>
                </c:pt>
                <c:pt idx="45">
                  <c:v>2020-03</c:v>
                </c:pt>
                <c:pt idx="46">
                  <c:v>2020-04</c:v>
                </c:pt>
                <c:pt idx="47">
                  <c:v>2020-05</c:v>
                </c:pt>
                <c:pt idx="48">
                  <c:v>2020-06</c:v>
                </c:pt>
                <c:pt idx="49">
                  <c:v>2020-07</c:v>
                </c:pt>
                <c:pt idx="50">
                  <c:v>2020-08</c:v>
                </c:pt>
                <c:pt idx="51">
                  <c:v>2020-09</c:v>
                </c:pt>
                <c:pt idx="52">
                  <c:v>2020-10</c:v>
                </c:pt>
                <c:pt idx="53">
                  <c:v>2020-11</c:v>
                </c:pt>
                <c:pt idx="54">
                  <c:v>2020-12</c:v>
                </c:pt>
                <c:pt idx="55">
                  <c:v>2021-01</c:v>
                </c:pt>
                <c:pt idx="56">
                  <c:v>2021-02</c:v>
                </c:pt>
                <c:pt idx="57">
                  <c:v>2021-03</c:v>
                </c:pt>
                <c:pt idx="58">
                  <c:v>2021-04</c:v>
                </c:pt>
                <c:pt idx="59">
                  <c:v>2021-05</c:v>
                </c:pt>
                <c:pt idx="60">
                  <c:v>2021-06</c:v>
                </c:pt>
                <c:pt idx="61">
                  <c:v>2021-07</c:v>
                </c:pt>
                <c:pt idx="62">
                  <c:v>2021-08</c:v>
                </c:pt>
                <c:pt idx="63">
                  <c:v>2021-09</c:v>
                </c:pt>
                <c:pt idx="64">
                  <c:v>2021-10</c:v>
                </c:pt>
                <c:pt idx="65">
                  <c:v>2021-11</c:v>
                </c:pt>
                <c:pt idx="66">
                  <c:v>2021-12</c:v>
                </c:pt>
                <c:pt idx="67">
                  <c:v>2022-01</c:v>
                </c:pt>
              </c:strCache>
            </c:strRef>
          </c:cat>
          <c:val>
            <c:numRef>
              <c:f>Absolute!$B$8:$BQ$8</c:f>
              <c:numCache>
                <c:formatCode>_("$"* #,##0.00_);_("$"* \(#,##0.00\);_("$"* "-"??_);_(@_)</c:formatCode>
                <c:ptCount val="68"/>
                <c:pt idx="0">
                  <c:v>5041</c:v>
                </c:pt>
                <c:pt idx="1">
                  <c:v>4681</c:v>
                </c:pt>
                <c:pt idx="2">
                  <c:v>11701</c:v>
                </c:pt>
                <c:pt idx="3">
                  <c:v>9721</c:v>
                </c:pt>
                <c:pt idx="4">
                  <c:v>8461</c:v>
                </c:pt>
                <c:pt idx="5">
                  <c:v>7561</c:v>
                </c:pt>
                <c:pt idx="6">
                  <c:v>35011</c:v>
                </c:pt>
                <c:pt idx="7">
                  <c:v>29341</c:v>
                </c:pt>
                <c:pt idx="8">
                  <c:v>23221</c:v>
                </c:pt>
                <c:pt idx="9">
                  <c:v>14221</c:v>
                </c:pt>
                <c:pt idx="10">
                  <c:v>15121</c:v>
                </c:pt>
                <c:pt idx="11">
                  <c:v>9181</c:v>
                </c:pt>
                <c:pt idx="12">
                  <c:v>9992.01</c:v>
                </c:pt>
                <c:pt idx="13">
                  <c:v>12989.38</c:v>
                </c:pt>
                <c:pt idx="14">
                  <c:v>12061</c:v>
                </c:pt>
                <c:pt idx="15">
                  <c:v>13233.46</c:v>
                </c:pt>
                <c:pt idx="16">
                  <c:v>17825.34</c:v>
                </c:pt>
                <c:pt idx="17">
                  <c:v>13861.44</c:v>
                </c:pt>
                <c:pt idx="18">
                  <c:v>16748.080000000002</c:v>
                </c:pt>
                <c:pt idx="19">
                  <c:v>59507.38</c:v>
                </c:pt>
                <c:pt idx="20">
                  <c:v>43416.41</c:v>
                </c:pt>
                <c:pt idx="21">
                  <c:v>22308.880000000001</c:v>
                </c:pt>
                <c:pt idx="22">
                  <c:v>20245.2</c:v>
                </c:pt>
                <c:pt idx="23">
                  <c:v>17778.87</c:v>
                </c:pt>
                <c:pt idx="24">
                  <c:v>18007.37</c:v>
                </c:pt>
                <c:pt idx="25">
                  <c:v>12946.78</c:v>
                </c:pt>
                <c:pt idx="26">
                  <c:v>16360.82</c:v>
                </c:pt>
                <c:pt idx="27">
                  <c:v>13577.08</c:v>
                </c:pt>
                <c:pt idx="28">
                  <c:v>10761.45</c:v>
                </c:pt>
                <c:pt idx="29">
                  <c:v>15721.73</c:v>
                </c:pt>
                <c:pt idx="30">
                  <c:v>29798.54</c:v>
                </c:pt>
                <c:pt idx="31">
                  <c:v>53723.99</c:v>
                </c:pt>
                <c:pt idx="32">
                  <c:v>48372.24</c:v>
                </c:pt>
                <c:pt idx="33">
                  <c:v>29594.16</c:v>
                </c:pt>
                <c:pt idx="34">
                  <c:v>29991.759999999998</c:v>
                </c:pt>
                <c:pt idx="35">
                  <c:v>22663.57</c:v>
                </c:pt>
                <c:pt idx="36">
                  <c:v>27011.54</c:v>
                </c:pt>
                <c:pt idx="37">
                  <c:v>28610.65</c:v>
                </c:pt>
                <c:pt idx="38">
                  <c:v>32176.71</c:v>
                </c:pt>
                <c:pt idx="39">
                  <c:v>27464.6</c:v>
                </c:pt>
                <c:pt idx="40">
                  <c:v>41855.620000000003</c:v>
                </c:pt>
                <c:pt idx="41">
                  <c:v>26964.62</c:v>
                </c:pt>
                <c:pt idx="42">
                  <c:v>53716.62</c:v>
                </c:pt>
                <c:pt idx="43">
                  <c:v>209748.53</c:v>
                </c:pt>
                <c:pt idx="44">
                  <c:v>91246.26</c:v>
                </c:pt>
                <c:pt idx="45">
                  <c:v>47629.58</c:v>
                </c:pt>
                <c:pt idx="46">
                  <c:v>153765.9</c:v>
                </c:pt>
                <c:pt idx="47">
                  <c:v>239335.78</c:v>
                </c:pt>
                <c:pt idx="48">
                  <c:v>101429.74</c:v>
                </c:pt>
                <c:pt idx="49">
                  <c:v>46131.77</c:v>
                </c:pt>
                <c:pt idx="50">
                  <c:v>43347.38</c:v>
                </c:pt>
                <c:pt idx="51">
                  <c:v>47197.37</c:v>
                </c:pt>
                <c:pt idx="52">
                  <c:v>47199.66</c:v>
                </c:pt>
                <c:pt idx="53">
                  <c:v>49978.6</c:v>
                </c:pt>
                <c:pt idx="54">
                  <c:v>98354.51</c:v>
                </c:pt>
                <c:pt idx="55">
                  <c:v>239118.19</c:v>
                </c:pt>
                <c:pt idx="56">
                  <c:v>109208.45</c:v>
                </c:pt>
                <c:pt idx="57">
                  <c:v>87123.82</c:v>
                </c:pt>
                <c:pt idx="58">
                  <c:v>163482.93</c:v>
                </c:pt>
                <c:pt idx="59">
                  <c:v>242165.3</c:v>
                </c:pt>
                <c:pt idx="60">
                  <c:v>116129.59</c:v>
                </c:pt>
                <c:pt idx="61">
                  <c:v>61552.800000000003</c:v>
                </c:pt>
                <c:pt idx="62">
                  <c:v>55248.58</c:v>
                </c:pt>
                <c:pt idx="63">
                  <c:v>79709.89</c:v>
                </c:pt>
                <c:pt idx="64">
                  <c:v>71283.77</c:v>
                </c:pt>
                <c:pt idx="65">
                  <c:v>58609.71</c:v>
                </c:pt>
                <c:pt idx="66">
                  <c:v>101021.89</c:v>
                </c:pt>
                <c:pt idx="67">
                  <c:v>234515.59</c:v>
                </c:pt>
              </c:numCache>
            </c:numRef>
          </c:val>
          <c:smooth val="0"/>
          <c:extLst>
            <c:ext xmlns:c16="http://schemas.microsoft.com/office/drawing/2014/chart" uri="{C3380CC4-5D6E-409C-BE32-E72D297353CC}">
              <c16:uniqueId val="{00000006-307C-C943-B703-FE5F9C1BF0D5}"/>
            </c:ext>
          </c:extLst>
        </c:ser>
        <c:ser>
          <c:idx val="7"/>
          <c:order val="7"/>
          <c:tx>
            <c:strRef>
              <c:f>Absolute!$A$9</c:f>
              <c:strCache>
                <c:ptCount val="1"/>
                <c:pt idx="0">
                  <c:v>FR</c:v>
                </c:pt>
              </c:strCache>
            </c:strRef>
          </c:tx>
          <c:spPr>
            <a:ln w="28575" cap="rnd" cmpd="dbl">
              <a:solidFill>
                <a:srgbClr val="00B0F0"/>
              </a:solidFill>
              <a:round/>
            </a:ln>
            <a:effectLst/>
          </c:spPr>
          <c:marker>
            <c:symbol val="none"/>
          </c:marker>
          <c:cat>
            <c:strRef>
              <c:f>Absolute!$B$1:$BQ$1</c:f>
              <c:strCache>
                <c:ptCount val="68"/>
                <c:pt idx="0">
                  <c:v>2016-06</c:v>
                </c:pt>
                <c:pt idx="1">
                  <c:v>2016-07</c:v>
                </c:pt>
                <c:pt idx="2">
                  <c:v>2016-08</c:v>
                </c:pt>
                <c:pt idx="3">
                  <c:v>2016-09</c:v>
                </c:pt>
                <c:pt idx="4">
                  <c:v>2016-10</c:v>
                </c:pt>
                <c:pt idx="5">
                  <c:v>2016-11</c:v>
                </c:pt>
                <c:pt idx="6">
                  <c:v>2016-12</c:v>
                </c:pt>
                <c:pt idx="7">
                  <c:v>2017-01</c:v>
                </c:pt>
                <c:pt idx="8">
                  <c:v>2017-02</c:v>
                </c:pt>
                <c:pt idx="9">
                  <c:v>2017-03</c:v>
                </c:pt>
                <c:pt idx="10">
                  <c:v>2017-04</c:v>
                </c:pt>
                <c:pt idx="11">
                  <c:v>2017-05</c:v>
                </c:pt>
                <c:pt idx="12">
                  <c:v>2017-06</c:v>
                </c:pt>
                <c:pt idx="13">
                  <c:v>2017-07</c:v>
                </c:pt>
                <c:pt idx="14">
                  <c:v>2017-08</c:v>
                </c:pt>
                <c:pt idx="15">
                  <c:v>2017-09</c:v>
                </c:pt>
                <c:pt idx="16">
                  <c:v>2017-10</c:v>
                </c:pt>
                <c:pt idx="17">
                  <c:v>2017-11</c:v>
                </c:pt>
                <c:pt idx="18">
                  <c:v>2017-12</c:v>
                </c:pt>
                <c:pt idx="19">
                  <c:v>2018-01</c:v>
                </c:pt>
                <c:pt idx="20">
                  <c:v>2018-02</c:v>
                </c:pt>
                <c:pt idx="21">
                  <c:v>2018-03</c:v>
                </c:pt>
                <c:pt idx="22">
                  <c:v>2018-04</c:v>
                </c:pt>
                <c:pt idx="23">
                  <c:v>2018-05</c:v>
                </c:pt>
                <c:pt idx="24">
                  <c:v>2018-06</c:v>
                </c:pt>
                <c:pt idx="25">
                  <c:v>2018-07</c:v>
                </c:pt>
                <c:pt idx="26">
                  <c:v>2018-08</c:v>
                </c:pt>
                <c:pt idx="27">
                  <c:v>2018-09</c:v>
                </c:pt>
                <c:pt idx="28">
                  <c:v>2018-10</c:v>
                </c:pt>
                <c:pt idx="29">
                  <c:v>2018-11</c:v>
                </c:pt>
                <c:pt idx="30">
                  <c:v>2018-12</c:v>
                </c:pt>
                <c:pt idx="31">
                  <c:v>2019-01</c:v>
                </c:pt>
                <c:pt idx="32">
                  <c:v>2019-02</c:v>
                </c:pt>
                <c:pt idx="33">
                  <c:v>2019-03</c:v>
                </c:pt>
                <c:pt idx="34">
                  <c:v>2019-04</c:v>
                </c:pt>
                <c:pt idx="35">
                  <c:v>2019-05</c:v>
                </c:pt>
                <c:pt idx="36">
                  <c:v>2019-06</c:v>
                </c:pt>
                <c:pt idx="37">
                  <c:v>2019-07</c:v>
                </c:pt>
                <c:pt idx="38">
                  <c:v>2019-08</c:v>
                </c:pt>
                <c:pt idx="39">
                  <c:v>2019-09</c:v>
                </c:pt>
                <c:pt idx="40">
                  <c:v>2019-10</c:v>
                </c:pt>
                <c:pt idx="41">
                  <c:v>2019-11</c:v>
                </c:pt>
                <c:pt idx="42">
                  <c:v>2019-12</c:v>
                </c:pt>
                <c:pt idx="43">
                  <c:v>2020-01</c:v>
                </c:pt>
                <c:pt idx="44">
                  <c:v>2020-02</c:v>
                </c:pt>
                <c:pt idx="45">
                  <c:v>2020-03</c:v>
                </c:pt>
                <c:pt idx="46">
                  <c:v>2020-04</c:v>
                </c:pt>
                <c:pt idx="47">
                  <c:v>2020-05</c:v>
                </c:pt>
                <c:pt idx="48">
                  <c:v>2020-06</c:v>
                </c:pt>
                <c:pt idx="49">
                  <c:v>2020-07</c:v>
                </c:pt>
                <c:pt idx="50">
                  <c:v>2020-08</c:v>
                </c:pt>
                <c:pt idx="51">
                  <c:v>2020-09</c:v>
                </c:pt>
                <c:pt idx="52">
                  <c:v>2020-10</c:v>
                </c:pt>
                <c:pt idx="53">
                  <c:v>2020-11</c:v>
                </c:pt>
                <c:pt idx="54">
                  <c:v>2020-12</c:v>
                </c:pt>
                <c:pt idx="55">
                  <c:v>2021-01</c:v>
                </c:pt>
                <c:pt idx="56">
                  <c:v>2021-02</c:v>
                </c:pt>
                <c:pt idx="57">
                  <c:v>2021-03</c:v>
                </c:pt>
                <c:pt idx="58">
                  <c:v>2021-04</c:v>
                </c:pt>
                <c:pt idx="59">
                  <c:v>2021-05</c:v>
                </c:pt>
                <c:pt idx="60">
                  <c:v>2021-06</c:v>
                </c:pt>
                <c:pt idx="61">
                  <c:v>2021-07</c:v>
                </c:pt>
                <c:pt idx="62">
                  <c:v>2021-08</c:v>
                </c:pt>
                <c:pt idx="63">
                  <c:v>2021-09</c:v>
                </c:pt>
                <c:pt idx="64">
                  <c:v>2021-10</c:v>
                </c:pt>
                <c:pt idx="65">
                  <c:v>2021-11</c:v>
                </c:pt>
                <c:pt idx="66">
                  <c:v>2021-12</c:v>
                </c:pt>
                <c:pt idx="67">
                  <c:v>2022-01</c:v>
                </c:pt>
              </c:strCache>
            </c:strRef>
          </c:cat>
          <c:val>
            <c:numRef>
              <c:f>Absolute!$B$9:$BQ$9</c:f>
              <c:numCache>
                <c:formatCode>_("$"* #,##0.00_);_("$"* \(#,##0.00\);_("$"* "-"??_);_(@_)</c:formatCode>
                <c:ptCount val="68"/>
                <c:pt idx="0">
                  <c:v>4591</c:v>
                </c:pt>
                <c:pt idx="1">
                  <c:v>7561</c:v>
                </c:pt>
                <c:pt idx="2">
                  <c:v>16831</c:v>
                </c:pt>
                <c:pt idx="3">
                  <c:v>18721</c:v>
                </c:pt>
                <c:pt idx="4">
                  <c:v>14221</c:v>
                </c:pt>
                <c:pt idx="5">
                  <c:v>13951</c:v>
                </c:pt>
                <c:pt idx="6">
                  <c:v>43651</c:v>
                </c:pt>
                <c:pt idx="7">
                  <c:v>48061</c:v>
                </c:pt>
                <c:pt idx="8">
                  <c:v>28171</c:v>
                </c:pt>
                <c:pt idx="9">
                  <c:v>21871</c:v>
                </c:pt>
                <c:pt idx="10">
                  <c:v>21511</c:v>
                </c:pt>
                <c:pt idx="11">
                  <c:v>12781</c:v>
                </c:pt>
                <c:pt idx="12">
                  <c:v>17549.61</c:v>
                </c:pt>
                <c:pt idx="13">
                  <c:v>21238.959999999999</c:v>
                </c:pt>
                <c:pt idx="14">
                  <c:v>16324.77</c:v>
                </c:pt>
                <c:pt idx="15">
                  <c:v>22323.07</c:v>
                </c:pt>
                <c:pt idx="16">
                  <c:v>24911.79</c:v>
                </c:pt>
                <c:pt idx="17">
                  <c:v>22325.85</c:v>
                </c:pt>
                <c:pt idx="18">
                  <c:v>23672.53</c:v>
                </c:pt>
                <c:pt idx="19">
                  <c:v>86569.87</c:v>
                </c:pt>
                <c:pt idx="20">
                  <c:v>51861.75</c:v>
                </c:pt>
                <c:pt idx="21">
                  <c:v>26212.95</c:v>
                </c:pt>
                <c:pt idx="22">
                  <c:v>31976.84</c:v>
                </c:pt>
                <c:pt idx="23">
                  <c:v>26376.36</c:v>
                </c:pt>
                <c:pt idx="24">
                  <c:v>28158.82</c:v>
                </c:pt>
                <c:pt idx="25">
                  <c:v>22620.42</c:v>
                </c:pt>
                <c:pt idx="26">
                  <c:v>21284.98</c:v>
                </c:pt>
                <c:pt idx="27">
                  <c:v>23893.35</c:v>
                </c:pt>
                <c:pt idx="28">
                  <c:v>19994.95</c:v>
                </c:pt>
                <c:pt idx="29">
                  <c:v>24939.97</c:v>
                </c:pt>
                <c:pt idx="30">
                  <c:v>40380.25</c:v>
                </c:pt>
                <c:pt idx="31">
                  <c:v>89112.76</c:v>
                </c:pt>
                <c:pt idx="32">
                  <c:v>66356.509999999995</c:v>
                </c:pt>
                <c:pt idx="33">
                  <c:v>42560.35</c:v>
                </c:pt>
                <c:pt idx="34">
                  <c:v>57617.32</c:v>
                </c:pt>
                <c:pt idx="35">
                  <c:v>43753.02</c:v>
                </c:pt>
                <c:pt idx="36">
                  <c:v>39704.99</c:v>
                </c:pt>
                <c:pt idx="37">
                  <c:v>37043.599999999999</c:v>
                </c:pt>
                <c:pt idx="38">
                  <c:v>38725.370000000003</c:v>
                </c:pt>
                <c:pt idx="39">
                  <c:v>39384.01</c:v>
                </c:pt>
                <c:pt idx="40">
                  <c:v>83290.23</c:v>
                </c:pt>
                <c:pt idx="41">
                  <c:v>45539.27</c:v>
                </c:pt>
                <c:pt idx="42">
                  <c:v>82669.86</c:v>
                </c:pt>
                <c:pt idx="43">
                  <c:v>315802.89</c:v>
                </c:pt>
                <c:pt idx="44">
                  <c:v>135748.69</c:v>
                </c:pt>
                <c:pt idx="45">
                  <c:v>87168.79</c:v>
                </c:pt>
                <c:pt idx="46">
                  <c:v>250084.51</c:v>
                </c:pt>
                <c:pt idx="47">
                  <c:v>381892.24</c:v>
                </c:pt>
                <c:pt idx="48">
                  <c:v>169604.83</c:v>
                </c:pt>
                <c:pt idx="49">
                  <c:v>70747.55</c:v>
                </c:pt>
                <c:pt idx="50">
                  <c:v>59152.14</c:v>
                </c:pt>
                <c:pt idx="51">
                  <c:v>68422.84</c:v>
                </c:pt>
                <c:pt idx="52">
                  <c:v>88203.1</c:v>
                </c:pt>
                <c:pt idx="53">
                  <c:v>80601.48</c:v>
                </c:pt>
                <c:pt idx="54">
                  <c:v>170599.04000000001</c:v>
                </c:pt>
                <c:pt idx="55">
                  <c:v>401384.2</c:v>
                </c:pt>
                <c:pt idx="56">
                  <c:v>156311.74</c:v>
                </c:pt>
                <c:pt idx="57">
                  <c:v>125651.59</c:v>
                </c:pt>
                <c:pt idx="58">
                  <c:v>240813.45</c:v>
                </c:pt>
                <c:pt idx="59">
                  <c:v>377925.71</c:v>
                </c:pt>
                <c:pt idx="60">
                  <c:v>183822.31</c:v>
                </c:pt>
                <c:pt idx="61">
                  <c:v>95798.1</c:v>
                </c:pt>
                <c:pt idx="62">
                  <c:v>76712.149999999994</c:v>
                </c:pt>
                <c:pt idx="63">
                  <c:v>103947.92</c:v>
                </c:pt>
                <c:pt idx="64">
                  <c:v>113111.91</c:v>
                </c:pt>
                <c:pt idx="65">
                  <c:v>72462.47</c:v>
                </c:pt>
                <c:pt idx="66">
                  <c:v>133880.89000000001</c:v>
                </c:pt>
                <c:pt idx="67">
                  <c:v>348969.3</c:v>
                </c:pt>
              </c:numCache>
            </c:numRef>
          </c:val>
          <c:smooth val="0"/>
          <c:extLst>
            <c:ext xmlns:c16="http://schemas.microsoft.com/office/drawing/2014/chart" uri="{C3380CC4-5D6E-409C-BE32-E72D297353CC}">
              <c16:uniqueId val="{00000007-307C-C943-B703-FE5F9C1BF0D5}"/>
            </c:ext>
          </c:extLst>
        </c:ser>
        <c:ser>
          <c:idx val="8"/>
          <c:order val="8"/>
          <c:tx>
            <c:strRef>
              <c:f>Absolute!$A$10</c:f>
              <c:strCache>
                <c:ptCount val="1"/>
                <c:pt idx="0">
                  <c:v>GB</c:v>
                </c:pt>
              </c:strCache>
            </c:strRef>
          </c:tx>
          <c:spPr>
            <a:ln w="28575" cap="rnd" cmpd="dbl">
              <a:solidFill>
                <a:srgbClr val="FF0000"/>
              </a:solidFill>
              <a:round/>
            </a:ln>
            <a:effectLst/>
          </c:spPr>
          <c:marker>
            <c:symbol val="none"/>
          </c:marker>
          <c:trendline>
            <c:spPr>
              <a:ln w="19050" cap="rnd">
                <a:solidFill>
                  <a:schemeClr val="accent3">
                    <a:lumMod val="60000"/>
                  </a:schemeClr>
                </a:solidFill>
                <a:prstDash val="sysDot"/>
              </a:ln>
              <a:effectLst/>
            </c:spPr>
            <c:trendlineType val="exp"/>
            <c:forward val="20"/>
            <c:dispRSqr val="0"/>
            <c:dispEq val="0"/>
          </c:trendline>
          <c:cat>
            <c:strRef>
              <c:f>Absolute!$B$1:$BQ$1</c:f>
              <c:strCache>
                <c:ptCount val="68"/>
                <c:pt idx="0">
                  <c:v>2016-06</c:v>
                </c:pt>
                <c:pt idx="1">
                  <c:v>2016-07</c:v>
                </c:pt>
                <c:pt idx="2">
                  <c:v>2016-08</c:v>
                </c:pt>
                <c:pt idx="3">
                  <c:v>2016-09</c:v>
                </c:pt>
                <c:pt idx="4">
                  <c:v>2016-10</c:v>
                </c:pt>
                <c:pt idx="5">
                  <c:v>2016-11</c:v>
                </c:pt>
                <c:pt idx="6">
                  <c:v>2016-12</c:v>
                </c:pt>
                <c:pt idx="7">
                  <c:v>2017-01</c:v>
                </c:pt>
                <c:pt idx="8">
                  <c:v>2017-02</c:v>
                </c:pt>
                <c:pt idx="9">
                  <c:v>2017-03</c:v>
                </c:pt>
                <c:pt idx="10">
                  <c:v>2017-04</c:v>
                </c:pt>
                <c:pt idx="11">
                  <c:v>2017-05</c:v>
                </c:pt>
                <c:pt idx="12">
                  <c:v>2017-06</c:v>
                </c:pt>
                <c:pt idx="13">
                  <c:v>2017-07</c:v>
                </c:pt>
                <c:pt idx="14">
                  <c:v>2017-08</c:v>
                </c:pt>
                <c:pt idx="15">
                  <c:v>2017-09</c:v>
                </c:pt>
                <c:pt idx="16">
                  <c:v>2017-10</c:v>
                </c:pt>
                <c:pt idx="17">
                  <c:v>2017-11</c:v>
                </c:pt>
                <c:pt idx="18">
                  <c:v>2017-12</c:v>
                </c:pt>
                <c:pt idx="19">
                  <c:v>2018-01</c:v>
                </c:pt>
                <c:pt idx="20">
                  <c:v>2018-02</c:v>
                </c:pt>
                <c:pt idx="21">
                  <c:v>2018-03</c:v>
                </c:pt>
                <c:pt idx="22">
                  <c:v>2018-04</c:v>
                </c:pt>
                <c:pt idx="23">
                  <c:v>2018-05</c:v>
                </c:pt>
                <c:pt idx="24">
                  <c:v>2018-06</c:v>
                </c:pt>
                <c:pt idx="25">
                  <c:v>2018-07</c:v>
                </c:pt>
                <c:pt idx="26">
                  <c:v>2018-08</c:v>
                </c:pt>
                <c:pt idx="27">
                  <c:v>2018-09</c:v>
                </c:pt>
                <c:pt idx="28">
                  <c:v>2018-10</c:v>
                </c:pt>
                <c:pt idx="29">
                  <c:v>2018-11</c:v>
                </c:pt>
                <c:pt idx="30">
                  <c:v>2018-12</c:v>
                </c:pt>
                <c:pt idx="31">
                  <c:v>2019-01</c:v>
                </c:pt>
                <c:pt idx="32">
                  <c:v>2019-02</c:v>
                </c:pt>
                <c:pt idx="33">
                  <c:v>2019-03</c:v>
                </c:pt>
                <c:pt idx="34">
                  <c:v>2019-04</c:v>
                </c:pt>
                <c:pt idx="35">
                  <c:v>2019-05</c:v>
                </c:pt>
                <c:pt idx="36">
                  <c:v>2019-06</c:v>
                </c:pt>
                <c:pt idx="37">
                  <c:v>2019-07</c:v>
                </c:pt>
                <c:pt idx="38">
                  <c:v>2019-08</c:v>
                </c:pt>
                <c:pt idx="39">
                  <c:v>2019-09</c:v>
                </c:pt>
                <c:pt idx="40">
                  <c:v>2019-10</c:v>
                </c:pt>
                <c:pt idx="41">
                  <c:v>2019-11</c:v>
                </c:pt>
                <c:pt idx="42">
                  <c:v>2019-12</c:v>
                </c:pt>
                <c:pt idx="43">
                  <c:v>2020-01</c:v>
                </c:pt>
                <c:pt idx="44">
                  <c:v>2020-02</c:v>
                </c:pt>
                <c:pt idx="45">
                  <c:v>2020-03</c:v>
                </c:pt>
                <c:pt idx="46">
                  <c:v>2020-04</c:v>
                </c:pt>
                <c:pt idx="47">
                  <c:v>2020-05</c:v>
                </c:pt>
                <c:pt idx="48">
                  <c:v>2020-06</c:v>
                </c:pt>
                <c:pt idx="49">
                  <c:v>2020-07</c:v>
                </c:pt>
                <c:pt idx="50">
                  <c:v>2020-08</c:v>
                </c:pt>
                <c:pt idx="51">
                  <c:v>2020-09</c:v>
                </c:pt>
                <c:pt idx="52">
                  <c:v>2020-10</c:v>
                </c:pt>
                <c:pt idx="53">
                  <c:v>2020-11</c:v>
                </c:pt>
                <c:pt idx="54">
                  <c:v>2020-12</c:v>
                </c:pt>
                <c:pt idx="55">
                  <c:v>2021-01</c:v>
                </c:pt>
                <c:pt idx="56">
                  <c:v>2021-02</c:v>
                </c:pt>
                <c:pt idx="57">
                  <c:v>2021-03</c:v>
                </c:pt>
                <c:pt idx="58">
                  <c:v>2021-04</c:v>
                </c:pt>
                <c:pt idx="59">
                  <c:v>2021-05</c:v>
                </c:pt>
                <c:pt idx="60">
                  <c:v>2021-06</c:v>
                </c:pt>
                <c:pt idx="61">
                  <c:v>2021-07</c:v>
                </c:pt>
                <c:pt idx="62">
                  <c:v>2021-08</c:v>
                </c:pt>
                <c:pt idx="63">
                  <c:v>2021-09</c:v>
                </c:pt>
                <c:pt idx="64">
                  <c:v>2021-10</c:v>
                </c:pt>
                <c:pt idx="65">
                  <c:v>2021-11</c:v>
                </c:pt>
                <c:pt idx="66">
                  <c:v>2021-12</c:v>
                </c:pt>
                <c:pt idx="67">
                  <c:v>2022-01</c:v>
                </c:pt>
              </c:strCache>
            </c:strRef>
          </c:cat>
          <c:val>
            <c:numRef>
              <c:f>Absolute!$B$10:$BQ$10</c:f>
              <c:numCache>
                <c:formatCode>_("$"* #,##0.00_);_("$"* \(#,##0.00\);_("$"* "-"??_);_(@_)</c:formatCode>
                <c:ptCount val="68"/>
                <c:pt idx="0">
                  <c:v>40321</c:v>
                </c:pt>
                <c:pt idx="1">
                  <c:v>46711</c:v>
                </c:pt>
                <c:pt idx="2">
                  <c:v>113581</c:v>
                </c:pt>
                <c:pt idx="3">
                  <c:v>66061</c:v>
                </c:pt>
                <c:pt idx="4">
                  <c:v>49951</c:v>
                </c:pt>
                <c:pt idx="5">
                  <c:v>44731</c:v>
                </c:pt>
                <c:pt idx="6">
                  <c:v>188281</c:v>
                </c:pt>
                <c:pt idx="7">
                  <c:v>233101</c:v>
                </c:pt>
                <c:pt idx="8">
                  <c:v>115561</c:v>
                </c:pt>
                <c:pt idx="9">
                  <c:v>98281</c:v>
                </c:pt>
                <c:pt idx="10">
                  <c:v>99511</c:v>
                </c:pt>
                <c:pt idx="11">
                  <c:v>78751</c:v>
                </c:pt>
                <c:pt idx="12">
                  <c:v>90685.69</c:v>
                </c:pt>
                <c:pt idx="13">
                  <c:v>72919.75</c:v>
                </c:pt>
                <c:pt idx="14">
                  <c:v>66612.210000000006</c:v>
                </c:pt>
                <c:pt idx="15">
                  <c:v>100551.35</c:v>
                </c:pt>
                <c:pt idx="16">
                  <c:v>105110.02</c:v>
                </c:pt>
                <c:pt idx="17">
                  <c:v>106538.4</c:v>
                </c:pt>
                <c:pt idx="18">
                  <c:v>133280.63</c:v>
                </c:pt>
                <c:pt idx="19">
                  <c:v>412594.14</c:v>
                </c:pt>
                <c:pt idx="20">
                  <c:v>232393.13</c:v>
                </c:pt>
                <c:pt idx="21">
                  <c:v>124271.6</c:v>
                </c:pt>
                <c:pt idx="22">
                  <c:v>157956.14000000001</c:v>
                </c:pt>
                <c:pt idx="23">
                  <c:v>143203.54999999999</c:v>
                </c:pt>
                <c:pt idx="24">
                  <c:v>135204.28</c:v>
                </c:pt>
                <c:pt idx="25">
                  <c:v>136243.85999999999</c:v>
                </c:pt>
                <c:pt idx="26">
                  <c:v>131416.26999999999</c:v>
                </c:pt>
                <c:pt idx="27">
                  <c:v>140100.91</c:v>
                </c:pt>
                <c:pt idx="28">
                  <c:v>134772.57</c:v>
                </c:pt>
                <c:pt idx="29">
                  <c:v>180053.55</c:v>
                </c:pt>
                <c:pt idx="30">
                  <c:v>320927.23</c:v>
                </c:pt>
                <c:pt idx="31">
                  <c:v>542309.81000000006</c:v>
                </c:pt>
                <c:pt idx="32">
                  <c:v>346143.47</c:v>
                </c:pt>
                <c:pt idx="33">
                  <c:v>291498.69</c:v>
                </c:pt>
                <c:pt idx="34">
                  <c:v>290693.3</c:v>
                </c:pt>
                <c:pt idx="35">
                  <c:v>210974.72</c:v>
                </c:pt>
                <c:pt idx="36">
                  <c:v>244923.99</c:v>
                </c:pt>
                <c:pt idx="37">
                  <c:v>334446.86</c:v>
                </c:pt>
                <c:pt idx="38">
                  <c:v>353108.55</c:v>
                </c:pt>
                <c:pt idx="39">
                  <c:v>269741.21999999997</c:v>
                </c:pt>
                <c:pt idx="40">
                  <c:v>316295.33</c:v>
                </c:pt>
                <c:pt idx="41">
                  <c:v>228073.3</c:v>
                </c:pt>
                <c:pt idx="42">
                  <c:v>430449.91999999998</c:v>
                </c:pt>
                <c:pt idx="43">
                  <c:v>1533999.12</c:v>
                </c:pt>
                <c:pt idx="44">
                  <c:v>656884.77</c:v>
                </c:pt>
                <c:pt idx="45">
                  <c:v>464693.29</c:v>
                </c:pt>
                <c:pt idx="46">
                  <c:v>1047128</c:v>
                </c:pt>
                <c:pt idx="47">
                  <c:v>2210009.4500000002</c:v>
                </c:pt>
                <c:pt idx="48">
                  <c:v>1233180.46</c:v>
                </c:pt>
                <c:pt idx="49">
                  <c:v>602896.94999999995</c:v>
                </c:pt>
                <c:pt idx="50">
                  <c:v>491504.16</c:v>
                </c:pt>
                <c:pt idx="51">
                  <c:v>399538.33</c:v>
                </c:pt>
                <c:pt idx="52">
                  <c:v>395837.26</c:v>
                </c:pt>
                <c:pt idx="53">
                  <c:v>381491.86</c:v>
                </c:pt>
                <c:pt idx="54">
                  <c:v>934952.88</c:v>
                </c:pt>
                <c:pt idx="55">
                  <c:v>2244576.17</c:v>
                </c:pt>
                <c:pt idx="56">
                  <c:v>1042143.86</c:v>
                </c:pt>
                <c:pt idx="57">
                  <c:v>806012.19</c:v>
                </c:pt>
                <c:pt idx="58">
                  <c:v>1444306.06</c:v>
                </c:pt>
                <c:pt idx="59">
                  <c:v>2376547.16</c:v>
                </c:pt>
                <c:pt idx="60">
                  <c:v>1287926.1000000001</c:v>
                </c:pt>
                <c:pt idx="61">
                  <c:v>714878.24</c:v>
                </c:pt>
                <c:pt idx="62">
                  <c:v>530933.38</c:v>
                </c:pt>
                <c:pt idx="63">
                  <c:v>570666.18000000005</c:v>
                </c:pt>
                <c:pt idx="64">
                  <c:v>608845.31999999995</c:v>
                </c:pt>
                <c:pt idx="65">
                  <c:v>461940.75</c:v>
                </c:pt>
                <c:pt idx="66">
                  <c:v>932216.04</c:v>
                </c:pt>
                <c:pt idx="67">
                  <c:v>2388010.1800000002</c:v>
                </c:pt>
              </c:numCache>
            </c:numRef>
          </c:val>
          <c:smooth val="0"/>
          <c:extLst>
            <c:ext xmlns:c16="http://schemas.microsoft.com/office/drawing/2014/chart" uri="{C3380CC4-5D6E-409C-BE32-E72D297353CC}">
              <c16:uniqueId val="{00000009-307C-C943-B703-FE5F9C1BF0D5}"/>
            </c:ext>
          </c:extLst>
        </c:ser>
        <c:ser>
          <c:idx val="9"/>
          <c:order val="9"/>
          <c:tx>
            <c:strRef>
              <c:f>Absolute!$A$11</c:f>
              <c:strCache>
                <c:ptCount val="1"/>
                <c:pt idx="0">
                  <c:v>MX</c:v>
                </c:pt>
              </c:strCache>
            </c:strRef>
          </c:tx>
          <c:spPr>
            <a:ln w="28575" cap="rnd" cmpd="sng">
              <a:solidFill>
                <a:srgbClr val="00B050"/>
              </a:solidFill>
              <a:prstDash val="sysDash"/>
              <a:round/>
            </a:ln>
            <a:effectLst/>
          </c:spPr>
          <c:marker>
            <c:symbol val="none"/>
          </c:marker>
          <c:cat>
            <c:strRef>
              <c:f>Absolute!$B$1:$BQ$1</c:f>
              <c:strCache>
                <c:ptCount val="68"/>
                <c:pt idx="0">
                  <c:v>2016-06</c:v>
                </c:pt>
                <c:pt idx="1">
                  <c:v>2016-07</c:v>
                </c:pt>
                <c:pt idx="2">
                  <c:v>2016-08</c:v>
                </c:pt>
                <c:pt idx="3">
                  <c:v>2016-09</c:v>
                </c:pt>
                <c:pt idx="4">
                  <c:v>2016-10</c:v>
                </c:pt>
                <c:pt idx="5">
                  <c:v>2016-11</c:v>
                </c:pt>
                <c:pt idx="6">
                  <c:v>2016-12</c:v>
                </c:pt>
                <c:pt idx="7">
                  <c:v>2017-01</c:v>
                </c:pt>
                <c:pt idx="8">
                  <c:v>2017-02</c:v>
                </c:pt>
                <c:pt idx="9">
                  <c:v>2017-03</c:v>
                </c:pt>
                <c:pt idx="10">
                  <c:v>2017-04</c:v>
                </c:pt>
                <c:pt idx="11">
                  <c:v>2017-05</c:v>
                </c:pt>
                <c:pt idx="12">
                  <c:v>2017-06</c:v>
                </c:pt>
                <c:pt idx="13">
                  <c:v>2017-07</c:v>
                </c:pt>
                <c:pt idx="14">
                  <c:v>2017-08</c:v>
                </c:pt>
                <c:pt idx="15">
                  <c:v>2017-09</c:v>
                </c:pt>
                <c:pt idx="16">
                  <c:v>2017-10</c:v>
                </c:pt>
                <c:pt idx="17">
                  <c:v>2017-11</c:v>
                </c:pt>
                <c:pt idx="18">
                  <c:v>2017-12</c:v>
                </c:pt>
                <c:pt idx="19">
                  <c:v>2018-01</c:v>
                </c:pt>
                <c:pt idx="20">
                  <c:v>2018-02</c:v>
                </c:pt>
                <c:pt idx="21">
                  <c:v>2018-03</c:v>
                </c:pt>
                <c:pt idx="22">
                  <c:v>2018-04</c:v>
                </c:pt>
                <c:pt idx="23">
                  <c:v>2018-05</c:v>
                </c:pt>
                <c:pt idx="24">
                  <c:v>2018-06</c:v>
                </c:pt>
                <c:pt idx="25">
                  <c:v>2018-07</c:v>
                </c:pt>
                <c:pt idx="26">
                  <c:v>2018-08</c:v>
                </c:pt>
                <c:pt idx="27">
                  <c:v>2018-09</c:v>
                </c:pt>
                <c:pt idx="28">
                  <c:v>2018-10</c:v>
                </c:pt>
                <c:pt idx="29">
                  <c:v>2018-11</c:v>
                </c:pt>
                <c:pt idx="30">
                  <c:v>2018-12</c:v>
                </c:pt>
                <c:pt idx="31">
                  <c:v>2019-01</c:v>
                </c:pt>
                <c:pt idx="32">
                  <c:v>2019-02</c:v>
                </c:pt>
                <c:pt idx="33">
                  <c:v>2019-03</c:v>
                </c:pt>
                <c:pt idx="34">
                  <c:v>2019-04</c:v>
                </c:pt>
                <c:pt idx="35">
                  <c:v>2019-05</c:v>
                </c:pt>
                <c:pt idx="36">
                  <c:v>2019-06</c:v>
                </c:pt>
                <c:pt idx="37">
                  <c:v>2019-07</c:v>
                </c:pt>
                <c:pt idx="38">
                  <c:v>2019-08</c:v>
                </c:pt>
                <c:pt idx="39">
                  <c:v>2019-09</c:v>
                </c:pt>
                <c:pt idx="40">
                  <c:v>2019-10</c:v>
                </c:pt>
                <c:pt idx="41">
                  <c:v>2019-11</c:v>
                </c:pt>
                <c:pt idx="42">
                  <c:v>2019-12</c:v>
                </c:pt>
                <c:pt idx="43">
                  <c:v>2020-01</c:v>
                </c:pt>
                <c:pt idx="44">
                  <c:v>2020-02</c:v>
                </c:pt>
                <c:pt idx="45">
                  <c:v>2020-03</c:v>
                </c:pt>
                <c:pt idx="46">
                  <c:v>2020-04</c:v>
                </c:pt>
                <c:pt idx="47">
                  <c:v>2020-05</c:v>
                </c:pt>
                <c:pt idx="48">
                  <c:v>2020-06</c:v>
                </c:pt>
                <c:pt idx="49">
                  <c:v>2020-07</c:v>
                </c:pt>
                <c:pt idx="50">
                  <c:v>2020-08</c:v>
                </c:pt>
                <c:pt idx="51">
                  <c:v>2020-09</c:v>
                </c:pt>
                <c:pt idx="52">
                  <c:v>2020-10</c:v>
                </c:pt>
                <c:pt idx="53">
                  <c:v>2020-11</c:v>
                </c:pt>
                <c:pt idx="54">
                  <c:v>2020-12</c:v>
                </c:pt>
                <c:pt idx="55">
                  <c:v>2021-01</c:v>
                </c:pt>
                <c:pt idx="56">
                  <c:v>2021-02</c:v>
                </c:pt>
                <c:pt idx="57">
                  <c:v>2021-03</c:v>
                </c:pt>
                <c:pt idx="58">
                  <c:v>2021-04</c:v>
                </c:pt>
                <c:pt idx="59">
                  <c:v>2021-05</c:v>
                </c:pt>
                <c:pt idx="60">
                  <c:v>2021-06</c:v>
                </c:pt>
                <c:pt idx="61">
                  <c:v>2021-07</c:v>
                </c:pt>
                <c:pt idx="62">
                  <c:v>2021-08</c:v>
                </c:pt>
                <c:pt idx="63">
                  <c:v>2021-09</c:v>
                </c:pt>
                <c:pt idx="64">
                  <c:v>2021-10</c:v>
                </c:pt>
                <c:pt idx="65">
                  <c:v>2021-11</c:v>
                </c:pt>
                <c:pt idx="66">
                  <c:v>2021-12</c:v>
                </c:pt>
                <c:pt idx="67">
                  <c:v>2022-01</c:v>
                </c:pt>
              </c:strCache>
            </c:strRef>
          </c:cat>
          <c:val>
            <c:numRef>
              <c:f>Absolute!$B$11:$BQ$11</c:f>
              <c:numCache>
                <c:formatCode>_("$"* #,##0.00_);_("$"* \(#,##0.00\);_("$"* "-"??_);_(@_)</c:formatCode>
                <c:ptCount val="68"/>
                <c:pt idx="0">
                  <c:v>4951</c:v>
                </c:pt>
                <c:pt idx="1">
                  <c:v>5761</c:v>
                </c:pt>
                <c:pt idx="2">
                  <c:v>9811</c:v>
                </c:pt>
                <c:pt idx="3">
                  <c:v>4321</c:v>
                </c:pt>
                <c:pt idx="4">
                  <c:v>1891</c:v>
                </c:pt>
                <c:pt idx="5">
                  <c:v>2161</c:v>
                </c:pt>
                <c:pt idx="6">
                  <c:v>16111</c:v>
                </c:pt>
                <c:pt idx="7">
                  <c:v>15391</c:v>
                </c:pt>
                <c:pt idx="8">
                  <c:v>8911</c:v>
                </c:pt>
                <c:pt idx="9">
                  <c:v>20521</c:v>
                </c:pt>
                <c:pt idx="10">
                  <c:v>19261</c:v>
                </c:pt>
                <c:pt idx="11">
                  <c:v>16831</c:v>
                </c:pt>
                <c:pt idx="12">
                  <c:v>22231</c:v>
                </c:pt>
                <c:pt idx="13">
                  <c:v>22771</c:v>
                </c:pt>
                <c:pt idx="14">
                  <c:v>16561</c:v>
                </c:pt>
                <c:pt idx="15">
                  <c:v>24841</c:v>
                </c:pt>
                <c:pt idx="16">
                  <c:v>23221</c:v>
                </c:pt>
                <c:pt idx="17">
                  <c:v>24391</c:v>
                </c:pt>
                <c:pt idx="18">
                  <c:v>21691</c:v>
                </c:pt>
                <c:pt idx="19">
                  <c:v>81855.41</c:v>
                </c:pt>
                <c:pt idx="20">
                  <c:v>49501</c:v>
                </c:pt>
                <c:pt idx="21">
                  <c:v>32941</c:v>
                </c:pt>
                <c:pt idx="22">
                  <c:v>31686.35</c:v>
                </c:pt>
                <c:pt idx="23">
                  <c:v>29796.01</c:v>
                </c:pt>
                <c:pt idx="24">
                  <c:v>33727.78</c:v>
                </c:pt>
                <c:pt idx="25">
                  <c:v>24378.94</c:v>
                </c:pt>
                <c:pt idx="26">
                  <c:v>30200.9</c:v>
                </c:pt>
                <c:pt idx="27">
                  <c:v>27731.24</c:v>
                </c:pt>
                <c:pt idx="28">
                  <c:v>15565.92</c:v>
                </c:pt>
                <c:pt idx="29">
                  <c:v>20397.990000000002</c:v>
                </c:pt>
                <c:pt idx="30">
                  <c:v>45880.97</c:v>
                </c:pt>
                <c:pt idx="31">
                  <c:v>107909.94</c:v>
                </c:pt>
                <c:pt idx="32">
                  <c:v>69058</c:v>
                </c:pt>
                <c:pt idx="33">
                  <c:v>47055.519999999997</c:v>
                </c:pt>
                <c:pt idx="34">
                  <c:v>47527.45</c:v>
                </c:pt>
                <c:pt idx="35">
                  <c:v>42586.02</c:v>
                </c:pt>
                <c:pt idx="36">
                  <c:v>53321.26</c:v>
                </c:pt>
                <c:pt idx="37">
                  <c:v>56855.56</c:v>
                </c:pt>
                <c:pt idx="38">
                  <c:v>54031.17</c:v>
                </c:pt>
                <c:pt idx="39">
                  <c:v>38648.870000000003</c:v>
                </c:pt>
                <c:pt idx="40">
                  <c:v>70864.710000000006</c:v>
                </c:pt>
                <c:pt idx="41">
                  <c:v>47489.47</c:v>
                </c:pt>
                <c:pt idx="42">
                  <c:v>99999.82</c:v>
                </c:pt>
                <c:pt idx="43">
                  <c:v>372079.9</c:v>
                </c:pt>
                <c:pt idx="44">
                  <c:v>161868.85999999999</c:v>
                </c:pt>
                <c:pt idx="45">
                  <c:v>111588.42</c:v>
                </c:pt>
                <c:pt idx="46">
                  <c:v>204297.65</c:v>
                </c:pt>
                <c:pt idx="47">
                  <c:v>461109.55</c:v>
                </c:pt>
                <c:pt idx="48">
                  <c:v>288378.2</c:v>
                </c:pt>
                <c:pt idx="49">
                  <c:v>134616.66</c:v>
                </c:pt>
                <c:pt idx="50">
                  <c:v>120579.77</c:v>
                </c:pt>
                <c:pt idx="51">
                  <c:v>87239.7</c:v>
                </c:pt>
                <c:pt idx="52">
                  <c:v>113555.85</c:v>
                </c:pt>
                <c:pt idx="53">
                  <c:v>63292.25</c:v>
                </c:pt>
                <c:pt idx="54">
                  <c:v>158248.43</c:v>
                </c:pt>
                <c:pt idx="55">
                  <c:v>433956.32</c:v>
                </c:pt>
                <c:pt idx="56">
                  <c:v>189736.64</c:v>
                </c:pt>
                <c:pt idx="57">
                  <c:v>128970.32</c:v>
                </c:pt>
                <c:pt idx="58">
                  <c:v>227987.51</c:v>
                </c:pt>
                <c:pt idx="59">
                  <c:v>442785.67</c:v>
                </c:pt>
                <c:pt idx="60">
                  <c:v>271156.93</c:v>
                </c:pt>
                <c:pt idx="61">
                  <c:v>151881.24</c:v>
                </c:pt>
                <c:pt idx="62">
                  <c:v>106411.91</c:v>
                </c:pt>
                <c:pt idx="63">
                  <c:v>110194.93</c:v>
                </c:pt>
                <c:pt idx="64">
                  <c:v>125836.7</c:v>
                </c:pt>
                <c:pt idx="65">
                  <c:v>74346.149999999994</c:v>
                </c:pt>
                <c:pt idx="66">
                  <c:v>153299.16</c:v>
                </c:pt>
                <c:pt idx="67">
                  <c:v>418727.67</c:v>
                </c:pt>
              </c:numCache>
            </c:numRef>
          </c:val>
          <c:smooth val="0"/>
          <c:extLst>
            <c:ext xmlns:c16="http://schemas.microsoft.com/office/drawing/2014/chart" uri="{C3380CC4-5D6E-409C-BE32-E72D297353CC}">
              <c16:uniqueId val="{0000000A-307C-C943-B703-FE5F9C1BF0D5}"/>
            </c:ext>
          </c:extLst>
        </c:ser>
        <c:ser>
          <c:idx val="10"/>
          <c:order val="10"/>
          <c:tx>
            <c:strRef>
              <c:f>Absolute!$A$12</c:f>
              <c:strCache>
                <c:ptCount val="1"/>
                <c:pt idx="0">
                  <c:v>PE</c:v>
                </c:pt>
              </c:strCache>
            </c:strRef>
          </c:tx>
          <c:spPr>
            <a:ln w="28575" cap="rnd">
              <a:solidFill>
                <a:schemeClr val="accent3">
                  <a:lumMod val="60000"/>
                  <a:lumOff val="40000"/>
                </a:schemeClr>
              </a:solidFill>
              <a:prstDash val="sysDash"/>
              <a:round/>
            </a:ln>
            <a:effectLst/>
          </c:spPr>
          <c:marker>
            <c:symbol val="none"/>
          </c:marker>
          <c:trendline>
            <c:spPr>
              <a:ln w="19050" cap="rnd">
                <a:solidFill>
                  <a:schemeClr val="accent5">
                    <a:lumMod val="60000"/>
                  </a:schemeClr>
                </a:solidFill>
                <a:prstDash val="sysDot"/>
              </a:ln>
              <a:effectLst/>
            </c:spPr>
            <c:trendlineType val="power"/>
            <c:forward val="20"/>
            <c:dispRSqr val="0"/>
            <c:dispEq val="0"/>
          </c:trendline>
          <c:cat>
            <c:strRef>
              <c:f>Absolute!$B$1:$BQ$1</c:f>
              <c:strCache>
                <c:ptCount val="68"/>
                <c:pt idx="0">
                  <c:v>2016-06</c:v>
                </c:pt>
                <c:pt idx="1">
                  <c:v>2016-07</c:v>
                </c:pt>
                <c:pt idx="2">
                  <c:v>2016-08</c:v>
                </c:pt>
                <c:pt idx="3">
                  <c:v>2016-09</c:v>
                </c:pt>
                <c:pt idx="4">
                  <c:v>2016-10</c:v>
                </c:pt>
                <c:pt idx="5">
                  <c:v>2016-11</c:v>
                </c:pt>
                <c:pt idx="6">
                  <c:v>2016-12</c:v>
                </c:pt>
                <c:pt idx="7">
                  <c:v>2017-01</c:v>
                </c:pt>
                <c:pt idx="8">
                  <c:v>2017-02</c:v>
                </c:pt>
                <c:pt idx="9">
                  <c:v>2017-03</c:v>
                </c:pt>
                <c:pt idx="10">
                  <c:v>2017-04</c:v>
                </c:pt>
                <c:pt idx="11">
                  <c:v>2017-05</c:v>
                </c:pt>
                <c:pt idx="12">
                  <c:v>2017-06</c:v>
                </c:pt>
                <c:pt idx="13">
                  <c:v>2017-07</c:v>
                </c:pt>
                <c:pt idx="14">
                  <c:v>2017-08</c:v>
                </c:pt>
                <c:pt idx="15">
                  <c:v>2017-09</c:v>
                </c:pt>
                <c:pt idx="16">
                  <c:v>2017-10</c:v>
                </c:pt>
                <c:pt idx="17">
                  <c:v>2017-11</c:v>
                </c:pt>
                <c:pt idx="18">
                  <c:v>2017-12</c:v>
                </c:pt>
                <c:pt idx="19">
                  <c:v>2018-01</c:v>
                </c:pt>
                <c:pt idx="20">
                  <c:v>2018-02</c:v>
                </c:pt>
                <c:pt idx="21">
                  <c:v>2018-03</c:v>
                </c:pt>
                <c:pt idx="22">
                  <c:v>2018-04</c:v>
                </c:pt>
                <c:pt idx="23">
                  <c:v>2018-05</c:v>
                </c:pt>
                <c:pt idx="24">
                  <c:v>2018-06</c:v>
                </c:pt>
                <c:pt idx="25">
                  <c:v>2018-07</c:v>
                </c:pt>
                <c:pt idx="26">
                  <c:v>2018-08</c:v>
                </c:pt>
                <c:pt idx="27">
                  <c:v>2018-09</c:v>
                </c:pt>
                <c:pt idx="28">
                  <c:v>2018-10</c:v>
                </c:pt>
                <c:pt idx="29">
                  <c:v>2018-11</c:v>
                </c:pt>
                <c:pt idx="30">
                  <c:v>2018-12</c:v>
                </c:pt>
                <c:pt idx="31">
                  <c:v>2019-01</c:v>
                </c:pt>
                <c:pt idx="32">
                  <c:v>2019-02</c:v>
                </c:pt>
                <c:pt idx="33">
                  <c:v>2019-03</c:v>
                </c:pt>
                <c:pt idx="34">
                  <c:v>2019-04</c:v>
                </c:pt>
                <c:pt idx="35">
                  <c:v>2019-05</c:v>
                </c:pt>
                <c:pt idx="36">
                  <c:v>2019-06</c:v>
                </c:pt>
                <c:pt idx="37">
                  <c:v>2019-07</c:v>
                </c:pt>
                <c:pt idx="38">
                  <c:v>2019-08</c:v>
                </c:pt>
                <c:pt idx="39">
                  <c:v>2019-09</c:v>
                </c:pt>
                <c:pt idx="40">
                  <c:v>2019-10</c:v>
                </c:pt>
                <c:pt idx="41">
                  <c:v>2019-11</c:v>
                </c:pt>
                <c:pt idx="42">
                  <c:v>2019-12</c:v>
                </c:pt>
                <c:pt idx="43">
                  <c:v>2020-01</c:v>
                </c:pt>
                <c:pt idx="44">
                  <c:v>2020-02</c:v>
                </c:pt>
                <c:pt idx="45">
                  <c:v>2020-03</c:v>
                </c:pt>
                <c:pt idx="46">
                  <c:v>2020-04</c:v>
                </c:pt>
                <c:pt idx="47">
                  <c:v>2020-05</c:v>
                </c:pt>
                <c:pt idx="48">
                  <c:v>2020-06</c:v>
                </c:pt>
                <c:pt idx="49">
                  <c:v>2020-07</c:v>
                </c:pt>
                <c:pt idx="50">
                  <c:v>2020-08</c:v>
                </c:pt>
                <c:pt idx="51">
                  <c:v>2020-09</c:v>
                </c:pt>
                <c:pt idx="52">
                  <c:v>2020-10</c:v>
                </c:pt>
                <c:pt idx="53">
                  <c:v>2020-11</c:v>
                </c:pt>
                <c:pt idx="54">
                  <c:v>2020-12</c:v>
                </c:pt>
                <c:pt idx="55">
                  <c:v>2021-01</c:v>
                </c:pt>
                <c:pt idx="56">
                  <c:v>2021-02</c:v>
                </c:pt>
                <c:pt idx="57">
                  <c:v>2021-03</c:v>
                </c:pt>
                <c:pt idx="58">
                  <c:v>2021-04</c:v>
                </c:pt>
                <c:pt idx="59">
                  <c:v>2021-05</c:v>
                </c:pt>
                <c:pt idx="60">
                  <c:v>2021-06</c:v>
                </c:pt>
                <c:pt idx="61">
                  <c:v>2021-07</c:v>
                </c:pt>
                <c:pt idx="62">
                  <c:v>2021-08</c:v>
                </c:pt>
                <c:pt idx="63">
                  <c:v>2021-09</c:v>
                </c:pt>
                <c:pt idx="64">
                  <c:v>2021-10</c:v>
                </c:pt>
                <c:pt idx="65">
                  <c:v>2021-11</c:v>
                </c:pt>
                <c:pt idx="66">
                  <c:v>2021-12</c:v>
                </c:pt>
                <c:pt idx="67">
                  <c:v>2022-01</c:v>
                </c:pt>
              </c:strCache>
            </c:strRef>
          </c:cat>
          <c:val>
            <c:numRef>
              <c:f>Absolute!$B$12:$BQ$12</c:f>
              <c:numCache>
                <c:formatCode>_("$"* #,##0.00_);_("$"* \(#,##0.00\);_("$"* "-"??_);_(@_)</c:formatCode>
                <c:ptCount val="68"/>
                <c:pt idx="0">
                  <c:v>271</c:v>
                </c:pt>
                <c:pt idx="1">
                  <c:v>181</c:v>
                </c:pt>
                <c:pt idx="2">
                  <c:v>1351</c:v>
                </c:pt>
                <c:pt idx="3">
                  <c:v>721</c:v>
                </c:pt>
                <c:pt idx="4">
                  <c:v>451</c:v>
                </c:pt>
                <c:pt idx="5">
                  <c:v>361</c:v>
                </c:pt>
                <c:pt idx="6">
                  <c:v>1531</c:v>
                </c:pt>
                <c:pt idx="7">
                  <c:v>1261</c:v>
                </c:pt>
                <c:pt idx="8">
                  <c:v>451</c:v>
                </c:pt>
                <c:pt idx="9">
                  <c:v>1621</c:v>
                </c:pt>
                <c:pt idx="10">
                  <c:v>1351</c:v>
                </c:pt>
                <c:pt idx="11">
                  <c:v>901</c:v>
                </c:pt>
                <c:pt idx="12">
                  <c:v>4051</c:v>
                </c:pt>
                <c:pt idx="13">
                  <c:v>2341</c:v>
                </c:pt>
                <c:pt idx="14">
                  <c:v>2611</c:v>
                </c:pt>
                <c:pt idx="15">
                  <c:v>3781</c:v>
                </c:pt>
                <c:pt idx="16">
                  <c:v>4951</c:v>
                </c:pt>
                <c:pt idx="17">
                  <c:v>3061</c:v>
                </c:pt>
                <c:pt idx="18">
                  <c:v>2791</c:v>
                </c:pt>
                <c:pt idx="19">
                  <c:v>10437.4</c:v>
                </c:pt>
                <c:pt idx="20">
                  <c:v>6036.08</c:v>
                </c:pt>
                <c:pt idx="21">
                  <c:v>4771</c:v>
                </c:pt>
                <c:pt idx="22">
                  <c:v>4501</c:v>
                </c:pt>
                <c:pt idx="23">
                  <c:v>3241</c:v>
                </c:pt>
                <c:pt idx="24">
                  <c:v>5401</c:v>
                </c:pt>
                <c:pt idx="25">
                  <c:v>2880.97</c:v>
                </c:pt>
                <c:pt idx="26">
                  <c:v>4413.9799999999996</c:v>
                </c:pt>
                <c:pt idx="27">
                  <c:v>2073.87</c:v>
                </c:pt>
                <c:pt idx="28">
                  <c:v>1981.91</c:v>
                </c:pt>
                <c:pt idx="29">
                  <c:v>2880.56</c:v>
                </c:pt>
                <c:pt idx="30">
                  <c:v>5037.37</c:v>
                </c:pt>
                <c:pt idx="31">
                  <c:v>11467.1</c:v>
                </c:pt>
                <c:pt idx="32">
                  <c:v>6886.42</c:v>
                </c:pt>
                <c:pt idx="33">
                  <c:v>6300.74</c:v>
                </c:pt>
                <c:pt idx="34">
                  <c:v>7835.4</c:v>
                </c:pt>
                <c:pt idx="35">
                  <c:v>4529.3599999999997</c:v>
                </c:pt>
                <c:pt idx="36">
                  <c:v>5313.65</c:v>
                </c:pt>
                <c:pt idx="37">
                  <c:v>4773.01</c:v>
                </c:pt>
                <c:pt idx="38">
                  <c:v>7494.47</c:v>
                </c:pt>
                <c:pt idx="39">
                  <c:v>4956.7700000000004</c:v>
                </c:pt>
                <c:pt idx="40">
                  <c:v>9301.69</c:v>
                </c:pt>
                <c:pt idx="41">
                  <c:v>5686.47</c:v>
                </c:pt>
                <c:pt idx="42">
                  <c:v>10795.73</c:v>
                </c:pt>
                <c:pt idx="43">
                  <c:v>40059.85</c:v>
                </c:pt>
                <c:pt idx="44">
                  <c:v>14160.75</c:v>
                </c:pt>
                <c:pt idx="45">
                  <c:v>11366.86</c:v>
                </c:pt>
                <c:pt idx="46">
                  <c:v>39328.69</c:v>
                </c:pt>
                <c:pt idx="47">
                  <c:v>48556.480000000003</c:v>
                </c:pt>
                <c:pt idx="48">
                  <c:v>35550.519999999997</c:v>
                </c:pt>
                <c:pt idx="49">
                  <c:v>11366.9</c:v>
                </c:pt>
                <c:pt idx="50">
                  <c:v>12510.94</c:v>
                </c:pt>
                <c:pt idx="51">
                  <c:v>12894.99</c:v>
                </c:pt>
                <c:pt idx="52">
                  <c:v>10883.52</c:v>
                </c:pt>
                <c:pt idx="53">
                  <c:v>9824.06</c:v>
                </c:pt>
                <c:pt idx="54">
                  <c:v>15245.14</c:v>
                </c:pt>
                <c:pt idx="55">
                  <c:v>41157.980000000003</c:v>
                </c:pt>
                <c:pt idx="56">
                  <c:v>17023.78</c:v>
                </c:pt>
                <c:pt idx="57">
                  <c:v>18821.03</c:v>
                </c:pt>
                <c:pt idx="58">
                  <c:v>29867.02</c:v>
                </c:pt>
                <c:pt idx="59">
                  <c:v>41741.64</c:v>
                </c:pt>
                <c:pt idx="60">
                  <c:v>30956.92</c:v>
                </c:pt>
                <c:pt idx="61">
                  <c:v>14036.04</c:v>
                </c:pt>
                <c:pt idx="62">
                  <c:v>10322.44</c:v>
                </c:pt>
                <c:pt idx="63">
                  <c:v>12209.63</c:v>
                </c:pt>
                <c:pt idx="64">
                  <c:v>10830.79</c:v>
                </c:pt>
                <c:pt idx="65">
                  <c:v>10276.32</c:v>
                </c:pt>
                <c:pt idx="66">
                  <c:v>14500.57</c:v>
                </c:pt>
                <c:pt idx="67">
                  <c:v>30614.86</c:v>
                </c:pt>
              </c:numCache>
            </c:numRef>
          </c:val>
          <c:smooth val="0"/>
          <c:extLst>
            <c:ext xmlns:c16="http://schemas.microsoft.com/office/drawing/2014/chart" uri="{C3380CC4-5D6E-409C-BE32-E72D297353CC}">
              <c16:uniqueId val="{0000000C-307C-C943-B703-FE5F9C1BF0D5}"/>
            </c:ext>
          </c:extLst>
        </c:ser>
        <c:ser>
          <c:idx val="11"/>
          <c:order val="11"/>
          <c:tx>
            <c:strRef>
              <c:f>Absolute!$A$13</c:f>
              <c:strCache>
                <c:ptCount val="1"/>
                <c:pt idx="0">
                  <c:v>US</c:v>
                </c:pt>
              </c:strCache>
            </c:strRef>
          </c:tx>
          <c:spPr>
            <a:ln w="28575" cap="rnd" cmpd="thickThin">
              <a:solidFill>
                <a:schemeClr val="accent1"/>
              </a:solidFill>
              <a:round/>
            </a:ln>
            <a:effectLst/>
          </c:spPr>
          <c:marker>
            <c:symbol val="none"/>
          </c:marker>
          <c:trendline>
            <c:spPr>
              <a:ln w="19050" cap="rnd">
                <a:solidFill>
                  <a:schemeClr val="accent6">
                    <a:lumMod val="60000"/>
                  </a:schemeClr>
                </a:solidFill>
                <a:prstDash val="sysDot"/>
              </a:ln>
              <a:effectLst/>
            </c:spPr>
            <c:trendlineType val="exp"/>
            <c:forward val="20"/>
            <c:dispRSqr val="0"/>
            <c:dispEq val="0"/>
          </c:trendline>
          <c:cat>
            <c:strRef>
              <c:f>Absolute!$B$1:$BQ$1</c:f>
              <c:strCache>
                <c:ptCount val="68"/>
                <c:pt idx="0">
                  <c:v>2016-06</c:v>
                </c:pt>
                <c:pt idx="1">
                  <c:v>2016-07</c:v>
                </c:pt>
                <c:pt idx="2">
                  <c:v>2016-08</c:v>
                </c:pt>
                <c:pt idx="3">
                  <c:v>2016-09</c:v>
                </c:pt>
                <c:pt idx="4">
                  <c:v>2016-10</c:v>
                </c:pt>
                <c:pt idx="5">
                  <c:v>2016-11</c:v>
                </c:pt>
                <c:pt idx="6">
                  <c:v>2016-12</c:v>
                </c:pt>
                <c:pt idx="7">
                  <c:v>2017-01</c:v>
                </c:pt>
                <c:pt idx="8">
                  <c:v>2017-02</c:v>
                </c:pt>
                <c:pt idx="9">
                  <c:v>2017-03</c:v>
                </c:pt>
                <c:pt idx="10">
                  <c:v>2017-04</c:v>
                </c:pt>
                <c:pt idx="11">
                  <c:v>2017-05</c:v>
                </c:pt>
                <c:pt idx="12">
                  <c:v>2017-06</c:v>
                </c:pt>
                <c:pt idx="13">
                  <c:v>2017-07</c:v>
                </c:pt>
                <c:pt idx="14">
                  <c:v>2017-08</c:v>
                </c:pt>
                <c:pt idx="15">
                  <c:v>2017-09</c:v>
                </c:pt>
                <c:pt idx="16">
                  <c:v>2017-10</c:v>
                </c:pt>
                <c:pt idx="17">
                  <c:v>2017-11</c:v>
                </c:pt>
                <c:pt idx="18">
                  <c:v>2017-12</c:v>
                </c:pt>
                <c:pt idx="19">
                  <c:v>2018-01</c:v>
                </c:pt>
                <c:pt idx="20">
                  <c:v>2018-02</c:v>
                </c:pt>
                <c:pt idx="21">
                  <c:v>2018-03</c:v>
                </c:pt>
                <c:pt idx="22">
                  <c:v>2018-04</c:v>
                </c:pt>
                <c:pt idx="23">
                  <c:v>2018-05</c:v>
                </c:pt>
                <c:pt idx="24">
                  <c:v>2018-06</c:v>
                </c:pt>
                <c:pt idx="25">
                  <c:v>2018-07</c:v>
                </c:pt>
                <c:pt idx="26">
                  <c:v>2018-08</c:v>
                </c:pt>
                <c:pt idx="27">
                  <c:v>2018-09</c:v>
                </c:pt>
                <c:pt idx="28">
                  <c:v>2018-10</c:v>
                </c:pt>
                <c:pt idx="29">
                  <c:v>2018-11</c:v>
                </c:pt>
                <c:pt idx="30">
                  <c:v>2018-12</c:v>
                </c:pt>
                <c:pt idx="31">
                  <c:v>2019-01</c:v>
                </c:pt>
                <c:pt idx="32">
                  <c:v>2019-02</c:v>
                </c:pt>
                <c:pt idx="33">
                  <c:v>2019-03</c:v>
                </c:pt>
                <c:pt idx="34">
                  <c:v>2019-04</c:v>
                </c:pt>
                <c:pt idx="35">
                  <c:v>2019-05</c:v>
                </c:pt>
                <c:pt idx="36">
                  <c:v>2019-06</c:v>
                </c:pt>
                <c:pt idx="37">
                  <c:v>2019-07</c:v>
                </c:pt>
                <c:pt idx="38">
                  <c:v>2019-08</c:v>
                </c:pt>
                <c:pt idx="39">
                  <c:v>2019-09</c:v>
                </c:pt>
                <c:pt idx="40">
                  <c:v>2019-10</c:v>
                </c:pt>
                <c:pt idx="41">
                  <c:v>2019-11</c:v>
                </c:pt>
                <c:pt idx="42">
                  <c:v>2019-12</c:v>
                </c:pt>
                <c:pt idx="43">
                  <c:v>2020-01</c:v>
                </c:pt>
                <c:pt idx="44">
                  <c:v>2020-02</c:v>
                </c:pt>
                <c:pt idx="45">
                  <c:v>2020-03</c:v>
                </c:pt>
                <c:pt idx="46">
                  <c:v>2020-04</c:v>
                </c:pt>
                <c:pt idx="47">
                  <c:v>2020-05</c:v>
                </c:pt>
                <c:pt idx="48">
                  <c:v>2020-06</c:v>
                </c:pt>
                <c:pt idx="49">
                  <c:v>2020-07</c:v>
                </c:pt>
                <c:pt idx="50">
                  <c:v>2020-08</c:v>
                </c:pt>
                <c:pt idx="51">
                  <c:v>2020-09</c:v>
                </c:pt>
                <c:pt idx="52">
                  <c:v>2020-10</c:v>
                </c:pt>
                <c:pt idx="53">
                  <c:v>2020-11</c:v>
                </c:pt>
                <c:pt idx="54">
                  <c:v>2020-12</c:v>
                </c:pt>
                <c:pt idx="55">
                  <c:v>2021-01</c:v>
                </c:pt>
                <c:pt idx="56">
                  <c:v>2021-02</c:v>
                </c:pt>
                <c:pt idx="57">
                  <c:v>2021-03</c:v>
                </c:pt>
                <c:pt idx="58">
                  <c:v>2021-04</c:v>
                </c:pt>
                <c:pt idx="59">
                  <c:v>2021-05</c:v>
                </c:pt>
                <c:pt idx="60">
                  <c:v>2021-06</c:v>
                </c:pt>
                <c:pt idx="61">
                  <c:v>2021-07</c:v>
                </c:pt>
                <c:pt idx="62">
                  <c:v>2021-08</c:v>
                </c:pt>
                <c:pt idx="63">
                  <c:v>2021-09</c:v>
                </c:pt>
                <c:pt idx="64">
                  <c:v>2021-10</c:v>
                </c:pt>
                <c:pt idx="65">
                  <c:v>2021-11</c:v>
                </c:pt>
                <c:pt idx="66">
                  <c:v>2021-12</c:v>
                </c:pt>
                <c:pt idx="67">
                  <c:v>2022-01</c:v>
                </c:pt>
              </c:strCache>
            </c:strRef>
          </c:cat>
          <c:val>
            <c:numRef>
              <c:f>Absolute!$B$13:$BQ$13</c:f>
              <c:numCache>
                <c:formatCode>_("$"* #,##0.00_);_("$"* \(#,##0.00\);_("$"* "-"??_);_(@_)</c:formatCode>
                <c:ptCount val="68"/>
                <c:pt idx="0">
                  <c:v>341642</c:v>
                </c:pt>
                <c:pt idx="1">
                  <c:v>776793.5</c:v>
                </c:pt>
                <c:pt idx="2">
                  <c:v>915304</c:v>
                </c:pt>
                <c:pt idx="3">
                  <c:v>462696</c:v>
                </c:pt>
                <c:pt idx="4">
                  <c:v>313653.5</c:v>
                </c:pt>
                <c:pt idx="5">
                  <c:v>260734.5</c:v>
                </c:pt>
                <c:pt idx="6">
                  <c:v>1460530</c:v>
                </c:pt>
                <c:pt idx="7">
                  <c:v>2372916.6</c:v>
                </c:pt>
                <c:pt idx="8">
                  <c:v>1162625</c:v>
                </c:pt>
                <c:pt idx="9">
                  <c:v>1108448</c:v>
                </c:pt>
                <c:pt idx="10">
                  <c:v>1165683.5</c:v>
                </c:pt>
                <c:pt idx="11">
                  <c:v>966249</c:v>
                </c:pt>
                <c:pt idx="12">
                  <c:v>960534.97</c:v>
                </c:pt>
                <c:pt idx="13">
                  <c:v>1044350.44</c:v>
                </c:pt>
                <c:pt idx="14">
                  <c:v>839957.98</c:v>
                </c:pt>
                <c:pt idx="15">
                  <c:v>736406.53</c:v>
                </c:pt>
                <c:pt idx="16">
                  <c:v>901301.79</c:v>
                </c:pt>
                <c:pt idx="17">
                  <c:v>873734.1</c:v>
                </c:pt>
                <c:pt idx="18">
                  <c:v>1831812.34</c:v>
                </c:pt>
                <c:pt idx="19">
                  <c:v>5840098.9699999997</c:v>
                </c:pt>
                <c:pt idx="20">
                  <c:v>2800599.34</c:v>
                </c:pt>
                <c:pt idx="21">
                  <c:v>1866924.76</c:v>
                </c:pt>
                <c:pt idx="22">
                  <c:v>1792740.58</c:v>
                </c:pt>
                <c:pt idx="23">
                  <c:v>1542499.12</c:v>
                </c:pt>
                <c:pt idx="24">
                  <c:v>1746841.83</c:v>
                </c:pt>
                <c:pt idx="25">
                  <c:v>1616604.41</c:v>
                </c:pt>
                <c:pt idx="26">
                  <c:v>1425210.01</c:v>
                </c:pt>
                <c:pt idx="27">
                  <c:v>1220282.43</c:v>
                </c:pt>
                <c:pt idx="28">
                  <c:v>1063099.1399999999</c:v>
                </c:pt>
                <c:pt idx="29">
                  <c:v>1136467.79</c:v>
                </c:pt>
                <c:pt idx="30">
                  <c:v>3417681.65</c:v>
                </c:pt>
                <c:pt idx="31">
                  <c:v>8554320.7799999993</c:v>
                </c:pt>
                <c:pt idx="32">
                  <c:v>4221461.54</c:v>
                </c:pt>
                <c:pt idx="33">
                  <c:v>3174711.86</c:v>
                </c:pt>
                <c:pt idx="34">
                  <c:v>3166844.36</c:v>
                </c:pt>
                <c:pt idx="35">
                  <c:v>2397541.89</c:v>
                </c:pt>
                <c:pt idx="36">
                  <c:v>3282384.77</c:v>
                </c:pt>
                <c:pt idx="37">
                  <c:v>3611481.19</c:v>
                </c:pt>
                <c:pt idx="38">
                  <c:v>3095814.01</c:v>
                </c:pt>
                <c:pt idx="39">
                  <c:v>2640232.42</c:v>
                </c:pt>
                <c:pt idx="40">
                  <c:v>3483411.38</c:v>
                </c:pt>
                <c:pt idx="41">
                  <c:v>1979320.22</c:v>
                </c:pt>
                <c:pt idx="42">
                  <c:v>5020308.49</c:v>
                </c:pt>
                <c:pt idx="43">
                  <c:v>23018742.16</c:v>
                </c:pt>
                <c:pt idx="44">
                  <c:v>7319663.2800000003</c:v>
                </c:pt>
                <c:pt idx="45">
                  <c:v>5105529.46</c:v>
                </c:pt>
                <c:pt idx="46">
                  <c:v>12160201.42</c:v>
                </c:pt>
                <c:pt idx="47">
                  <c:v>24352070.199999999</c:v>
                </c:pt>
                <c:pt idx="48">
                  <c:v>18056566.530000001</c:v>
                </c:pt>
                <c:pt idx="49">
                  <c:v>8678718.5800000001</c:v>
                </c:pt>
                <c:pt idx="50">
                  <c:v>6853292.1500000004</c:v>
                </c:pt>
                <c:pt idx="51">
                  <c:v>5929098.79</c:v>
                </c:pt>
                <c:pt idx="52">
                  <c:v>7173941.5999999996</c:v>
                </c:pt>
                <c:pt idx="53">
                  <c:v>4047551.28</c:v>
                </c:pt>
                <c:pt idx="54">
                  <c:v>13495555.77</c:v>
                </c:pt>
                <c:pt idx="55">
                  <c:v>47764325.549999997</c:v>
                </c:pt>
                <c:pt idx="56">
                  <c:v>11116519.49</c:v>
                </c:pt>
                <c:pt idx="57">
                  <c:v>8699194.0099999998</c:v>
                </c:pt>
                <c:pt idx="58">
                  <c:v>13501360.01</c:v>
                </c:pt>
                <c:pt idx="59">
                  <c:v>27687432.359999999</c:v>
                </c:pt>
                <c:pt idx="60">
                  <c:v>19507266.140000001</c:v>
                </c:pt>
                <c:pt idx="61">
                  <c:v>10472350.1</c:v>
                </c:pt>
                <c:pt idx="62">
                  <c:v>6787772.9199999999</c:v>
                </c:pt>
                <c:pt idx="63">
                  <c:v>7549357.0499999998</c:v>
                </c:pt>
                <c:pt idx="64">
                  <c:v>16461533.93</c:v>
                </c:pt>
                <c:pt idx="65">
                  <c:v>5393523.04</c:v>
                </c:pt>
                <c:pt idx="66">
                  <c:v>15270549.369999999</c:v>
                </c:pt>
                <c:pt idx="67">
                  <c:v>55337968.299999997</c:v>
                </c:pt>
              </c:numCache>
            </c:numRef>
          </c:val>
          <c:smooth val="0"/>
          <c:extLst>
            <c:ext xmlns:c16="http://schemas.microsoft.com/office/drawing/2014/chart" uri="{C3380CC4-5D6E-409C-BE32-E72D297353CC}">
              <c16:uniqueId val="{0000000E-307C-C943-B703-FE5F9C1BF0D5}"/>
            </c:ext>
          </c:extLst>
        </c:ser>
        <c:dLbls>
          <c:showLegendKey val="0"/>
          <c:showVal val="0"/>
          <c:showCatName val="0"/>
          <c:showSerName val="0"/>
          <c:showPercent val="0"/>
          <c:showBubbleSize val="0"/>
        </c:dLbls>
        <c:smooth val="0"/>
        <c:axId val="1252109567"/>
        <c:axId val="1253020175"/>
      </c:lineChart>
      <c:catAx>
        <c:axId val="125210956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53020175"/>
        <c:crosses val="autoZero"/>
        <c:auto val="1"/>
        <c:lblAlgn val="ctr"/>
        <c:lblOffset val="100"/>
        <c:noMultiLvlLbl val="0"/>
      </c:catAx>
      <c:valAx>
        <c:axId val="1253020175"/>
        <c:scaling>
          <c:logBase val="10"/>
          <c:orientation val="minMax"/>
          <c:min val="100"/>
        </c:scaling>
        <c:delete val="0"/>
        <c:axPos val="l"/>
        <c:majorGridlines>
          <c:spPr>
            <a:ln w="9525" cap="flat" cmpd="sng" algn="ctr">
              <a:solidFill>
                <a:schemeClr val="tx1">
                  <a:lumMod val="15000"/>
                  <a:lumOff val="85000"/>
                </a:schemeClr>
              </a:solidFill>
              <a:round/>
            </a:ln>
            <a:effectLst/>
          </c:spPr>
        </c:majorGridlines>
        <c:numFmt formatCode="_(&quot;$&quot;* #,##0_);_(&quot;$&quot;* \(#,##0\);_(&quot;$&quot;* &quot;-&quot;_);_(@_)"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52109567"/>
        <c:crosses val="autoZero"/>
        <c:crossBetween val="between"/>
      </c:valAx>
      <c:spPr>
        <a:noFill/>
        <a:ln>
          <a:noFill/>
        </a:ln>
        <a:effectLst/>
      </c:spPr>
    </c:plotArea>
    <c:legend>
      <c:legendPos val="b"/>
      <c:legendEntry>
        <c:idx val="12"/>
        <c:delete val="1"/>
      </c:legendEntry>
      <c:legendEntry>
        <c:idx val="13"/>
        <c:delete val="1"/>
      </c:legendEntry>
      <c:legendEntry>
        <c:idx val="14"/>
        <c:delete val="1"/>
      </c:legendEntry>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15032C8-3236-4CFC-B5EF-A8772817E15B}"/>
              </a:ext>
            </a:extLst>
          </p:cNvPr>
          <p:cNvSpPr>
            <a:spLocks noGrp="1"/>
          </p:cNvSpPr>
          <p:nvPr>
            <p:ph type="hdr" sz="quarter"/>
          </p:nvPr>
        </p:nvSpPr>
        <p:spPr>
          <a:xfrm>
            <a:off x="0" y="0"/>
            <a:ext cx="4057333" cy="355492"/>
          </a:xfrm>
          <a:prstGeom prst="rect">
            <a:avLst/>
          </a:prstGeom>
        </p:spPr>
        <p:txBody>
          <a:bodyPr vert="horz" lIns="93936" tIns="46968" rIns="93936" bIns="46968" rtlCol="0"/>
          <a:lstStyle>
            <a:lvl1pPr algn="l">
              <a:defRPr sz="1200"/>
            </a:lvl1pPr>
          </a:lstStyle>
          <a:p>
            <a:endParaRPr lang="en-US"/>
          </a:p>
        </p:txBody>
      </p:sp>
      <p:sp>
        <p:nvSpPr>
          <p:cNvPr id="3" name="Date Placeholder 2">
            <a:extLst>
              <a:ext uri="{FF2B5EF4-FFF2-40B4-BE49-F238E27FC236}">
                <a16:creationId xmlns:a16="http://schemas.microsoft.com/office/drawing/2014/main" id="{5E9003E9-B15A-4FBE-BD6B-E1015568D14C}"/>
              </a:ext>
            </a:extLst>
          </p:cNvPr>
          <p:cNvSpPr>
            <a:spLocks noGrp="1"/>
          </p:cNvSpPr>
          <p:nvPr>
            <p:ph type="dt" sz="quarter" idx="1"/>
          </p:nvPr>
        </p:nvSpPr>
        <p:spPr>
          <a:xfrm>
            <a:off x="5304117" y="0"/>
            <a:ext cx="4057333" cy="355492"/>
          </a:xfrm>
          <a:prstGeom prst="rect">
            <a:avLst/>
          </a:prstGeom>
        </p:spPr>
        <p:txBody>
          <a:bodyPr vert="horz" lIns="93936" tIns="46968" rIns="93936" bIns="46968" rtlCol="0"/>
          <a:lstStyle>
            <a:lvl1pPr algn="r">
              <a:defRPr sz="1200"/>
            </a:lvl1pPr>
          </a:lstStyle>
          <a:p>
            <a:fld id="{7F7AE25D-F1A7-4FDD-8A49-874AC418CCA0}" type="datetimeFigureOut">
              <a:rPr lang="en-US" smtClean="0"/>
              <a:t>8/15/26</a:t>
            </a:fld>
            <a:endParaRPr lang="en-US"/>
          </a:p>
        </p:txBody>
      </p:sp>
      <p:sp>
        <p:nvSpPr>
          <p:cNvPr id="4" name="Footer Placeholder 3">
            <a:extLst>
              <a:ext uri="{FF2B5EF4-FFF2-40B4-BE49-F238E27FC236}">
                <a16:creationId xmlns:a16="http://schemas.microsoft.com/office/drawing/2014/main" id="{6B670E65-4498-44EC-971D-79D56DD84A33}"/>
              </a:ext>
            </a:extLst>
          </p:cNvPr>
          <p:cNvSpPr>
            <a:spLocks noGrp="1"/>
          </p:cNvSpPr>
          <p:nvPr>
            <p:ph type="ftr" sz="quarter" idx="2"/>
          </p:nvPr>
        </p:nvSpPr>
        <p:spPr>
          <a:xfrm>
            <a:off x="0" y="6721584"/>
            <a:ext cx="4057333" cy="355491"/>
          </a:xfrm>
          <a:prstGeom prst="rect">
            <a:avLst/>
          </a:prstGeom>
        </p:spPr>
        <p:txBody>
          <a:bodyPr vert="horz" lIns="93936" tIns="46968" rIns="93936" bIns="46968"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9DBC47A-7D70-4B96-A3D9-5F2C90E99D20}"/>
              </a:ext>
            </a:extLst>
          </p:cNvPr>
          <p:cNvSpPr>
            <a:spLocks noGrp="1"/>
          </p:cNvSpPr>
          <p:nvPr>
            <p:ph type="sldNum" sz="quarter" idx="3"/>
          </p:nvPr>
        </p:nvSpPr>
        <p:spPr>
          <a:xfrm>
            <a:off x="5304117" y="6721584"/>
            <a:ext cx="4057333" cy="355491"/>
          </a:xfrm>
          <a:prstGeom prst="rect">
            <a:avLst/>
          </a:prstGeom>
        </p:spPr>
        <p:txBody>
          <a:bodyPr vert="horz" lIns="93936" tIns="46968" rIns="93936" bIns="46968" rtlCol="0" anchor="b"/>
          <a:lstStyle>
            <a:lvl1pPr algn="r">
              <a:defRPr sz="1200"/>
            </a:lvl1pPr>
          </a:lstStyle>
          <a:p>
            <a:fld id="{0BC64F76-71D2-47CB-AB30-CAE9A7243BB9}" type="slidenum">
              <a:rPr lang="en-US" smtClean="0"/>
              <a:t>‹#›</a:t>
            </a:fld>
            <a:endParaRPr lang="en-US"/>
          </a:p>
        </p:txBody>
      </p:sp>
    </p:spTree>
    <p:extLst>
      <p:ext uri="{BB962C8B-B14F-4D97-AF65-F5344CB8AC3E}">
        <p14:creationId xmlns:p14="http://schemas.microsoft.com/office/powerpoint/2010/main" val="1810629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057333" cy="355492"/>
          </a:xfrm>
          <a:prstGeom prst="rect">
            <a:avLst/>
          </a:prstGeom>
        </p:spPr>
        <p:txBody>
          <a:bodyPr vert="horz" lIns="93936" tIns="46968" rIns="93936" bIns="46968" rtlCol="0"/>
          <a:lstStyle>
            <a:lvl1pPr algn="l">
              <a:defRPr sz="1200"/>
            </a:lvl1pPr>
          </a:lstStyle>
          <a:p>
            <a:endParaRPr lang="en-US"/>
          </a:p>
        </p:txBody>
      </p:sp>
      <p:sp>
        <p:nvSpPr>
          <p:cNvPr id="3" name="Date Placeholder 2"/>
          <p:cNvSpPr>
            <a:spLocks noGrp="1"/>
          </p:cNvSpPr>
          <p:nvPr>
            <p:ph type="dt" idx="1"/>
          </p:nvPr>
        </p:nvSpPr>
        <p:spPr>
          <a:xfrm>
            <a:off x="5304117" y="0"/>
            <a:ext cx="4057333" cy="355492"/>
          </a:xfrm>
          <a:prstGeom prst="rect">
            <a:avLst/>
          </a:prstGeom>
        </p:spPr>
        <p:txBody>
          <a:bodyPr vert="horz" lIns="93936" tIns="46968" rIns="93936" bIns="46968" rtlCol="0"/>
          <a:lstStyle>
            <a:lvl1pPr algn="r">
              <a:defRPr sz="1200"/>
            </a:lvl1pPr>
          </a:lstStyle>
          <a:p>
            <a:fld id="{639D37BD-CBD4-4299-B418-40002B480005}" type="datetimeFigureOut">
              <a:rPr lang="en-US" smtClean="0"/>
              <a:t>8/15/26</a:t>
            </a:fld>
            <a:endParaRPr lang="en-US"/>
          </a:p>
        </p:txBody>
      </p:sp>
      <p:sp>
        <p:nvSpPr>
          <p:cNvPr id="4" name="Slide Image Placeholder 3"/>
          <p:cNvSpPr>
            <a:spLocks noGrp="1" noRot="1" noChangeAspect="1"/>
          </p:cNvSpPr>
          <p:nvPr>
            <p:ph type="sldImg" idx="2"/>
          </p:nvPr>
        </p:nvSpPr>
        <p:spPr>
          <a:xfrm>
            <a:off x="2559050" y="884238"/>
            <a:ext cx="4244975" cy="2389187"/>
          </a:xfrm>
          <a:prstGeom prst="rect">
            <a:avLst/>
          </a:prstGeom>
          <a:noFill/>
          <a:ln w="12700">
            <a:solidFill>
              <a:prstClr val="black"/>
            </a:solidFill>
          </a:ln>
        </p:spPr>
        <p:txBody>
          <a:bodyPr vert="horz" lIns="93936" tIns="46968" rIns="93936" bIns="46968" rtlCol="0" anchor="ctr"/>
          <a:lstStyle/>
          <a:p>
            <a:endParaRPr lang="en-US"/>
          </a:p>
        </p:txBody>
      </p:sp>
      <p:sp>
        <p:nvSpPr>
          <p:cNvPr id="5" name="Notes Placeholder 4"/>
          <p:cNvSpPr>
            <a:spLocks noGrp="1"/>
          </p:cNvSpPr>
          <p:nvPr>
            <p:ph type="body" sz="quarter" idx="3"/>
          </p:nvPr>
        </p:nvSpPr>
        <p:spPr>
          <a:xfrm>
            <a:off x="936308" y="3405843"/>
            <a:ext cx="7490460" cy="2786598"/>
          </a:xfrm>
          <a:prstGeom prst="rect">
            <a:avLst/>
          </a:prstGeom>
        </p:spPr>
        <p:txBody>
          <a:bodyPr vert="horz" lIns="93936" tIns="46968" rIns="93936" bIns="46968"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721584"/>
            <a:ext cx="4057333" cy="355491"/>
          </a:xfrm>
          <a:prstGeom prst="rect">
            <a:avLst/>
          </a:prstGeom>
        </p:spPr>
        <p:txBody>
          <a:bodyPr vert="horz" lIns="93936" tIns="46968" rIns="93936" bIns="46968" rtlCol="0" anchor="b"/>
          <a:lstStyle>
            <a:lvl1pPr algn="l">
              <a:defRPr sz="1200"/>
            </a:lvl1pPr>
          </a:lstStyle>
          <a:p>
            <a:endParaRPr lang="en-US"/>
          </a:p>
        </p:txBody>
      </p:sp>
      <p:sp>
        <p:nvSpPr>
          <p:cNvPr id="7" name="Slide Number Placeholder 6"/>
          <p:cNvSpPr>
            <a:spLocks noGrp="1"/>
          </p:cNvSpPr>
          <p:nvPr>
            <p:ph type="sldNum" sz="quarter" idx="5"/>
          </p:nvPr>
        </p:nvSpPr>
        <p:spPr>
          <a:xfrm>
            <a:off x="5304117" y="6721584"/>
            <a:ext cx="4057333" cy="355491"/>
          </a:xfrm>
          <a:prstGeom prst="rect">
            <a:avLst/>
          </a:prstGeom>
        </p:spPr>
        <p:txBody>
          <a:bodyPr vert="horz" lIns="93936" tIns="46968" rIns="93936" bIns="46968" rtlCol="0" anchor="b"/>
          <a:lstStyle>
            <a:lvl1pPr algn="r">
              <a:defRPr sz="1200"/>
            </a:lvl1pPr>
          </a:lstStyle>
          <a:p>
            <a:fld id="{E134E988-953D-4EFC-A8A3-B36B4DA2F9D6}" type="slidenum">
              <a:rPr lang="en-US" smtClean="0"/>
              <a:t>‹#›</a:t>
            </a:fld>
            <a:endParaRPr lang="en-US"/>
          </a:p>
        </p:txBody>
      </p:sp>
    </p:spTree>
    <p:extLst>
      <p:ext uri="{BB962C8B-B14F-4D97-AF65-F5344CB8AC3E}">
        <p14:creationId xmlns:p14="http://schemas.microsoft.com/office/powerpoint/2010/main" val="33827115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Doesn’t cater to your typical clientele. Will focus on clients when selling abroad. So we still want to present this to you so you can use it as you expand your focus. At least some hospitals are treating it as a customer experience and providing at least minimal translation of websites.</a:t>
            </a:r>
          </a:p>
        </p:txBody>
      </p:sp>
      <p:sp>
        <p:nvSpPr>
          <p:cNvPr id="4" name="Slide Number Placeholder 3"/>
          <p:cNvSpPr>
            <a:spLocks noGrp="1"/>
          </p:cNvSpPr>
          <p:nvPr>
            <p:ph type="sldNum" sz="quarter" idx="5"/>
          </p:nvPr>
        </p:nvSpPr>
        <p:spPr/>
        <p:txBody>
          <a:bodyPr/>
          <a:lstStyle/>
          <a:p>
            <a:fld id="{E134E988-953D-4EFC-A8A3-B36B4DA2F9D6}" type="slidenum">
              <a:rPr lang="en-US" smtClean="0"/>
              <a:t>1</a:t>
            </a:fld>
            <a:endParaRPr lang="en-US"/>
          </a:p>
        </p:txBody>
      </p:sp>
    </p:spTree>
    <p:extLst>
      <p:ext uri="{BB962C8B-B14F-4D97-AF65-F5344CB8AC3E}">
        <p14:creationId xmlns:p14="http://schemas.microsoft.com/office/powerpoint/2010/main" val="33154950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E134E988-953D-4EFC-A8A3-B36B4DA2F9D6}" type="slidenum">
              <a:rPr lang="en-US" smtClean="0"/>
              <a:t>2</a:t>
            </a:fld>
            <a:endParaRPr lang="en-US"/>
          </a:p>
        </p:txBody>
      </p:sp>
    </p:spTree>
    <p:extLst>
      <p:ext uri="{BB962C8B-B14F-4D97-AF65-F5344CB8AC3E}">
        <p14:creationId xmlns:p14="http://schemas.microsoft.com/office/powerpoint/2010/main" val="38920307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34E988-953D-4EFC-A8A3-B36B4DA2F9D6}" type="slidenum">
              <a:rPr lang="en-US" smtClean="0"/>
              <a:t>3</a:t>
            </a:fld>
            <a:endParaRPr lang="en-US"/>
          </a:p>
        </p:txBody>
      </p:sp>
    </p:spTree>
    <p:extLst>
      <p:ext uri="{BB962C8B-B14F-4D97-AF65-F5344CB8AC3E}">
        <p14:creationId xmlns:p14="http://schemas.microsoft.com/office/powerpoint/2010/main" val="32365368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set the stage, I want to start with what CSA Research calls the “reverse Swiss cheese model” for customer interactions. This is based on Dr. Reason’s famous Swiss cheese model, a tool for for disaster prevention in which organizations set up multiple layers to prevent accidents and other problems. These layers are depicted as slices of Swiss cheese, with the idea that if there is a hole in one layer that would allow a disaster to occur, it should be prevented by other layers (which themselves might have holes in other areas). In our model, we turn this concept around.</a:t>
            </a:r>
          </a:p>
          <a:p>
            <a:endParaRPr lang="en-US" dirty="0"/>
          </a:p>
          <a:p>
            <a:r>
              <a:rPr lang="en-US" dirty="0"/>
              <a:t>To understand it, let's start by thinking about the typical experience of visitors to international sites and break their interaction into four simple phases.</a:t>
            </a:r>
          </a:p>
          <a:p>
            <a:endParaRPr lang="en-US" dirty="0"/>
          </a:p>
          <a:p>
            <a:r>
              <a:rPr lang="en-US" dirty="0"/>
              <a:t>&lt;CLICK&gt;In the browsing phase, visitors have no real intention to buy yet, but are curious and want to see what is there. At this stage, the site needs little more than localized navigation and top-level pages. The purpose is to engage interest. At this point, the average value of an individual visitor is quite low: Many will leave after a few seconds or will determine that the site isn’t what they are looking for.</a:t>
            </a:r>
          </a:p>
          <a:p>
            <a:endParaRPr lang="en-US" dirty="0"/>
          </a:p>
          <a:p>
            <a:r>
              <a:rPr lang="en-US" dirty="0"/>
              <a:t>&lt;CLICK&gt;The next stage is evaluation. Here the visitor has some interest and is looking for specific information to inform the purchase decision, such as product information, manuals, reviews, and other similar materials. Individuals at this stage are worth more on average because they are beginning to form purchase intent.</a:t>
            </a:r>
          </a:p>
          <a:p>
            <a:endParaRPr lang="en-US" dirty="0"/>
          </a:p>
          <a:p>
            <a:r>
              <a:rPr lang="en-US" dirty="0"/>
              <a:t>&lt;CLICK&gt;If all goes well, the purchase phase comes next. Here, the contact is looking for where to pay. The contact is thus quite valuable but needs to find a localized purchase experience and support for local payment options. Without this, the contact will turn to competitors.</a:t>
            </a:r>
          </a:p>
          <a:p>
            <a:endParaRPr lang="en-US" dirty="0"/>
          </a:p>
          <a:p>
            <a:r>
              <a:rPr lang="en-US" dirty="0"/>
              <a:t>&lt;CLICK&gt;Finally comes the loyalty phase where the contact has made a purchase but becomes a repeat purchaser, a subscriber, or a recommender. These individuals are the most valuable because they enter into a relationship with a brand and bring others along with them.</a:t>
            </a:r>
          </a:p>
          <a:p>
            <a:endParaRPr lang="en-US" dirty="0"/>
          </a:p>
          <a:p>
            <a:r>
              <a:rPr lang="en-US" dirty="0"/>
              <a:t>So let’s consider now how this plays out for the site of a US-based personal healthcare products company that provides varying degrees of localization for some European languages.</a:t>
            </a:r>
          </a:p>
          <a:p>
            <a:endParaRPr lang="en-US" dirty="0"/>
          </a:p>
          <a:p>
            <a:r>
              <a:rPr lang="en-US" dirty="0"/>
              <a:t>&lt;CLICK&gt;In particular, let’s start with four individuals who speak Spanish, French, Finnish, and German, and let’s assume they do not speak English. What happens when they encounter the site?</a:t>
            </a:r>
          </a:p>
          <a:p>
            <a:endParaRPr lang="en-US" dirty="0"/>
          </a:p>
          <a:p>
            <a:r>
              <a:rPr lang="en-US" dirty="0"/>
              <a:t>&lt;CLICK&gt;In this example the Spanish, French, and German speakers find a localized site with navigation and some basic marketing information, and this slice of cheese lets them through. But the poor Finnish speaker finds an impenetrable wall of English, and goes elsewhere.</a:t>
            </a:r>
          </a:p>
          <a:p>
            <a:endParaRPr lang="en-US" dirty="0"/>
          </a:p>
          <a:p>
            <a:r>
              <a:rPr lang="en-US" dirty="0"/>
              <a:t>&lt;CLICK&gt;Next, we find that the French site really had only marketing information, but no other content, and so the French speaker hits a wall of English cheese and drops out while the Spanish and German speakers are able to evaluate the products and decide to purchase from the site.</a:t>
            </a:r>
          </a:p>
          <a:p>
            <a:endParaRPr lang="en-US" dirty="0"/>
          </a:p>
          <a:p>
            <a:r>
              <a:rPr lang="en-US" dirty="0"/>
              <a:t>&lt;CLICK&gt;At the purchase stage, the German speaker does not find a localized purchase experience because the company assumes all Germans speak English, so even though she would like to purchase some items, she is confused and abandons her shopping cart. Note that this is the first point where lack of localization leads to the loss of actual purchase intent. However, there is a hole for the Spanish speaker to pass through: A localized purchase experience lets him buy what he was looking for.</a:t>
            </a:r>
          </a:p>
          <a:p>
            <a:endParaRPr lang="en-US" dirty="0"/>
          </a:p>
          <a:p>
            <a:r>
              <a:rPr lang="en-US" dirty="0"/>
              <a:t>&lt;CLICK&gt;Finally, we reach the phase where loyalty is built and when the Spanish speaker comes to find support for his product he is lucky and finds that information about it has been translated, even though much of the site with after-sales support and information has not. In this case he goes on to recommend the product to others and becomes a repeat customer.</a:t>
            </a:r>
          </a:p>
          <a:p>
            <a:endParaRPr lang="en-US" dirty="0"/>
          </a:p>
        </p:txBody>
      </p:sp>
      <p:sp>
        <p:nvSpPr>
          <p:cNvPr id="4" name="Slide Number Placeholder 3"/>
          <p:cNvSpPr>
            <a:spLocks noGrp="1"/>
          </p:cNvSpPr>
          <p:nvPr>
            <p:ph type="sldNum" sz="quarter" idx="5"/>
          </p:nvPr>
        </p:nvSpPr>
        <p:spPr/>
        <p:txBody>
          <a:bodyPr/>
          <a:lstStyle/>
          <a:p>
            <a:fld id="{E134E988-953D-4EFC-A8A3-B36B4DA2F9D6}" type="slidenum">
              <a:rPr lang="en-US" smtClean="0"/>
              <a:t>4</a:t>
            </a:fld>
            <a:endParaRPr lang="en-US"/>
          </a:p>
        </p:txBody>
      </p:sp>
    </p:spTree>
    <p:extLst>
      <p:ext uri="{BB962C8B-B14F-4D97-AF65-F5344CB8AC3E}">
        <p14:creationId xmlns:p14="http://schemas.microsoft.com/office/powerpoint/2010/main" val="4194294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let's think about the implications of this model.</a:t>
            </a:r>
          </a:p>
          <a:p>
            <a:endParaRPr lang="en-US" dirty="0"/>
          </a:p>
          <a:p>
            <a:r>
              <a:rPr lang="en-US" dirty="0"/>
              <a:t>&lt;CLICK&gt;First, in the customer journey, it doesn’t matter if someone almost made it to purchase or almost made it to becoming a loyal customer. From the perspective of the enterprise, the customer journey is ruthless, and</a:t>
            </a:r>
          </a:p>
          <a:p>
            <a:endParaRPr lang="en-US" dirty="0"/>
          </a:p>
          <a:p>
            <a:r>
              <a:rPr lang="en-US" dirty="0"/>
              <a:t>&lt;CLICK&gt;It only takes one mistake, a failure at a single point, for customers to walk away to a competitor that offers their language.</a:t>
            </a:r>
          </a:p>
          <a:p>
            <a:endParaRPr lang="en-US" dirty="0"/>
          </a:p>
          <a:p>
            <a:r>
              <a:rPr lang="en-US" dirty="0"/>
              <a:t>&lt;CLICK&gt;As a result, enterprises need to factor in the entire journey. Despite this, our research has shown that the typical enterprise localizes just 5% of its website content. Some languages typically benefit from a considerably higher localization rate – particularly for sites translating </a:t>
            </a:r>
            <a:r>
              <a:rPr lang="en-US" i="1" dirty="0"/>
              <a:t>into</a:t>
            </a:r>
            <a:r>
              <a:rPr lang="en-US" i="0" dirty="0"/>
              <a:t> English – but many others receive less. In fact, it is not uncommon for even large enterprises to support languages with just a localized homepage or just the highest-level marketing pages.</a:t>
            </a:r>
          </a:p>
          <a:p>
            <a:endParaRPr lang="en-US" i="0" dirty="0"/>
          </a:p>
          <a:p>
            <a:r>
              <a:rPr lang="en-US" i="0" dirty="0"/>
              <a:t>&lt;CLICK&gt;What this means is that enterprises often invest the most in those areas of the site that deliver the least direct value per visitor but ignore the ones that lead directly to income. Admittedly, because of the reverse Swiss cheese model, they have to start with the navigation and marketing if the other content is to be effective, but far too many stop at that point and then wonder why their localization is not paying big dividends.</a:t>
            </a:r>
            <a:endParaRPr lang="en-US" dirty="0"/>
          </a:p>
        </p:txBody>
      </p:sp>
      <p:sp>
        <p:nvSpPr>
          <p:cNvPr id="4" name="Slide Number Placeholder 3"/>
          <p:cNvSpPr>
            <a:spLocks noGrp="1"/>
          </p:cNvSpPr>
          <p:nvPr>
            <p:ph type="sldNum" sz="quarter" idx="5"/>
          </p:nvPr>
        </p:nvSpPr>
        <p:spPr/>
        <p:txBody>
          <a:bodyPr/>
          <a:lstStyle/>
          <a:p>
            <a:fld id="{E134E988-953D-4EFC-A8A3-B36B4DA2F9D6}" type="slidenum">
              <a:rPr lang="en-US" smtClean="0"/>
              <a:t>5</a:t>
            </a:fld>
            <a:endParaRPr lang="en-US"/>
          </a:p>
        </p:txBody>
      </p:sp>
    </p:spTree>
    <p:extLst>
      <p:ext uri="{BB962C8B-B14F-4D97-AF65-F5344CB8AC3E}">
        <p14:creationId xmlns:p14="http://schemas.microsoft.com/office/powerpoint/2010/main" val="31602411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order to address these factors and provide concrete guidance, our “Can’t Read, Won’t Buy” series has focused on gathering representative data from both B2B and B2C buyers about how localization – or the lack thereof –  at various stages of the customer contributes to their likelihood to purchase or remain a customer. This data is expensive to collect if you do it right, but the insights make it worth it.</a:t>
            </a:r>
          </a:p>
          <a:p>
            <a:endParaRPr lang="en-US" dirty="0"/>
          </a:p>
          <a:p>
            <a:r>
              <a:rPr lang="en-US" dirty="0"/>
              <a:t>&lt;CLICK&gt;We organize the data along key decision points in the customer journey, emphasizing phases of the experience.</a:t>
            </a:r>
          </a:p>
          <a:p>
            <a:endParaRPr lang="en-US" dirty="0"/>
          </a:p>
          <a:p>
            <a:r>
              <a:rPr lang="en-US" dirty="0"/>
              <a:t>&lt;CLICK&gt;Although the results are valuable, it is not easy to turn them into actionable insights for particular sites or companies.</a:t>
            </a:r>
          </a:p>
          <a:p>
            <a:endParaRPr lang="en-US" dirty="0"/>
          </a:p>
          <a:p>
            <a:r>
              <a:rPr lang="en-US" dirty="0"/>
              <a:t>&lt;CLICK&gt;Nevertheless, the reports are full of key takeaways you can use in marketing and discussion with clients and prospects. For example, you can tell them that 75% of online customers are unlikely to purchase from sites that do not support their language, or that Germans are among the least likely to make purchases in other languages because they are used to having content in German. Having such facts from this research at hand can help you engage with clients and discuss their needs, but now we have a better tool to assist you with making concrete predictions.</a:t>
            </a:r>
          </a:p>
        </p:txBody>
      </p:sp>
      <p:sp>
        <p:nvSpPr>
          <p:cNvPr id="4" name="Slide Number Placeholder 3"/>
          <p:cNvSpPr>
            <a:spLocks noGrp="1"/>
          </p:cNvSpPr>
          <p:nvPr>
            <p:ph type="sldNum" sz="quarter" idx="5"/>
          </p:nvPr>
        </p:nvSpPr>
        <p:spPr/>
        <p:txBody>
          <a:bodyPr/>
          <a:lstStyle/>
          <a:p>
            <a:fld id="{E134E988-953D-4EFC-A8A3-B36B4DA2F9D6}" type="slidenum">
              <a:rPr lang="en-US" smtClean="0"/>
              <a:t>6</a:t>
            </a:fld>
            <a:endParaRPr lang="en-US"/>
          </a:p>
        </p:txBody>
      </p:sp>
    </p:spTree>
    <p:extLst>
      <p:ext uri="{BB962C8B-B14F-4D97-AF65-F5344CB8AC3E}">
        <p14:creationId xmlns:p14="http://schemas.microsoft.com/office/powerpoint/2010/main" val="12652554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34E988-953D-4EFC-A8A3-B36B4DA2F9D6}" type="slidenum">
              <a:rPr lang="en-US" smtClean="0"/>
              <a:t>7</a:t>
            </a:fld>
            <a:endParaRPr lang="en-US"/>
          </a:p>
        </p:txBody>
      </p:sp>
    </p:spTree>
    <p:extLst>
      <p:ext uri="{BB962C8B-B14F-4D97-AF65-F5344CB8AC3E}">
        <p14:creationId xmlns:p14="http://schemas.microsoft.com/office/powerpoint/2010/main" val="14777514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tool is called the Global CX Calculator.</a:t>
            </a:r>
          </a:p>
          <a:p>
            <a:endParaRPr lang="en-US" dirty="0"/>
          </a:p>
          <a:p>
            <a:r>
              <a:rPr lang="en-US" dirty="0"/>
              <a:t>&lt;CLICK&gt;It provides predictive analytics for discussing your clients’ customer journeys. It is based on over 37,000 global consumers in 29 countries, and we will be adding an additional 1,200 from four more countries soon.</a:t>
            </a:r>
          </a:p>
          <a:p>
            <a:endParaRPr lang="en-US" dirty="0"/>
          </a:p>
          <a:p>
            <a:r>
              <a:rPr lang="en-US" dirty="0"/>
              <a:t>&lt;CLICK&gt;The tool itself is simple to use: You answer 11 questions about what is – or is not – localized on a site, and how much is localized, and it then</a:t>
            </a:r>
          </a:p>
          <a:p>
            <a:endParaRPr lang="en-US" dirty="0"/>
          </a:p>
          <a:p>
            <a:r>
              <a:rPr lang="en-US" dirty="0"/>
              <a:t>&lt;CLICK&gt;provides predictions for what percentage of an audience of prospective customers is likely to reach one of five stages in the journey.</a:t>
            </a:r>
          </a:p>
          <a:p>
            <a:endParaRPr lang="en-US" dirty="0"/>
          </a:p>
          <a:p>
            <a:r>
              <a:rPr lang="en-US" dirty="0"/>
              <a:t>Let’s now take a look at those particular stages (which differ from the model I showed earlier) in more detail.</a:t>
            </a:r>
          </a:p>
        </p:txBody>
      </p:sp>
      <p:sp>
        <p:nvSpPr>
          <p:cNvPr id="4" name="Slide Number Placeholder 3"/>
          <p:cNvSpPr>
            <a:spLocks noGrp="1"/>
          </p:cNvSpPr>
          <p:nvPr>
            <p:ph type="sldNum" sz="quarter" idx="5"/>
          </p:nvPr>
        </p:nvSpPr>
        <p:spPr/>
        <p:txBody>
          <a:bodyPr/>
          <a:lstStyle/>
          <a:p>
            <a:fld id="{E134E988-953D-4EFC-A8A3-B36B4DA2F9D6}" type="slidenum">
              <a:rPr lang="en-US" smtClean="0"/>
              <a:t>8</a:t>
            </a:fld>
            <a:endParaRPr lang="en-US"/>
          </a:p>
        </p:txBody>
      </p:sp>
    </p:spTree>
    <p:extLst>
      <p:ext uri="{BB962C8B-B14F-4D97-AF65-F5344CB8AC3E}">
        <p14:creationId xmlns:p14="http://schemas.microsoft.com/office/powerpoint/2010/main" val="36419065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help quantify how language support is likely to impact the effectiveness of a company’s global customer experience, we created a quantitative model based on the stated buying preferences of 300 online consumers per language who were asked about how the availability of in-language content affects their likelihood to purchase. This model calculates how far each survey respondent is likely to make it through a given customer experience based on their individual responses. We quantified this at five major milestones, although the underlying research quantifies several others. If you aren't addressing these points, others are unlikely to matter:</a:t>
            </a:r>
          </a:p>
          <a:p>
            <a:endParaRPr lang="en-US" dirty="0"/>
          </a:p>
          <a:p>
            <a:r>
              <a:rPr lang="en-US" dirty="0"/>
              <a:t>&lt;click&gt;1. The ability of potential customers to browse the site. Do they find navigation and other content such that they can use the site? Note that in our model, if a company hasn’t localized to support this, we don’t ask them any other questions because their customers will not find anything else. Here I should note that we do give a bonus to companies that are recognized global brands or have offerings cheaper than their competitors in a market: Some individuals prefer to purchase major brands even without localization or prefer cheaper options, even if it means they will miss their language. That said, this effects are relatively minor.</a:t>
            </a:r>
          </a:p>
          <a:p>
            <a:endParaRPr lang="en-US" dirty="0"/>
          </a:p>
          <a:p>
            <a:r>
              <a:rPr lang="en-US" dirty="0"/>
              <a:t>&lt;click&gt;2. The ability of customer to evaluate the site’s offerings. Can they find enough marketing information to investigate the site and begin evaluating its offerings? Here we factor in the marketing content that attracts visitors to products or services and encourages them to learn more. This is usually the first point of contact with a company before visitors know which offerings make sense for them.</a:t>
            </a:r>
          </a:p>
          <a:p>
            <a:endParaRPr lang="en-US" dirty="0"/>
          </a:p>
          <a:p>
            <a:r>
              <a:rPr lang="en-US" dirty="0"/>
              <a:t>&lt;click&gt;3. The intent to purchase. Will visitors find enough product- or service-specific detail to convince them that they want to purchase from the site and that the goods and services will meet their needs? This is the point when the site moves beyond general marketing to technical details, specifications, and other targeted tools that individuals consult to make the purchase decision. I should note here that we give a bonus here to companies that localize customer reviews: Our research shows that reviews can, to some extent, make up for missing first-party content on sites.</a:t>
            </a:r>
          </a:p>
          <a:p>
            <a:endParaRPr lang="en-US" dirty="0"/>
          </a:p>
          <a:p>
            <a:r>
              <a:rPr lang="en-US" dirty="0"/>
              <a:t>&lt;click&gt;4. The ability to purchase. Does the site support a localized purchase experience that meets customers’ needs or does it leave them with inappropriate and useless options? Many sites provide a good journey to this point, but then turn aside customers by not supporting their language, currency, addresses, or payment methods. It doesn’t matter if you want to make the purchase if you cannot ship something to your home or make a payment.</a:t>
            </a:r>
          </a:p>
          <a:p>
            <a:endParaRPr lang="en-US" dirty="0"/>
          </a:p>
          <a:p>
            <a:r>
              <a:rPr lang="en-US" dirty="0"/>
              <a:t>&lt;click&gt;5. Likelihood of repeat purchase. Does the site provide enough after-sales support to keep customers loyal and happy or does it leave them to their own devices with no assistance? Here we focus on support content in particular because many respondents in the surveys cited lack of support as a major reason why they will not make a repeat purchase.</a:t>
            </a:r>
          </a:p>
          <a:p>
            <a:endParaRPr lang="en-US" dirty="0"/>
          </a:p>
          <a:p>
            <a:r>
              <a:rPr lang="en-US" dirty="0"/>
              <a:t>This tool is currently available free of charge on the CSA Research website so that you can try these scenarios out yourself.</a:t>
            </a:r>
          </a:p>
        </p:txBody>
      </p:sp>
      <p:sp>
        <p:nvSpPr>
          <p:cNvPr id="4" name="Slide Number Placeholder 3"/>
          <p:cNvSpPr>
            <a:spLocks noGrp="1"/>
          </p:cNvSpPr>
          <p:nvPr>
            <p:ph type="sldNum" sz="quarter" idx="5"/>
          </p:nvPr>
        </p:nvSpPr>
        <p:spPr/>
        <p:txBody>
          <a:bodyPr/>
          <a:lstStyle/>
          <a:p>
            <a:fld id="{E134E988-953D-4EFC-A8A3-B36B4DA2F9D6}" type="slidenum">
              <a:rPr lang="en-US" smtClean="0"/>
              <a:t>9</a:t>
            </a:fld>
            <a:endParaRPr lang="en-US" dirty="0"/>
          </a:p>
        </p:txBody>
      </p:sp>
    </p:spTree>
    <p:extLst>
      <p:ext uri="{BB962C8B-B14F-4D97-AF65-F5344CB8AC3E}">
        <p14:creationId xmlns:p14="http://schemas.microsoft.com/office/powerpoint/2010/main" val="21699489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that as background, let's spend a little bit of time with the tool itself in a live demo. I'll ask one of you to think about one of your clients that you would like to see localize more content and we will go through the questions for one of their languages and see the results. Depending on time, we may do a couple of these.</a:t>
            </a:r>
          </a:p>
        </p:txBody>
      </p:sp>
      <p:sp>
        <p:nvSpPr>
          <p:cNvPr id="4" name="Slide Number Placeholder 3"/>
          <p:cNvSpPr>
            <a:spLocks noGrp="1"/>
          </p:cNvSpPr>
          <p:nvPr>
            <p:ph type="sldNum" sz="quarter" idx="5"/>
          </p:nvPr>
        </p:nvSpPr>
        <p:spPr/>
        <p:txBody>
          <a:bodyPr/>
          <a:lstStyle/>
          <a:p>
            <a:fld id="{E134E988-953D-4EFC-A8A3-B36B4DA2F9D6}" type="slidenum">
              <a:rPr lang="en-US" smtClean="0"/>
              <a:t>10</a:t>
            </a:fld>
            <a:endParaRPr lang="en-US"/>
          </a:p>
        </p:txBody>
      </p:sp>
    </p:spTree>
    <p:extLst>
      <p:ext uri="{BB962C8B-B14F-4D97-AF65-F5344CB8AC3E}">
        <p14:creationId xmlns:p14="http://schemas.microsoft.com/office/powerpoint/2010/main" val="10149622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turn now to how you can use this tool to engage your clients and prospects.</a:t>
            </a:r>
          </a:p>
        </p:txBody>
      </p:sp>
      <p:sp>
        <p:nvSpPr>
          <p:cNvPr id="4" name="Slide Number Placeholder 3"/>
          <p:cNvSpPr>
            <a:spLocks noGrp="1"/>
          </p:cNvSpPr>
          <p:nvPr>
            <p:ph type="sldNum" sz="quarter" idx="5"/>
          </p:nvPr>
        </p:nvSpPr>
        <p:spPr/>
        <p:txBody>
          <a:bodyPr/>
          <a:lstStyle/>
          <a:p>
            <a:fld id="{E134E988-953D-4EFC-A8A3-B36B4DA2F9D6}" type="slidenum">
              <a:rPr lang="en-US" smtClean="0"/>
              <a:t>11</a:t>
            </a:fld>
            <a:endParaRPr lang="en-US"/>
          </a:p>
        </p:txBody>
      </p:sp>
    </p:spTree>
    <p:extLst>
      <p:ext uri="{BB962C8B-B14F-4D97-AF65-F5344CB8AC3E}">
        <p14:creationId xmlns:p14="http://schemas.microsoft.com/office/powerpoint/2010/main" val="23516519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34E988-953D-4EFC-A8A3-B36B4DA2F9D6}" type="slidenum">
              <a:rPr lang="en-US" smtClean="0"/>
              <a:t>12</a:t>
            </a:fld>
            <a:endParaRPr lang="en-US"/>
          </a:p>
        </p:txBody>
      </p:sp>
    </p:spTree>
    <p:extLst>
      <p:ext uri="{BB962C8B-B14F-4D97-AF65-F5344CB8AC3E}">
        <p14:creationId xmlns:p14="http://schemas.microsoft.com/office/powerpoint/2010/main" val="15082885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TB: Discuss how this applies to offline purchases and engagement.</a:t>
            </a:r>
          </a:p>
          <a:p>
            <a:endParaRPr lang="en-US" dirty="0"/>
          </a:p>
          <a:p>
            <a:r>
              <a:rPr lang="en-US" dirty="0"/>
              <a:t>When Hélène did the marketing presentations, she told you to use data, and this is an example of where you can get it and how to use it.</a:t>
            </a:r>
          </a:p>
        </p:txBody>
      </p:sp>
      <p:sp>
        <p:nvSpPr>
          <p:cNvPr id="4" name="Slide Number Placeholder 3"/>
          <p:cNvSpPr>
            <a:spLocks noGrp="1"/>
          </p:cNvSpPr>
          <p:nvPr>
            <p:ph type="sldNum" sz="quarter" idx="5"/>
          </p:nvPr>
        </p:nvSpPr>
        <p:spPr/>
        <p:txBody>
          <a:bodyPr/>
          <a:lstStyle/>
          <a:p>
            <a:fld id="{E134E988-953D-4EFC-A8A3-B36B4DA2F9D6}" type="slidenum">
              <a:rPr lang="en-US" smtClean="0"/>
              <a:t>13</a:t>
            </a:fld>
            <a:endParaRPr lang="en-US"/>
          </a:p>
        </p:txBody>
      </p:sp>
    </p:spTree>
    <p:extLst>
      <p:ext uri="{BB962C8B-B14F-4D97-AF65-F5344CB8AC3E}">
        <p14:creationId xmlns:p14="http://schemas.microsoft.com/office/powerpoint/2010/main" val="39243181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to move beyond price/quality, usual blah blah. Helps elevate the discussion.</a:t>
            </a:r>
          </a:p>
        </p:txBody>
      </p:sp>
      <p:sp>
        <p:nvSpPr>
          <p:cNvPr id="4" name="Slide Number Placeholder 3"/>
          <p:cNvSpPr>
            <a:spLocks noGrp="1"/>
          </p:cNvSpPr>
          <p:nvPr>
            <p:ph type="sldNum" sz="quarter" idx="5"/>
          </p:nvPr>
        </p:nvSpPr>
        <p:spPr/>
        <p:txBody>
          <a:bodyPr/>
          <a:lstStyle/>
          <a:p>
            <a:fld id="{E134E988-953D-4EFC-A8A3-B36B4DA2F9D6}" type="slidenum">
              <a:rPr lang="en-US" smtClean="0"/>
              <a:t>14</a:t>
            </a:fld>
            <a:endParaRPr lang="en-US"/>
          </a:p>
        </p:txBody>
      </p:sp>
    </p:spTree>
    <p:extLst>
      <p:ext uri="{BB962C8B-B14F-4D97-AF65-F5344CB8AC3E}">
        <p14:creationId xmlns:p14="http://schemas.microsoft.com/office/powerpoint/2010/main" val="6739089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option is what we are calling a proactive loss analysis. This is something you could do in a mailing to individual clients.</a:t>
            </a:r>
          </a:p>
          <a:p>
            <a:endParaRPr lang="en-US" dirty="0"/>
          </a:p>
          <a:p>
            <a:r>
              <a:rPr lang="en-US" dirty="0"/>
              <a:t>&lt;click&gt;First, you pick one or more languages that the client supports (or one that you would like to sell to them). You might try multiple ones to see which one gives the most dramatic results.</a:t>
            </a:r>
          </a:p>
          <a:p>
            <a:endParaRPr lang="en-US" dirty="0"/>
          </a:p>
          <a:p>
            <a:r>
              <a:rPr lang="en-US" dirty="0"/>
              <a:t>&lt;click&gt;Next, run the calculator to find facts and figures you can use in your sales pitches. It's always good to include a relevant data point that grabs attention.</a:t>
            </a:r>
          </a:p>
          <a:p>
            <a:endParaRPr lang="en-US" dirty="0"/>
          </a:p>
          <a:p>
            <a:r>
              <a:rPr lang="en-US" dirty="0"/>
              <a:t>&lt;click&gt;Send customized messages to your prospects and clients that reflect the Calculator’s insights in an attention-grabbing way, ideally one that emphasizes how much money the company could make through more translation.</a:t>
            </a:r>
          </a:p>
          <a:p>
            <a:endParaRPr lang="en-US" dirty="0"/>
          </a:p>
          <a:p>
            <a:r>
              <a:rPr lang="en-US" dirty="0"/>
              <a:t>&lt;CLICK&gt;For example, this message emphasizes that the prospect could boost sales in French by 170% through localization and would be suitable for a client or prospect that has some French content but that is not really engaged with the language.</a:t>
            </a:r>
          </a:p>
        </p:txBody>
      </p:sp>
      <p:sp>
        <p:nvSpPr>
          <p:cNvPr id="4" name="Slide Number Placeholder 3"/>
          <p:cNvSpPr>
            <a:spLocks noGrp="1"/>
          </p:cNvSpPr>
          <p:nvPr>
            <p:ph type="sldNum" sz="quarter" idx="5"/>
          </p:nvPr>
        </p:nvSpPr>
        <p:spPr/>
        <p:txBody>
          <a:bodyPr/>
          <a:lstStyle/>
          <a:p>
            <a:fld id="{E134E988-953D-4EFC-A8A3-B36B4DA2F9D6}" type="slidenum">
              <a:rPr lang="en-US" smtClean="0"/>
              <a:t>15</a:t>
            </a:fld>
            <a:endParaRPr lang="en-US"/>
          </a:p>
        </p:txBody>
      </p:sp>
    </p:spTree>
    <p:extLst>
      <p:ext uri="{BB962C8B-B14F-4D97-AF65-F5344CB8AC3E}">
        <p14:creationId xmlns:p14="http://schemas.microsoft.com/office/powerpoint/2010/main" val="23173842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example, I ran the Global CX Calculator with a site in French that has fully localized marketing materials but limited product information, a localized purchase experience, and moderate levels of support in French. This view makes it clear that the real loss comes from lack of product information so it provides insights into what the company needs to localize.</a:t>
            </a:r>
          </a:p>
          <a:p>
            <a:endParaRPr lang="en-US" dirty="0"/>
          </a:p>
          <a:p>
            <a:r>
              <a:rPr lang="en-US" dirty="0"/>
              <a:t>This is the analysis I used for the email solicitation in the previous slide. Here 63% of visitors would not make it through to purchase, so we divide this by 37% to get a potential uplift of 170%. Obviously, the numbers you find for your clients would vary. This way gives a bigger number than losing 63% and is just as accurate. By focusing on what they gain, it helps keep you from seeming like you are blaming them.</a:t>
            </a:r>
          </a:p>
          <a:p>
            <a:endParaRPr lang="en-US" dirty="0"/>
          </a:p>
          <a:p>
            <a:r>
              <a:rPr lang="en-US" dirty="0"/>
              <a:t>&lt;CLICK&gt;And note that even if your clients think these numbers are wrong and that they are doing better than you predict, it gives you an opportunity to discuss why you got the numbers you did and where they could improve.</a:t>
            </a:r>
          </a:p>
        </p:txBody>
      </p:sp>
      <p:sp>
        <p:nvSpPr>
          <p:cNvPr id="4" name="Slide Number Placeholder 3"/>
          <p:cNvSpPr>
            <a:spLocks noGrp="1"/>
          </p:cNvSpPr>
          <p:nvPr>
            <p:ph type="sldNum" sz="quarter" idx="5"/>
          </p:nvPr>
        </p:nvSpPr>
        <p:spPr/>
        <p:txBody>
          <a:bodyPr/>
          <a:lstStyle/>
          <a:p>
            <a:fld id="{E134E988-953D-4EFC-A8A3-B36B4DA2F9D6}" type="slidenum">
              <a:rPr lang="en-US" smtClean="0"/>
              <a:t>16</a:t>
            </a:fld>
            <a:endParaRPr lang="en-US"/>
          </a:p>
        </p:txBody>
      </p:sp>
    </p:spTree>
    <p:extLst>
      <p:ext uri="{BB962C8B-B14F-4D97-AF65-F5344CB8AC3E}">
        <p14:creationId xmlns:p14="http://schemas.microsoft.com/office/powerpoint/2010/main" val="10017334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method is interactive engagement where you use the Calculator with existing clients.</a:t>
            </a:r>
          </a:p>
          <a:p>
            <a:endParaRPr lang="en-US" dirty="0"/>
          </a:p>
          <a:p>
            <a:r>
              <a:rPr lang="en-US" dirty="0"/>
              <a:t>&lt;CLICK&gt;This works best where your clients already see you as someone providing them with objective advice that benefits them. So it is best for upselling clients or helping your clients’ localization managers to make a pitch to their management for additional budget. It is not a good choice for clients you do not know well (unless they respond positively to one of the previous methods).</a:t>
            </a:r>
          </a:p>
          <a:p>
            <a:endParaRPr lang="en-US" dirty="0"/>
          </a:p>
          <a:p>
            <a:r>
              <a:rPr lang="en-US" dirty="0"/>
              <a:t>&lt;CLICK&gt;The key to making this work is that you do a preliminary analysis so you have facts in hand when you start the conversation. For example,</a:t>
            </a:r>
          </a:p>
          <a:p>
            <a:endParaRPr lang="en-US" dirty="0"/>
          </a:p>
          <a:p>
            <a:r>
              <a:rPr lang="en-US" dirty="0"/>
              <a:t>&lt;CLICK&gt;in this simply example, you have already examined the client’s site (or leveraged your knowledge of it) and calculated that two of the language versions, German and Spanish, are in good shape and would offer minimal uplift through additional localization, but French has significant potential and Chinese, which has minimal localization, would benefit considerably. Having these numbers in hand in advance will help you be seen as an expert, particularly if you can tell your clients about where they are doing well as well as where they need help.</a:t>
            </a:r>
          </a:p>
          <a:p>
            <a:endParaRPr lang="en-US" dirty="0"/>
          </a:p>
          <a:p>
            <a:r>
              <a:rPr lang="en-US" dirty="0"/>
              <a:t>&lt;CLICK&gt;You then set up a time to use the tool live with them to explore how changes would help them. One hint is that you may want to have multiple browser tabs with the Calculator open in them for the different languages you want to show. This will save you the time it takes to enter data in the call, and then you can bring up a tab and tweak it in real time.</a:t>
            </a:r>
          </a:p>
          <a:p>
            <a:endParaRPr lang="en-US" dirty="0"/>
          </a:p>
          <a:p>
            <a:r>
              <a:rPr lang="en-US" dirty="0"/>
              <a:t>&lt;CLICK&gt;When you discuss the results with your clients or prospects, have set questions in mind, such as the one shown on screen. This will help you focus the discussion on concrete courses of action that you would recommend.</a:t>
            </a:r>
          </a:p>
        </p:txBody>
      </p:sp>
      <p:sp>
        <p:nvSpPr>
          <p:cNvPr id="4" name="Slide Number Placeholder 3"/>
          <p:cNvSpPr>
            <a:spLocks noGrp="1"/>
          </p:cNvSpPr>
          <p:nvPr>
            <p:ph type="sldNum" sz="quarter" idx="5"/>
          </p:nvPr>
        </p:nvSpPr>
        <p:spPr/>
        <p:txBody>
          <a:bodyPr/>
          <a:lstStyle/>
          <a:p>
            <a:fld id="{E134E988-953D-4EFC-A8A3-B36B4DA2F9D6}" type="slidenum">
              <a:rPr lang="en-US" smtClean="0"/>
              <a:t>17</a:t>
            </a:fld>
            <a:endParaRPr lang="en-US"/>
          </a:p>
        </p:txBody>
      </p:sp>
    </p:spTree>
    <p:extLst>
      <p:ext uri="{BB962C8B-B14F-4D97-AF65-F5344CB8AC3E}">
        <p14:creationId xmlns:p14="http://schemas.microsoft.com/office/powerpoint/2010/main" val="27182486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before we wrap up and move to questions, I do need to give a few notes.</a:t>
            </a:r>
          </a:p>
          <a:p>
            <a:endParaRPr lang="en-US" dirty="0"/>
          </a:p>
          <a:p>
            <a:r>
              <a:rPr lang="en-US" dirty="0"/>
              <a:t>&lt;CLICK&gt;First, do not promise that your clients will gain a specific number from additional localization. Instead emphasize possible or likely outcomes. You do this to prevent the impression of giving a guarantee. We do this because time to revenue is not instantaneous and depends on many factors. In keeping with the reverse Swiss cheese model, localization is about removing obstacles,</a:t>
            </a:r>
          </a:p>
          <a:p>
            <a:endParaRPr lang="en-US" dirty="0"/>
          </a:p>
          <a:p>
            <a:r>
              <a:rPr lang="en-US" dirty="0"/>
              <a:t>&lt;CLICK&gt;but you still have to be certain that your clients’ offerings appeal in the markets where they are being sold. As an example of where no amount of content localization would matter, imagine a US company selling firearms that wants to localize into German: Although the Global CX Calculator’s predictions might be accurate, they could not overcome the problem that the products cannot be sold in Germany and would not have much appeal in any event. Or, to take a less controversial subject, if your client is localizing games, no amount of translation is going to make a war game sell well in France, but localizing a farming game would, while in other markets the results would be the opposite.</a:t>
            </a:r>
          </a:p>
          <a:p>
            <a:endParaRPr lang="en-US" dirty="0"/>
          </a:p>
          <a:p>
            <a:r>
              <a:rPr lang="en-US" dirty="0"/>
              <a:t>&lt;CLICK&gt;Another complicating factor is that calculating time to revenue can be complex. Most of the companies we talk to do not share information about time to revenue with their staff, but in one case, we were given detailed financial information and found that the time to revenue was typically about two years but the growth rates varied by market. As a result, we can predict that the company could realize particular growth in revenue, but also state that this would not be overnight. These realities may temper enthusiasm from companies that expect to see ROI within a quarter or two.</a:t>
            </a:r>
          </a:p>
          <a:p>
            <a:endParaRPr lang="en-US" dirty="0"/>
          </a:p>
          <a:p>
            <a:r>
              <a:rPr lang="en-US" dirty="0"/>
              <a:t>&lt;CLICK&gt;All this means that you need to build your data chops. This might mean you need to appoint one person who becomes your data guru and who handles requests for supporting data. Or it might mean that you need your entire team to develop a data-first mentality. How you handle this depends on your sales structures and processes, but it is clear that you need to have in-house skills in working with data.</a:t>
            </a:r>
          </a:p>
        </p:txBody>
      </p:sp>
      <p:sp>
        <p:nvSpPr>
          <p:cNvPr id="4" name="Slide Number Placeholder 3"/>
          <p:cNvSpPr>
            <a:spLocks noGrp="1"/>
          </p:cNvSpPr>
          <p:nvPr>
            <p:ph type="sldNum" sz="quarter" idx="5"/>
          </p:nvPr>
        </p:nvSpPr>
        <p:spPr/>
        <p:txBody>
          <a:bodyPr/>
          <a:lstStyle/>
          <a:p>
            <a:fld id="{E134E988-953D-4EFC-A8A3-B36B4DA2F9D6}" type="slidenum">
              <a:rPr lang="en-US" smtClean="0"/>
              <a:t>18</a:t>
            </a:fld>
            <a:endParaRPr lang="en-US"/>
          </a:p>
        </p:txBody>
      </p:sp>
    </p:spTree>
    <p:extLst>
      <p:ext uri="{BB962C8B-B14F-4D97-AF65-F5344CB8AC3E}">
        <p14:creationId xmlns:p14="http://schemas.microsoft.com/office/powerpoint/2010/main" val="34813990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134E988-953D-4EFC-A8A3-B36B4DA2F9D6}" type="slidenum">
              <a:rPr lang="en-US" smtClean="0"/>
              <a:t>20</a:t>
            </a:fld>
            <a:endParaRPr lang="en-US"/>
          </a:p>
        </p:txBody>
      </p:sp>
    </p:spTree>
    <p:extLst>
      <p:ext uri="{BB962C8B-B14F-4D97-AF65-F5344CB8AC3E}">
        <p14:creationId xmlns:p14="http://schemas.microsoft.com/office/powerpoint/2010/main" val="26231628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Title 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B89DDD9-2A41-4CE1-BFEB-B8035DD76B26}"/>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838200" y="1989137"/>
            <a:ext cx="4775200" cy="1203325"/>
          </a:xfrm>
          <a:prstGeom prst="rect">
            <a:avLst/>
          </a:prstGeom>
        </p:spPr>
        <p:txBody>
          <a:bodyPr anchor="b">
            <a:normAutofit/>
          </a:bodyPr>
          <a:lstStyle>
            <a:lvl1pPr algn="l">
              <a:lnSpc>
                <a:spcPct val="100000"/>
              </a:lnSpc>
              <a:defRPr sz="4000">
                <a:solidFill>
                  <a:schemeClr val="bg2"/>
                </a:solidFill>
              </a:defRPr>
            </a:lvl1pPr>
          </a:lstStyle>
          <a:p>
            <a:r>
              <a:rPr lang="en-US"/>
              <a:t>Click to edit Master title style</a:t>
            </a:r>
            <a:endParaRPr lang="en-US" dirty="0"/>
          </a:p>
        </p:txBody>
      </p:sp>
      <p:sp>
        <p:nvSpPr>
          <p:cNvPr id="3" name="Subtitle 2"/>
          <p:cNvSpPr>
            <a:spLocks noGrp="1"/>
          </p:cNvSpPr>
          <p:nvPr>
            <p:ph type="subTitle" idx="1"/>
          </p:nvPr>
        </p:nvSpPr>
        <p:spPr>
          <a:xfrm>
            <a:off x="838200" y="3147219"/>
            <a:ext cx="4775200" cy="563562"/>
          </a:xfrm>
        </p:spPr>
        <p:txBody>
          <a:bodyPr>
            <a:normAutofit/>
          </a:bodyPr>
          <a:lstStyle>
            <a:lvl1pPr marL="0" indent="0" algn="l">
              <a:buNone/>
              <a:defRPr sz="1800" b="0" i="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Text Placeholder 7"/>
          <p:cNvSpPr>
            <a:spLocks noGrp="1"/>
          </p:cNvSpPr>
          <p:nvPr>
            <p:ph type="body" sz="quarter" idx="10" hasCustomPrompt="1"/>
          </p:nvPr>
        </p:nvSpPr>
        <p:spPr>
          <a:xfrm>
            <a:off x="838199" y="3998119"/>
            <a:ext cx="4775197" cy="352425"/>
          </a:xfrm>
        </p:spPr>
        <p:txBody>
          <a:bodyPr anchor="b">
            <a:noAutofit/>
          </a:bodyPr>
          <a:lstStyle>
            <a:lvl1pPr marL="0" indent="0" algn="l">
              <a:buNone/>
              <a:defRPr sz="1600" b="0" i="0" cap="none" baseline="0">
                <a:solidFill>
                  <a:schemeClr val="tx1"/>
                </a:solidFill>
                <a:latin typeface="+mn-lt"/>
                <a:cs typeface="Segoe UI Semilight" panose="020B0402040204020203" pitchFamily="34" charset="0"/>
              </a:defRPr>
            </a:lvl1pPr>
          </a:lstStyle>
          <a:p>
            <a:pPr lvl="0"/>
            <a:r>
              <a:rPr lang="en-US" dirty="0"/>
              <a:t>Insert Presenter</a:t>
            </a:r>
          </a:p>
        </p:txBody>
      </p:sp>
      <p:sp>
        <p:nvSpPr>
          <p:cNvPr id="13" name="Text Placeholder 7"/>
          <p:cNvSpPr>
            <a:spLocks noGrp="1"/>
          </p:cNvSpPr>
          <p:nvPr>
            <p:ph type="body" sz="quarter" idx="11" hasCustomPrompt="1"/>
          </p:nvPr>
        </p:nvSpPr>
        <p:spPr>
          <a:xfrm>
            <a:off x="838200" y="4293531"/>
            <a:ext cx="4775198" cy="352425"/>
          </a:xfrm>
        </p:spPr>
        <p:txBody>
          <a:bodyPr anchor="t">
            <a:noAutofit/>
          </a:bodyPr>
          <a:lstStyle>
            <a:lvl1pPr marL="0" indent="0" algn="l">
              <a:buNone/>
              <a:defRPr sz="1600" b="0" i="1" cap="none" baseline="0">
                <a:solidFill>
                  <a:schemeClr val="tx1"/>
                </a:solidFill>
                <a:latin typeface="+mn-lt"/>
                <a:cs typeface="Segoe UI Semilight" panose="020B0402040204020203" pitchFamily="34" charset="0"/>
              </a:defRPr>
            </a:lvl1pPr>
          </a:lstStyle>
          <a:p>
            <a:pPr lvl="0"/>
            <a:r>
              <a:rPr lang="en-US" dirty="0"/>
              <a:t>Insert Presenter</a:t>
            </a:r>
          </a:p>
        </p:txBody>
      </p:sp>
      <p:sp>
        <p:nvSpPr>
          <p:cNvPr id="8" name="Text Placeholder 7">
            <a:extLst>
              <a:ext uri="{FF2B5EF4-FFF2-40B4-BE49-F238E27FC236}">
                <a16:creationId xmlns:a16="http://schemas.microsoft.com/office/drawing/2014/main" id="{B3517E78-1ACA-4C29-8ABB-C9946D1D2D07}"/>
              </a:ext>
            </a:extLst>
          </p:cNvPr>
          <p:cNvSpPr>
            <a:spLocks noGrp="1"/>
          </p:cNvSpPr>
          <p:nvPr>
            <p:ph type="body" sz="quarter" idx="13" hasCustomPrompt="1"/>
          </p:nvPr>
        </p:nvSpPr>
        <p:spPr>
          <a:xfrm>
            <a:off x="838199" y="6086641"/>
            <a:ext cx="4775199" cy="352425"/>
          </a:xfrm>
        </p:spPr>
        <p:txBody>
          <a:bodyPr anchor="t">
            <a:noAutofit/>
          </a:bodyPr>
          <a:lstStyle>
            <a:lvl1pPr marL="0" indent="0" algn="l">
              <a:buNone/>
              <a:defRPr sz="1400" b="0" i="1" cap="none" baseline="0">
                <a:solidFill>
                  <a:schemeClr val="tx1">
                    <a:lumMod val="65000"/>
                    <a:lumOff val="35000"/>
                  </a:schemeClr>
                </a:solidFill>
                <a:latin typeface="+mn-lt"/>
                <a:cs typeface="Segoe UI Semilight" panose="020B0402040204020203" pitchFamily="34" charset="0"/>
              </a:defRPr>
            </a:lvl1pPr>
          </a:lstStyle>
          <a:p>
            <a:pPr lvl="0"/>
            <a:r>
              <a:rPr lang="en-US" dirty="0"/>
              <a:t>Insert Copyright</a:t>
            </a:r>
          </a:p>
        </p:txBody>
      </p:sp>
    </p:spTree>
    <p:extLst>
      <p:ext uri="{BB962C8B-B14F-4D97-AF65-F5344CB8AC3E}">
        <p14:creationId xmlns:p14="http://schemas.microsoft.com/office/powerpoint/2010/main" val="12791344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able od contents">
    <p:spTree>
      <p:nvGrpSpPr>
        <p:cNvPr id="1" name=""/>
        <p:cNvGrpSpPr/>
        <p:nvPr/>
      </p:nvGrpSpPr>
      <p:grpSpPr>
        <a:xfrm>
          <a:off x="0" y="0"/>
          <a:ext cx="0" cy="0"/>
          <a:chOff x="0" y="0"/>
          <a:chExt cx="0" cy="0"/>
        </a:xfrm>
      </p:grpSpPr>
      <p:sp>
        <p:nvSpPr>
          <p:cNvPr id="2" name="Title 1"/>
          <p:cNvSpPr>
            <a:spLocks noGrp="1"/>
          </p:cNvSpPr>
          <p:nvPr>
            <p:ph type="title"/>
          </p:nvPr>
        </p:nvSpPr>
        <p:spPr>
          <a:xfrm>
            <a:off x="6574766" y="1443210"/>
            <a:ext cx="4674259" cy="1109489"/>
          </a:xfrm>
          <a:prstGeom prst="rect">
            <a:avLst/>
          </a:prstGeom>
        </p:spPr>
        <p:txBody>
          <a:bodyPr>
            <a:noAutofit/>
          </a:bodyPr>
          <a:lstStyle>
            <a:lvl1pPr algn="l">
              <a:lnSpc>
                <a:spcPct val="100000"/>
              </a:lnSpc>
              <a:defRPr sz="3600"/>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459EC6C-9E3A-4E91-BA79-076256A3718B}"/>
              </a:ext>
            </a:extLst>
          </p:cNvPr>
          <p:cNvSpPr>
            <a:spLocks noGrp="1"/>
          </p:cNvSpPr>
          <p:nvPr>
            <p:ph sz="quarter" idx="21"/>
          </p:nvPr>
        </p:nvSpPr>
        <p:spPr>
          <a:xfrm>
            <a:off x="6574767" y="2638425"/>
            <a:ext cx="4674258" cy="3062916"/>
          </a:xfrm>
        </p:spPr>
        <p:txBody>
          <a:bodyPr/>
          <a:lstStyle>
            <a:lvl1pPr marL="0" indent="0">
              <a:buNone/>
              <a:defRPr/>
            </a:lvl1pPr>
            <a:lvl2pPr marL="457200" indent="0">
              <a:buNone/>
              <a:defRPr/>
            </a:lvl2pPr>
          </a:lstStyle>
          <a:p>
            <a:pPr lvl="0"/>
            <a:r>
              <a:rPr lang="en-US"/>
              <a:t>Click to edit Master text styles</a:t>
            </a:r>
          </a:p>
        </p:txBody>
      </p:sp>
    </p:spTree>
    <p:extLst>
      <p:ext uri="{BB962C8B-B14F-4D97-AF65-F5344CB8AC3E}">
        <p14:creationId xmlns:p14="http://schemas.microsoft.com/office/powerpoint/2010/main" val="3754769309"/>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Sub-Title 3">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8F0E14-F2D2-40EE-B550-2E1DF25F546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10800000">
            <a:off x="0" y="1257300"/>
            <a:ext cx="11353800" cy="4420486"/>
          </a:xfrm>
          <a:prstGeom prst="rect">
            <a:avLst/>
          </a:prstGeom>
        </p:spPr>
      </p:pic>
      <p:sp>
        <p:nvSpPr>
          <p:cNvPr id="2" name="Title 1"/>
          <p:cNvSpPr>
            <a:spLocks noGrp="1"/>
          </p:cNvSpPr>
          <p:nvPr>
            <p:ph type="ctrTitle" hasCustomPrompt="1"/>
          </p:nvPr>
        </p:nvSpPr>
        <p:spPr>
          <a:xfrm>
            <a:off x="6096000" y="1968500"/>
            <a:ext cx="5257800" cy="2921000"/>
          </a:xfrm>
          <a:prstGeom prst="rect">
            <a:avLst/>
          </a:prstGeom>
          <a:solidFill>
            <a:srgbClr val="6075A7">
              <a:alpha val="90000"/>
            </a:srgbClr>
          </a:solidFill>
        </p:spPr>
        <p:txBody>
          <a:bodyPr lIns="274320" rIns="274320" anchor="ctr">
            <a:normAutofit/>
          </a:bodyPr>
          <a:lstStyle>
            <a:lvl1pPr algn="ctr">
              <a:defRPr sz="3600">
                <a:solidFill>
                  <a:schemeClr val="bg1"/>
                </a:solidFill>
              </a:defRPr>
            </a:lvl1pPr>
          </a:lstStyle>
          <a:p>
            <a:r>
              <a:rPr lang="en-US" dirty="0"/>
              <a:t>Click to edit text</a:t>
            </a:r>
          </a:p>
        </p:txBody>
      </p:sp>
    </p:spTree>
    <p:extLst>
      <p:ext uri="{BB962C8B-B14F-4D97-AF65-F5344CB8AC3E}">
        <p14:creationId xmlns:p14="http://schemas.microsoft.com/office/powerpoint/2010/main" val="1313406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81309-E1D2-4F26-A4F9-FFB8C943E5D4}"/>
              </a:ext>
            </a:extLst>
          </p:cNvPr>
          <p:cNvSpPr>
            <a:spLocks noGrp="1"/>
          </p:cNvSpPr>
          <p:nvPr>
            <p:ph type="title"/>
          </p:nvPr>
        </p:nvSpPr>
        <p:spPr>
          <a:xfrm>
            <a:off x="838200" y="85946"/>
            <a:ext cx="10515600" cy="1005840"/>
          </a:xfrm>
        </p:spPr>
        <p:txBody>
          <a:bodyPr anchor="ctr"/>
          <a:lstStyle/>
          <a:p>
            <a:r>
              <a:rPr lang="en-US" dirty="0"/>
              <a:t>Click to edit Master title style</a:t>
            </a:r>
          </a:p>
        </p:txBody>
      </p:sp>
      <p:sp>
        <p:nvSpPr>
          <p:cNvPr id="3" name="Content Placeholder 2">
            <a:extLst>
              <a:ext uri="{FF2B5EF4-FFF2-40B4-BE49-F238E27FC236}">
                <a16:creationId xmlns:a16="http://schemas.microsoft.com/office/drawing/2014/main" id="{44C8D80D-BFBE-4224-B0FD-338333A3EB43}"/>
              </a:ext>
            </a:extLst>
          </p:cNvPr>
          <p:cNvSpPr>
            <a:spLocks noGrp="1"/>
          </p:cNvSpPr>
          <p:nvPr>
            <p:ph idx="1"/>
          </p:nvPr>
        </p:nvSpPr>
        <p:spPr>
          <a:xfrm>
            <a:off x="838200" y="1475118"/>
            <a:ext cx="10515600" cy="4701846"/>
          </a:xfrm>
        </p:spPr>
        <p:txBody>
          <a:bodyPr>
            <a:normAutofit/>
          </a:bodyPr>
          <a:lstStyle>
            <a:lvl1pPr marL="341313" indent="-341313">
              <a:spcBef>
                <a:spcPts val="1200"/>
              </a:spcBef>
              <a:spcAft>
                <a:spcPts val="1200"/>
              </a:spcAft>
              <a:defRPr sz="2400"/>
            </a:lvl1pPr>
            <a:lvl2pPr indent="-365760">
              <a:spcAft>
                <a:spcPts val="1200"/>
              </a:spcAft>
              <a:defRPr sz="2000"/>
            </a:lvl2pPr>
            <a:lvl3pPr>
              <a:spcBef>
                <a:spcPts val="0"/>
              </a:spcBef>
              <a:spcAft>
                <a:spcPts val="1200"/>
              </a:spcAft>
              <a:defRPr sz="1800"/>
            </a:lvl3pPr>
            <a:lvl4pPr>
              <a:spcBef>
                <a:spcPts val="0"/>
              </a:spcBef>
              <a:spcAft>
                <a:spcPts val="1200"/>
              </a:spcAft>
              <a:defRPr sz="1600"/>
            </a:lvl4pPr>
            <a:lvl5pPr>
              <a:spcBef>
                <a:spcPts val="0"/>
              </a:spcBef>
              <a:spcAft>
                <a:spcPts val="1200"/>
              </a:spcAft>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16310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B534E-9ED5-495E-AB44-D07DA8550A52}"/>
              </a:ext>
            </a:extLst>
          </p:cNvPr>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554017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D35DF-1F70-46F1-A748-D36FE54D19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E61D60-5377-4F10-B9D2-1E692A909FD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0DE07CB-1817-41F0-B7C1-C95291D8CF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97849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5D373335-659B-41D6-BEA3-A5ABE9C0E7D1}"/>
              </a:ext>
            </a:extLst>
          </p:cNvPr>
          <p:cNvSpPr>
            <a:spLocks noGrp="1"/>
          </p:cNvSpPr>
          <p:nvPr>
            <p:ph type="pic" sz="quarter" idx="10"/>
          </p:nvPr>
        </p:nvSpPr>
        <p:spPr>
          <a:xfrm>
            <a:off x="0" y="86266"/>
            <a:ext cx="12192000" cy="3342734"/>
          </a:xfrm>
        </p:spPr>
        <p:txBody>
          <a:bodyPr>
            <a:normAutofit/>
          </a:bodyPr>
          <a:lstStyle>
            <a:lvl1pPr marL="0" indent="0" algn="ctr">
              <a:buNone/>
              <a:defRPr sz="1400"/>
            </a:lvl1pPr>
          </a:lstStyle>
          <a:p>
            <a:r>
              <a:rPr lang="en-US"/>
              <a:t>Click icon to add picture</a:t>
            </a:r>
          </a:p>
        </p:txBody>
      </p:sp>
      <p:sp>
        <p:nvSpPr>
          <p:cNvPr id="2" name="Title 1">
            <a:extLst>
              <a:ext uri="{FF2B5EF4-FFF2-40B4-BE49-F238E27FC236}">
                <a16:creationId xmlns:a16="http://schemas.microsoft.com/office/drawing/2014/main" id="{0AC81309-E1D2-4F26-A4F9-FFB8C943E5D4}"/>
              </a:ext>
            </a:extLst>
          </p:cNvPr>
          <p:cNvSpPr>
            <a:spLocks noGrp="1"/>
          </p:cNvSpPr>
          <p:nvPr>
            <p:ph type="title"/>
          </p:nvPr>
        </p:nvSpPr>
        <p:spPr>
          <a:xfrm>
            <a:off x="838200" y="472027"/>
            <a:ext cx="10515600" cy="1314044"/>
          </a:xfrm>
        </p:spPr>
        <p:txBody>
          <a:bodyPr anchor="ctr">
            <a:normAutofit/>
          </a:bodyPr>
          <a:lstStyle>
            <a:lvl1pPr algn="ctr">
              <a:defRPr sz="4000">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4C8D80D-BFBE-4224-B0FD-338333A3EB43}"/>
              </a:ext>
            </a:extLst>
          </p:cNvPr>
          <p:cNvSpPr>
            <a:spLocks noGrp="1"/>
          </p:cNvSpPr>
          <p:nvPr>
            <p:ph idx="1" hasCustomPrompt="1"/>
          </p:nvPr>
        </p:nvSpPr>
        <p:spPr>
          <a:xfrm>
            <a:off x="838200" y="2016633"/>
            <a:ext cx="10515600" cy="1170948"/>
          </a:xfrm>
        </p:spPr>
        <p:txBody>
          <a:bodyPr anchor="ctr"/>
          <a:lstStyle>
            <a:lvl1pPr marL="0" indent="0" algn="ctr">
              <a:spcAft>
                <a:spcPts val="600"/>
              </a:spcAft>
              <a:buNone/>
              <a:defRPr>
                <a:solidFill>
                  <a:schemeClr val="bg1"/>
                </a:solidFill>
              </a:defRPr>
            </a:lvl1pPr>
          </a:lstStyle>
          <a:p>
            <a:pPr lvl="0"/>
            <a:r>
              <a:rPr lang="en-US"/>
              <a:t>.</a:t>
            </a:r>
            <a:endParaRPr lang="en-US" dirty="0"/>
          </a:p>
        </p:txBody>
      </p:sp>
    </p:spTree>
    <p:extLst>
      <p:ext uri="{BB962C8B-B14F-4D97-AF65-F5344CB8AC3E}">
        <p14:creationId xmlns:p14="http://schemas.microsoft.com/office/powerpoint/2010/main" val="33229623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E14CCB-9051-4F6A-9131-8255E9305A68}"/>
              </a:ext>
            </a:extLst>
          </p:cNvPr>
          <p:cNvSpPr>
            <a:spLocks noGrp="1"/>
          </p:cNvSpPr>
          <p:nvPr>
            <p:ph type="title"/>
          </p:nvPr>
        </p:nvSpPr>
        <p:spPr>
          <a:xfrm>
            <a:off x="838200" y="89777"/>
            <a:ext cx="10515600" cy="100584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CE99FA1-8031-432E-8A7D-1BFE9DD03D89}"/>
              </a:ext>
            </a:extLst>
          </p:cNvPr>
          <p:cNvSpPr>
            <a:spLocks noGrp="1"/>
          </p:cNvSpPr>
          <p:nvPr>
            <p:ph type="body" idx="1"/>
          </p:nvPr>
        </p:nvSpPr>
        <p:spPr>
          <a:xfrm>
            <a:off x="838200" y="1531620"/>
            <a:ext cx="10515600" cy="464534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008D4F9F-4D9E-432B-A227-7A43DAF636ED}"/>
              </a:ext>
            </a:extLst>
          </p:cNvPr>
          <p:cNvSpPr/>
          <p:nvPr userDrawn="1"/>
        </p:nvSpPr>
        <p:spPr>
          <a:xfrm>
            <a:off x="11077574" y="6153108"/>
            <a:ext cx="307181" cy="30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fld id="{06667E40-889B-4682-AE8F-17411A3B3E19}" type="slidenum">
              <a:rPr lang="en-US" sz="1000" b="0" i="0" smtClean="0">
                <a:solidFill>
                  <a:schemeClr val="bg2"/>
                </a:solidFill>
                <a:latin typeface="+mj-lt"/>
              </a:rPr>
              <a:t>‹#›</a:t>
            </a:fld>
            <a:endParaRPr lang="en-US" sz="1000" b="0" i="0" dirty="0">
              <a:solidFill>
                <a:schemeClr val="bg2"/>
              </a:solidFill>
              <a:latin typeface="+mj-lt"/>
            </a:endParaRPr>
          </a:p>
        </p:txBody>
      </p:sp>
      <p:cxnSp>
        <p:nvCxnSpPr>
          <p:cNvPr id="9" name="Straight Connector 8">
            <a:extLst>
              <a:ext uri="{FF2B5EF4-FFF2-40B4-BE49-F238E27FC236}">
                <a16:creationId xmlns:a16="http://schemas.microsoft.com/office/drawing/2014/main" id="{1463507A-51A1-4918-B0B1-4C8450A5B141}"/>
              </a:ext>
            </a:extLst>
          </p:cNvPr>
          <p:cNvCxnSpPr>
            <a:cxnSpLocks/>
          </p:cNvCxnSpPr>
          <p:nvPr userDrawn="1"/>
        </p:nvCxnSpPr>
        <p:spPr>
          <a:xfrm>
            <a:off x="2038218" y="6288416"/>
            <a:ext cx="904875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1834BBF0-2D33-41E3-97FA-31F6BFFFA7A4}"/>
              </a:ext>
            </a:extLst>
          </p:cNvPr>
          <p:cNvGrpSpPr/>
          <p:nvPr userDrawn="1"/>
        </p:nvGrpSpPr>
        <p:grpSpPr>
          <a:xfrm>
            <a:off x="880346" y="6176963"/>
            <a:ext cx="1103904" cy="189034"/>
            <a:chOff x="1004888" y="2554288"/>
            <a:chExt cx="10179051" cy="1743075"/>
          </a:xfrm>
        </p:grpSpPr>
        <p:sp>
          <p:nvSpPr>
            <p:cNvPr id="14" name="Freeform 5">
              <a:extLst>
                <a:ext uri="{FF2B5EF4-FFF2-40B4-BE49-F238E27FC236}">
                  <a16:creationId xmlns:a16="http://schemas.microsoft.com/office/drawing/2014/main" id="{67FFCB15-2412-4809-A328-02C842E0B09C}"/>
                </a:ext>
              </a:extLst>
            </p:cNvPr>
            <p:cNvSpPr>
              <a:spLocks/>
            </p:cNvSpPr>
            <p:nvPr/>
          </p:nvSpPr>
          <p:spPr bwMode="auto">
            <a:xfrm>
              <a:off x="1004888" y="2554288"/>
              <a:ext cx="1793875" cy="1743075"/>
            </a:xfrm>
            <a:custGeom>
              <a:avLst/>
              <a:gdLst>
                <a:gd name="T0" fmla="*/ 568 w 568"/>
                <a:gd name="T1" fmla="*/ 48 h 549"/>
                <a:gd name="T2" fmla="*/ 414 w 568"/>
                <a:gd name="T3" fmla="*/ 0 h 549"/>
                <a:gd name="T4" fmla="*/ 141 w 568"/>
                <a:gd name="T5" fmla="*/ 254 h 549"/>
                <a:gd name="T6" fmla="*/ 71 w 568"/>
                <a:gd name="T7" fmla="*/ 264 h 549"/>
                <a:gd name="T8" fmla="*/ 0 w 568"/>
                <a:gd name="T9" fmla="*/ 274 h 549"/>
                <a:gd name="T10" fmla="*/ 71 w 568"/>
                <a:gd name="T11" fmla="*/ 285 h 549"/>
                <a:gd name="T12" fmla="*/ 141 w 568"/>
                <a:gd name="T13" fmla="*/ 295 h 549"/>
                <a:gd name="T14" fmla="*/ 414 w 568"/>
                <a:gd name="T15" fmla="*/ 549 h 549"/>
                <a:gd name="T16" fmla="*/ 568 w 568"/>
                <a:gd name="T17" fmla="*/ 501 h 549"/>
                <a:gd name="T18" fmla="*/ 438 w 568"/>
                <a:gd name="T19" fmla="*/ 535 h 549"/>
                <a:gd name="T20" fmla="*/ 173 w 568"/>
                <a:gd name="T21" fmla="*/ 274 h 549"/>
                <a:gd name="T22" fmla="*/ 438 w 568"/>
                <a:gd name="T23" fmla="*/ 14 h 549"/>
                <a:gd name="T24" fmla="*/ 568 w 568"/>
                <a:gd name="T25" fmla="*/ 48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8" h="549">
                  <a:moveTo>
                    <a:pt x="568" y="48"/>
                  </a:moveTo>
                  <a:cubicBezTo>
                    <a:pt x="524" y="18"/>
                    <a:pt x="471" y="0"/>
                    <a:pt x="414" y="0"/>
                  </a:cubicBezTo>
                  <a:cubicBezTo>
                    <a:pt x="270" y="0"/>
                    <a:pt x="151" y="112"/>
                    <a:pt x="141" y="254"/>
                  </a:cubicBezTo>
                  <a:cubicBezTo>
                    <a:pt x="71" y="264"/>
                    <a:pt x="71" y="264"/>
                    <a:pt x="71" y="264"/>
                  </a:cubicBezTo>
                  <a:cubicBezTo>
                    <a:pt x="0" y="274"/>
                    <a:pt x="0" y="274"/>
                    <a:pt x="0" y="274"/>
                  </a:cubicBezTo>
                  <a:cubicBezTo>
                    <a:pt x="71" y="285"/>
                    <a:pt x="71" y="285"/>
                    <a:pt x="71" y="285"/>
                  </a:cubicBezTo>
                  <a:cubicBezTo>
                    <a:pt x="141" y="295"/>
                    <a:pt x="141" y="295"/>
                    <a:pt x="141" y="295"/>
                  </a:cubicBezTo>
                  <a:cubicBezTo>
                    <a:pt x="151" y="437"/>
                    <a:pt x="270" y="549"/>
                    <a:pt x="414" y="549"/>
                  </a:cubicBezTo>
                  <a:cubicBezTo>
                    <a:pt x="471" y="549"/>
                    <a:pt x="524" y="531"/>
                    <a:pt x="568" y="501"/>
                  </a:cubicBezTo>
                  <a:cubicBezTo>
                    <a:pt x="530" y="523"/>
                    <a:pt x="485" y="535"/>
                    <a:pt x="438" y="535"/>
                  </a:cubicBezTo>
                  <a:cubicBezTo>
                    <a:pt x="291" y="535"/>
                    <a:pt x="173" y="418"/>
                    <a:pt x="173" y="274"/>
                  </a:cubicBezTo>
                  <a:cubicBezTo>
                    <a:pt x="173" y="131"/>
                    <a:pt x="291" y="14"/>
                    <a:pt x="438" y="14"/>
                  </a:cubicBezTo>
                  <a:cubicBezTo>
                    <a:pt x="485" y="14"/>
                    <a:pt x="530" y="26"/>
                    <a:pt x="568" y="48"/>
                  </a:cubicBezTo>
                </a:path>
              </a:pathLst>
            </a:custGeom>
            <a:solidFill>
              <a:srgbClr val="F580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6">
              <a:extLst>
                <a:ext uri="{FF2B5EF4-FFF2-40B4-BE49-F238E27FC236}">
                  <a16:creationId xmlns:a16="http://schemas.microsoft.com/office/drawing/2014/main" id="{E5C5F44B-F22E-47F7-A763-C013120FDB16}"/>
                </a:ext>
              </a:extLst>
            </p:cNvPr>
            <p:cNvSpPr>
              <a:spLocks noEditPoints="1"/>
            </p:cNvSpPr>
            <p:nvPr/>
          </p:nvSpPr>
          <p:spPr bwMode="auto">
            <a:xfrm>
              <a:off x="1819276" y="2859088"/>
              <a:ext cx="3170238" cy="1133475"/>
            </a:xfrm>
            <a:custGeom>
              <a:avLst/>
              <a:gdLst>
                <a:gd name="T0" fmla="*/ 307 w 1004"/>
                <a:gd name="T1" fmla="*/ 306 h 357"/>
                <a:gd name="T2" fmla="*/ 179 w 1004"/>
                <a:gd name="T3" fmla="*/ 356 h 357"/>
                <a:gd name="T4" fmla="*/ 0 w 1004"/>
                <a:gd name="T5" fmla="*/ 183 h 357"/>
                <a:gd name="T6" fmla="*/ 179 w 1004"/>
                <a:gd name="T7" fmla="*/ 5 h 357"/>
                <a:gd name="T8" fmla="*/ 303 w 1004"/>
                <a:gd name="T9" fmla="*/ 56 h 357"/>
                <a:gd name="T10" fmla="*/ 260 w 1004"/>
                <a:gd name="T11" fmla="*/ 97 h 357"/>
                <a:gd name="T12" fmla="*/ 179 w 1004"/>
                <a:gd name="T13" fmla="*/ 65 h 357"/>
                <a:gd name="T14" fmla="*/ 63 w 1004"/>
                <a:gd name="T15" fmla="*/ 183 h 357"/>
                <a:gd name="T16" fmla="*/ 179 w 1004"/>
                <a:gd name="T17" fmla="*/ 297 h 357"/>
                <a:gd name="T18" fmla="*/ 264 w 1004"/>
                <a:gd name="T19" fmla="*/ 262 h 357"/>
                <a:gd name="T20" fmla="*/ 307 w 1004"/>
                <a:gd name="T21" fmla="*/ 306 h 357"/>
                <a:gd name="T22" fmla="*/ 607 w 1004"/>
                <a:gd name="T23" fmla="*/ 67 h 357"/>
                <a:gd name="T24" fmla="*/ 474 w 1004"/>
                <a:gd name="T25" fmla="*/ 0 h 357"/>
                <a:gd name="T26" fmla="*/ 344 w 1004"/>
                <a:gd name="T27" fmla="*/ 98 h 357"/>
                <a:gd name="T28" fmla="*/ 476 w 1004"/>
                <a:gd name="T29" fmla="*/ 200 h 357"/>
                <a:gd name="T30" fmla="*/ 554 w 1004"/>
                <a:gd name="T31" fmla="*/ 250 h 357"/>
                <a:gd name="T32" fmla="*/ 477 w 1004"/>
                <a:gd name="T33" fmla="*/ 300 h 357"/>
                <a:gd name="T34" fmla="*/ 382 w 1004"/>
                <a:gd name="T35" fmla="*/ 247 h 357"/>
                <a:gd name="T36" fmla="*/ 329 w 1004"/>
                <a:gd name="T37" fmla="*/ 274 h 357"/>
                <a:gd name="T38" fmla="*/ 476 w 1004"/>
                <a:gd name="T39" fmla="*/ 357 h 357"/>
                <a:gd name="T40" fmla="*/ 617 w 1004"/>
                <a:gd name="T41" fmla="*/ 250 h 357"/>
                <a:gd name="T42" fmla="*/ 481 w 1004"/>
                <a:gd name="T43" fmla="*/ 143 h 357"/>
                <a:gd name="T44" fmla="*/ 406 w 1004"/>
                <a:gd name="T45" fmla="*/ 100 h 357"/>
                <a:gd name="T46" fmla="*/ 476 w 1004"/>
                <a:gd name="T47" fmla="*/ 55 h 357"/>
                <a:gd name="T48" fmla="*/ 556 w 1004"/>
                <a:gd name="T49" fmla="*/ 93 h 357"/>
                <a:gd name="T50" fmla="*/ 607 w 1004"/>
                <a:gd name="T51" fmla="*/ 67 h 357"/>
                <a:gd name="T52" fmla="*/ 818 w 1004"/>
                <a:gd name="T53" fmla="*/ 82 h 357"/>
                <a:gd name="T54" fmla="*/ 755 w 1004"/>
                <a:gd name="T55" fmla="*/ 226 h 357"/>
                <a:gd name="T56" fmla="*/ 880 w 1004"/>
                <a:gd name="T57" fmla="*/ 226 h 357"/>
                <a:gd name="T58" fmla="*/ 818 w 1004"/>
                <a:gd name="T59" fmla="*/ 82 h 357"/>
                <a:gd name="T60" fmla="*/ 906 w 1004"/>
                <a:gd name="T61" fmla="*/ 285 h 357"/>
                <a:gd name="T62" fmla="*/ 729 w 1004"/>
                <a:gd name="T63" fmla="*/ 285 h 357"/>
                <a:gd name="T64" fmla="*/ 701 w 1004"/>
                <a:gd name="T65" fmla="*/ 349 h 357"/>
                <a:gd name="T66" fmla="*/ 632 w 1004"/>
                <a:gd name="T67" fmla="*/ 349 h 357"/>
                <a:gd name="T68" fmla="*/ 783 w 1004"/>
                <a:gd name="T69" fmla="*/ 11 h 357"/>
                <a:gd name="T70" fmla="*/ 852 w 1004"/>
                <a:gd name="T71" fmla="*/ 11 h 357"/>
                <a:gd name="T72" fmla="*/ 1004 w 1004"/>
                <a:gd name="T73" fmla="*/ 349 h 357"/>
                <a:gd name="T74" fmla="*/ 934 w 1004"/>
                <a:gd name="T75" fmla="*/ 349 h 357"/>
                <a:gd name="T76" fmla="*/ 906 w 1004"/>
                <a:gd name="T77" fmla="*/ 285 h 3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04" h="357">
                  <a:moveTo>
                    <a:pt x="307" y="306"/>
                  </a:moveTo>
                  <a:cubicBezTo>
                    <a:pt x="272" y="340"/>
                    <a:pt x="228" y="356"/>
                    <a:pt x="179" y="356"/>
                  </a:cubicBezTo>
                  <a:cubicBezTo>
                    <a:pt x="54" y="356"/>
                    <a:pt x="1" y="270"/>
                    <a:pt x="0" y="183"/>
                  </a:cubicBezTo>
                  <a:cubicBezTo>
                    <a:pt x="0" y="94"/>
                    <a:pt x="57" y="5"/>
                    <a:pt x="179" y="5"/>
                  </a:cubicBezTo>
                  <a:cubicBezTo>
                    <a:pt x="225" y="5"/>
                    <a:pt x="268" y="22"/>
                    <a:pt x="303" y="56"/>
                  </a:cubicBezTo>
                  <a:cubicBezTo>
                    <a:pt x="260" y="97"/>
                    <a:pt x="260" y="97"/>
                    <a:pt x="260" y="97"/>
                  </a:cubicBezTo>
                  <a:cubicBezTo>
                    <a:pt x="238" y="76"/>
                    <a:pt x="208" y="65"/>
                    <a:pt x="179" y="65"/>
                  </a:cubicBezTo>
                  <a:cubicBezTo>
                    <a:pt x="98" y="65"/>
                    <a:pt x="62" y="126"/>
                    <a:pt x="63" y="183"/>
                  </a:cubicBezTo>
                  <a:cubicBezTo>
                    <a:pt x="63" y="238"/>
                    <a:pt x="96" y="297"/>
                    <a:pt x="179" y="297"/>
                  </a:cubicBezTo>
                  <a:cubicBezTo>
                    <a:pt x="208" y="297"/>
                    <a:pt x="242" y="285"/>
                    <a:pt x="264" y="262"/>
                  </a:cubicBezTo>
                  <a:lnTo>
                    <a:pt x="307" y="306"/>
                  </a:lnTo>
                  <a:close/>
                  <a:moveTo>
                    <a:pt x="607" y="67"/>
                  </a:moveTo>
                  <a:cubicBezTo>
                    <a:pt x="581" y="15"/>
                    <a:pt x="527" y="0"/>
                    <a:pt x="474" y="0"/>
                  </a:cubicBezTo>
                  <a:cubicBezTo>
                    <a:pt x="412" y="0"/>
                    <a:pt x="344" y="29"/>
                    <a:pt x="344" y="98"/>
                  </a:cubicBezTo>
                  <a:cubicBezTo>
                    <a:pt x="344" y="174"/>
                    <a:pt x="407" y="192"/>
                    <a:pt x="476" y="200"/>
                  </a:cubicBezTo>
                  <a:cubicBezTo>
                    <a:pt x="521" y="205"/>
                    <a:pt x="554" y="218"/>
                    <a:pt x="554" y="250"/>
                  </a:cubicBezTo>
                  <a:cubicBezTo>
                    <a:pt x="554" y="287"/>
                    <a:pt x="517" y="300"/>
                    <a:pt x="477" y="300"/>
                  </a:cubicBezTo>
                  <a:cubicBezTo>
                    <a:pt x="436" y="300"/>
                    <a:pt x="397" y="284"/>
                    <a:pt x="382" y="247"/>
                  </a:cubicBezTo>
                  <a:cubicBezTo>
                    <a:pt x="329" y="274"/>
                    <a:pt x="329" y="274"/>
                    <a:pt x="329" y="274"/>
                  </a:cubicBezTo>
                  <a:cubicBezTo>
                    <a:pt x="354" y="336"/>
                    <a:pt x="407" y="357"/>
                    <a:pt x="476" y="357"/>
                  </a:cubicBezTo>
                  <a:cubicBezTo>
                    <a:pt x="551" y="357"/>
                    <a:pt x="617" y="325"/>
                    <a:pt x="617" y="250"/>
                  </a:cubicBezTo>
                  <a:cubicBezTo>
                    <a:pt x="617" y="170"/>
                    <a:pt x="552" y="151"/>
                    <a:pt x="481" y="143"/>
                  </a:cubicBezTo>
                  <a:cubicBezTo>
                    <a:pt x="441" y="138"/>
                    <a:pt x="406" y="130"/>
                    <a:pt x="406" y="100"/>
                  </a:cubicBezTo>
                  <a:cubicBezTo>
                    <a:pt x="406" y="75"/>
                    <a:pt x="429" y="55"/>
                    <a:pt x="476" y="55"/>
                  </a:cubicBezTo>
                  <a:cubicBezTo>
                    <a:pt x="513" y="55"/>
                    <a:pt x="545" y="74"/>
                    <a:pt x="556" y="93"/>
                  </a:cubicBezTo>
                  <a:lnTo>
                    <a:pt x="607" y="67"/>
                  </a:lnTo>
                  <a:close/>
                  <a:moveTo>
                    <a:pt x="818" y="82"/>
                  </a:moveTo>
                  <a:cubicBezTo>
                    <a:pt x="755" y="226"/>
                    <a:pt x="755" y="226"/>
                    <a:pt x="755" y="226"/>
                  </a:cubicBezTo>
                  <a:cubicBezTo>
                    <a:pt x="880" y="226"/>
                    <a:pt x="880" y="226"/>
                    <a:pt x="880" y="226"/>
                  </a:cubicBezTo>
                  <a:lnTo>
                    <a:pt x="818" y="82"/>
                  </a:lnTo>
                  <a:close/>
                  <a:moveTo>
                    <a:pt x="906" y="285"/>
                  </a:moveTo>
                  <a:cubicBezTo>
                    <a:pt x="729" y="285"/>
                    <a:pt x="729" y="285"/>
                    <a:pt x="729" y="285"/>
                  </a:cubicBezTo>
                  <a:cubicBezTo>
                    <a:pt x="701" y="349"/>
                    <a:pt x="701" y="349"/>
                    <a:pt x="701" y="349"/>
                  </a:cubicBezTo>
                  <a:cubicBezTo>
                    <a:pt x="632" y="349"/>
                    <a:pt x="632" y="349"/>
                    <a:pt x="632" y="349"/>
                  </a:cubicBezTo>
                  <a:cubicBezTo>
                    <a:pt x="783" y="11"/>
                    <a:pt x="783" y="11"/>
                    <a:pt x="783" y="11"/>
                  </a:cubicBezTo>
                  <a:cubicBezTo>
                    <a:pt x="852" y="11"/>
                    <a:pt x="852" y="11"/>
                    <a:pt x="852" y="11"/>
                  </a:cubicBezTo>
                  <a:cubicBezTo>
                    <a:pt x="1004" y="349"/>
                    <a:pt x="1004" y="349"/>
                    <a:pt x="1004" y="349"/>
                  </a:cubicBezTo>
                  <a:cubicBezTo>
                    <a:pt x="934" y="349"/>
                    <a:pt x="934" y="349"/>
                    <a:pt x="934" y="349"/>
                  </a:cubicBezTo>
                  <a:lnTo>
                    <a:pt x="906" y="285"/>
                  </a:lnTo>
                  <a:close/>
                </a:path>
              </a:pathLst>
            </a:custGeom>
            <a:solidFill>
              <a:srgbClr val="F580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7">
              <a:extLst>
                <a:ext uri="{FF2B5EF4-FFF2-40B4-BE49-F238E27FC236}">
                  <a16:creationId xmlns:a16="http://schemas.microsoft.com/office/drawing/2014/main" id="{3B7EC61F-303B-4E0D-9FCE-37E7341C7F92}"/>
                </a:ext>
              </a:extLst>
            </p:cNvPr>
            <p:cNvSpPr>
              <a:spLocks noEditPoints="1"/>
            </p:cNvSpPr>
            <p:nvPr/>
          </p:nvSpPr>
          <p:spPr bwMode="auto">
            <a:xfrm>
              <a:off x="5229226" y="2894013"/>
              <a:ext cx="5954713" cy="1085850"/>
            </a:xfrm>
            <a:custGeom>
              <a:avLst/>
              <a:gdLst>
                <a:gd name="T0" fmla="*/ 230 w 1886"/>
                <a:gd name="T1" fmla="*/ 107 h 342"/>
                <a:gd name="T2" fmla="*/ 34 w 1886"/>
                <a:gd name="T3" fmla="*/ 182 h 342"/>
                <a:gd name="T4" fmla="*/ 152 w 1886"/>
                <a:gd name="T5" fmla="*/ 32 h 342"/>
                <a:gd name="T6" fmla="*/ 263 w 1886"/>
                <a:gd name="T7" fmla="*/ 107 h 342"/>
                <a:gd name="T8" fmla="*/ 0 w 1886"/>
                <a:gd name="T9" fmla="*/ 0 h 342"/>
                <a:gd name="T10" fmla="*/ 34 w 1886"/>
                <a:gd name="T11" fmla="*/ 338 h 342"/>
                <a:gd name="T12" fmla="*/ 121 w 1886"/>
                <a:gd name="T13" fmla="*/ 213 h 342"/>
                <a:gd name="T14" fmla="*/ 277 w 1886"/>
                <a:gd name="T15" fmla="*/ 338 h 342"/>
                <a:gd name="T16" fmla="*/ 300 w 1886"/>
                <a:gd name="T17" fmla="*/ 205 h 342"/>
                <a:gd name="T18" fmla="*/ 477 w 1886"/>
                <a:gd name="T19" fmla="*/ 205 h 342"/>
                <a:gd name="T20" fmla="*/ 507 w 1886"/>
                <a:gd name="T21" fmla="*/ 232 h 342"/>
                <a:gd name="T22" fmla="*/ 267 w 1886"/>
                <a:gd name="T23" fmla="*/ 218 h 342"/>
                <a:gd name="T24" fmla="*/ 492 w 1886"/>
                <a:gd name="T25" fmla="*/ 298 h 342"/>
                <a:gd name="T26" fmla="*/ 390 w 1886"/>
                <a:gd name="T27" fmla="*/ 311 h 342"/>
                <a:gd name="T28" fmla="*/ 507 w 1886"/>
                <a:gd name="T29" fmla="*/ 232 h 342"/>
                <a:gd name="T30" fmla="*/ 627 w 1886"/>
                <a:gd name="T31" fmla="*/ 95 h 342"/>
                <a:gd name="T32" fmla="*/ 625 w 1886"/>
                <a:gd name="T33" fmla="*/ 230 h 342"/>
                <a:gd name="T34" fmla="*/ 629 w 1886"/>
                <a:gd name="T35" fmla="*/ 313 h 342"/>
                <a:gd name="T36" fmla="*/ 523 w 1886"/>
                <a:gd name="T37" fmla="*/ 296 h 342"/>
                <a:gd name="T38" fmla="*/ 726 w 1886"/>
                <a:gd name="T39" fmla="*/ 273 h 342"/>
                <a:gd name="T40" fmla="*/ 563 w 1886"/>
                <a:gd name="T41" fmla="*/ 163 h 342"/>
                <a:gd name="T42" fmla="*/ 698 w 1886"/>
                <a:gd name="T43" fmla="*/ 148 h 342"/>
                <a:gd name="T44" fmla="*/ 776 w 1886"/>
                <a:gd name="T45" fmla="*/ 205 h 342"/>
                <a:gd name="T46" fmla="*/ 953 w 1886"/>
                <a:gd name="T47" fmla="*/ 205 h 342"/>
                <a:gd name="T48" fmla="*/ 983 w 1886"/>
                <a:gd name="T49" fmla="*/ 232 h 342"/>
                <a:gd name="T50" fmla="*/ 743 w 1886"/>
                <a:gd name="T51" fmla="*/ 218 h 342"/>
                <a:gd name="T52" fmla="*/ 968 w 1886"/>
                <a:gd name="T53" fmla="*/ 298 h 342"/>
                <a:gd name="T54" fmla="*/ 866 w 1886"/>
                <a:gd name="T55" fmla="*/ 311 h 342"/>
                <a:gd name="T56" fmla="*/ 983 w 1886"/>
                <a:gd name="T57" fmla="*/ 232 h 342"/>
                <a:gd name="T58" fmla="*/ 1128 w 1886"/>
                <a:gd name="T59" fmla="*/ 312 h 342"/>
                <a:gd name="T60" fmla="*/ 1128 w 1886"/>
                <a:gd name="T61" fmla="*/ 126 h 342"/>
                <a:gd name="T62" fmla="*/ 1127 w 1886"/>
                <a:gd name="T63" fmla="*/ 96 h 342"/>
                <a:gd name="T64" fmla="*/ 1126 w 1886"/>
                <a:gd name="T65" fmla="*/ 342 h 342"/>
                <a:gd name="T66" fmla="*/ 1221 w 1886"/>
                <a:gd name="T67" fmla="*/ 338 h 342"/>
                <a:gd name="T68" fmla="*/ 1250 w 1886"/>
                <a:gd name="T69" fmla="*/ 100 h 342"/>
                <a:gd name="T70" fmla="*/ 1220 w 1886"/>
                <a:gd name="T71" fmla="*/ 147 h 342"/>
                <a:gd name="T72" fmla="*/ 1280 w 1886"/>
                <a:gd name="T73" fmla="*/ 338 h 342"/>
                <a:gd name="T74" fmla="*/ 1312 w 1886"/>
                <a:gd name="T75" fmla="*/ 202 h 342"/>
                <a:gd name="T76" fmla="*/ 1427 w 1886"/>
                <a:gd name="T77" fmla="*/ 140 h 342"/>
                <a:gd name="T78" fmla="*/ 1388 w 1886"/>
                <a:gd name="T79" fmla="*/ 96 h 342"/>
                <a:gd name="T80" fmla="*/ 1310 w 1886"/>
                <a:gd name="T81" fmla="*/ 100 h 342"/>
                <a:gd name="T82" fmla="*/ 1627 w 1886"/>
                <a:gd name="T83" fmla="*/ 284 h 342"/>
                <a:gd name="T84" fmla="*/ 1469 w 1886"/>
                <a:gd name="T85" fmla="*/ 219 h 342"/>
                <a:gd name="T86" fmla="*/ 1624 w 1886"/>
                <a:gd name="T87" fmla="*/ 152 h 342"/>
                <a:gd name="T88" fmla="*/ 1561 w 1886"/>
                <a:gd name="T89" fmla="*/ 96 h 342"/>
                <a:gd name="T90" fmla="*/ 1561 w 1886"/>
                <a:gd name="T91" fmla="*/ 342 h 342"/>
                <a:gd name="T92" fmla="*/ 1627 w 1886"/>
                <a:gd name="T93" fmla="*/ 284 h 342"/>
                <a:gd name="T94" fmla="*/ 1672 w 1886"/>
                <a:gd name="T95" fmla="*/ 338 h 342"/>
                <a:gd name="T96" fmla="*/ 1704 w 1886"/>
                <a:gd name="T97" fmla="*/ 210 h 342"/>
                <a:gd name="T98" fmla="*/ 1854 w 1886"/>
                <a:gd name="T99" fmla="*/ 204 h 342"/>
                <a:gd name="T100" fmla="*/ 1886 w 1886"/>
                <a:gd name="T101" fmla="*/ 338 h 342"/>
                <a:gd name="T102" fmla="*/ 1787 w 1886"/>
                <a:gd name="T103" fmla="*/ 96 h 342"/>
                <a:gd name="T104" fmla="*/ 1704 w 1886"/>
                <a:gd name="T105" fmla="*/ 0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86" h="342">
                  <a:moveTo>
                    <a:pt x="152" y="32"/>
                  </a:moveTo>
                  <a:cubicBezTo>
                    <a:pt x="204" y="32"/>
                    <a:pt x="230" y="65"/>
                    <a:pt x="230" y="107"/>
                  </a:cubicBezTo>
                  <a:cubicBezTo>
                    <a:pt x="230" y="150"/>
                    <a:pt x="204" y="182"/>
                    <a:pt x="150" y="182"/>
                  </a:cubicBezTo>
                  <a:cubicBezTo>
                    <a:pt x="34" y="182"/>
                    <a:pt x="34" y="182"/>
                    <a:pt x="34" y="182"/>
                  </a:cubicBezTo>
                  <a:cubicBezTo>
                    <a:pt x="34" y="32"/>
                    <a:pt x="34" y="32"/>
                    <a:pt x="34" y="32"/>
                  </a:cubicBezTo>
                  <a:lnTo>
                    <a:pt x="152" y="32"/>
                  </a:lnTo>
                  <a:close/>
                  <a:moveTo>
                    <a:pt x="162" y="211"/>
                  </a:moveTo>
                  <a:cubicBezTo>
                    <a:pt x="233" y="208"/>
                    <a:pt x="264" y="160"/>
                    <a:pt x="263" y="107"/>
                  </a:cubicBezTo>
                  <a:cubicBezTo>
                    <a:pt x="263" y="50"/>
                    <a:pt x="227" y="0"/>
                    <a:pt x="152" y="0"/>
                  </a:cubicBezTo>
                  <a:cubicBezTo>
                    <a:pt x="101" y="0"/>
                    <a:pt x="51" y="0"/>
                    <a:pt x="0" y="0"/>
                  </a:cubicBezTo>
                  <a:cubicBezTo>
                    <a:pt x="0" y="338"/>
                    <a:pt x="0" y="338"/>
                    <a:pt x="0" y="338"/>
                  </a:cubicBezTo>
                  <a:cubicBezTo>
                    <a:pt x="34" y="338"/>
                    <a:pt x="34" y="338"/>
                    <a:pt x="34" y="338"/>
                  </a:cubicBezTo>
                  <a:cubicBezTo>
                    <a:pt x="34" y="213"/>
                    <a:pt x="34" y="213"/>
                    <a:pt x="34" y="213"/>
                  </a:cubicBezTo>
                  <a:cubicBezTo>
                    <a:pt x="121" y="213"/>
                    <a:pt x="121" y="213"/>
                    <a:pt x="121" y="213"/>
                  </a:cubicBezTo>
                  <a:cubicBezTo>
                    <a:pt x="233" y="338"/>
                    <a:pt x="233" y="338"/>
                    <a:pt x="233" y="338"/>
                  </a:cubicBezTo>
                  <a:cubicBezTo>
                    <a:pt x="277" y="338"/>
                    <a:pt x="277" y="338"/>
                    <a:pt x="277" y="338"/>
                  </a:cubicBezTo>
                  <a:lnTo>
                    <a:pt x="162" y="211"/>
                  </a:lnTo>
                  <a:close/>
                  <a:moveTo>
                    <a:pt x="300" y="205"/>
                  </a:moveTo>
                  <a:cubicBezTo>
                    <a:pt x="306" y="153"/>
                    <a:pt x="341" y="124"/>
                    <a:pt x="389" y="124"/>
                  </a:cubicBezTo>
                  <a:cubicBezTo>
                    <a:pt x="437" y="124"/>
                    <a:pt x="476" y="153"/>
                    <a:pt x="477" y="205"/>
                  </a:cubicBezTo>
                  <a:lnTo>
                    <a:pt x="300" y="205"/>
                  </a:lnTo>
                  <a:close/>
                  <a:moveTo>
                    <a:pt x="507" y="232"/>
                  </a:moveTo>
                  <a:cubicBezTo>
                    <a:pt x="516" y="138"/>
                    <a:pt x="459" y="95"/>
                    <a:pt x="389" y="95"/>
                  </a:cubicBezTo>
                  <a:cubicBezTo>
                    <a:pt x="318" y="95"/>
                    <a:pt x="267" y="147"/>
                    <a:pt x="267" y="218"/>
                  </a:cubicBezTo>
                  <a:cubicBezTo>
                    <a:pt x="267" y="294"/>
                    <a:pt x="319" y="342"/>
                    <a:pt x="390" y="342"/>
                  </a:cubicBezTo>
                  <a:cubicBezTo>
                    <a:pt x="428" y="342"/>
                    <a:pt x="469" y="327"/>
                    <a:pt x="492" y="298"/>
                  </a:cubicBezTo>
                  <a:cubicBezTo>
                    <a:pt x="471" y="278"/>
                    <a:pt x="471" y="278"/>
                    <a:pt x="471" y="278"/>
                  </a:cubicBezTo>
                  <a:cubicBezTo>
                    <a:pt x="454" y="300"/>
                    <a:pt x="419" y="311"/>
                    <a:pt x="390" y="311"/>
                  </a:cubicBezTo>
                  <a:cubicBezTo>
                    <a:pt x="343" y="311"/>
                    <a:pt x="304" y="282"/>
                    <a:pt x="300" y="232"/>
                  </a:cubicBezTo>
                  <a:lnTo>
                    <a:pt x="507" y="232"/>
                  </a:lnTo>
                  <a:close/>
                  <a:moveTo>
                    <a:pt x="717" y="127"/>
                  </a:moveTo>
                  <a:cubicBezTo>
                    <a:pt x="692" y="105"/>
                    <a:pt x="663" y="95"/>
                    <a:pt x="627" y="95"/>
                  </a:cubicBezTo>
                  <a:cubicBezTo>
                    <a:pt x="580" y="94"/>
                    <a:pt x="531" y="115"/>
                    <a:pt x="531" y="164"/>
                  </a:cubicBezTo>
                  <a:cubicBezTo>
                    <a:pt x="532" y="213"/>
                    <a:pt x="579" y="224"/>
                    <a:pt x="625" y="230"/>
                  </a:cubicBezTo>
                  <a:cubicBezTo>
                    <a:pt x="663" y="236"/>
                    <a:pt x="694" y="241"/>
                    <a:pt x="694" y="273"/>
                  </a:cubicBezTo>
                  <a:cubicBezTo>
                    <a:pt x="694" y="305"/>
                    <a:pt x="656" y="313"/>
                    <a:pt x="629" y="313"/>
                  </a:cubicBezTo>
                  <a:cubicBezTo>
                    <a:pt x="599" y="312"/>
                    <a:pt x="563" y="302"/>
                    <a:pt x="543" y="274"/>
                  </a:cubicBezTo>
                  <a:cubicBezTo>
                    <a:pt x="523" y="296"/>
                    <a:pt x="523" y="296"/>
                    <a:pt x="523" y="296"/>
                  </a:cubicBezTo>
                  <a:cubicBezTo>
                    <a:pt x="547" y="329"/>
                    <a:pt x="588" y="342"/>
                    <a:pt x="629" y="342"/>
                  </a:cubicBezTo>
                  <a:cubicBezTo>
                    <a:pt x="677" y="342"/>
                    <a:pt x="725" y="323"/>
                    <a:pt x="726" y="273"/>
                  </a:cubicBezTo>
                  <a:cubicBezTo>
                    <a:pt x="726" y="215"/>
                    <a:pt x="671" y="208"/>
                    <a:pt x="628" y="202"/>
                  </a:cubicBezTo>
                  <a:cubicBezTo>
                    <a:pt x="598" y="198"/>
                    <a:pt x="563" y="191"/>
                    <a:pt x="563" y="163"/>
                  </a:cubicBezTo>
                  <a:cubicBezTo>
                    <a:pt x="562" y="136"/>
                    <a:pt x="593" y="124"/>
                    <a:pt x="628" y="124"/>
                  </a:cubicBezTo>
                  <a:cubicBezTo>
                    <a:pt x="653" y="124"/>
                    <a:pt x="676" y="128"/>
                    <a:pt x="698" y="148"/>
                  </a:cubicBezTo>
                  <a:lnTo>
                    <a:pt x="717" y="127"/>
                  </a:lnTo>
                  <a:close/>
                  <a:moveTo>
                    <a:pt x="776" y="205"/>
                  </a:moveTo>
                  <a:cubicBezTo>
                    <a:pt x="782" y="153"/>
                    <a:pt x="817" y="124"/>
                    <a:pt x="865" y="124"/>
                  </a:cubicBezTo>
                  <a:cubicBezTo>
                    <a:pt x="913" y="124"/>
                    <a:pt x="952" y="153"/>
                    <a:pt x="953" y="205"/>
                  </a:cubicBezTo>
                  <a:lnTo>
                    <a:pt x="776" y="205"/>
                  </a:lnTo>
                  <a:close/>
                  <a:moveTo>
                    <a:pt x="983" y="232"/>
                  </a:moveTo>
                  <a:cubicBezTo>
                    <a:pt x="992" y="138"/>
                    <a:pt x="935" y="95"/>
                    <a:pt x="864" y="95"/>
                  </a:cubicBezTo>
                  <a:cubicBezTo>
                    <a:pt x="794" y="95"/>
                    <a:pt x="743" y="147"/>
                    <a:pt x="743" y="218"/>
                  </a:cubicBezTo>
                  <a:cubicBezTo>
                    <a:pt x="743" y="294"/>
                    <a:pt x="795" y="342"/>
                    <a:pt x="866" y="342"/>
                  </a:cubicBezTo>
                  <a:cubicBezTo>
                    <a:pt x="904" y="342"/>
                    <a:pt x="944" y="327"/>
                    <a:pt x="968" y="298"/>
                  </a:cubicBezTo>
                  <a:cubicBezTo>
                    <a:pt x="946" y="278"/>
                    <a:pt x="946" y="278"/>
                    <a:pt x="946" y="278"/>
                  </a:cubicBezTo>
                  <a:cubicBezTo>
                    <a:pt x="930" y="300"/>
                    <a:pt x="895" y="311"/>
                    <a:pt x="866" y="311"/>
                  </a:cubicBezTo>
                  <a:cubicBezTo>
                    <a:pt x="819" y="311"/>
                    <a:pt x="780" y="282"/>
                    <a:pt x="776" y="232"/>
                  </a:cubicBezTo>
                  <a:lnTo>
                    <a:pt x="983" y="232"/>
                  </a:lnTo>
                  <a:close/>
                  <a:moveTo>
                    <a:pt x="1128" y="126"/>
                  </a:moveTo>
                  <a:cubicBezTo>
                    <a:pt x="1250" y="126"/>
                    <a:pt x="1250" y="312"/>
                    <a:pt x="1128" y="312"/>
                  </a:cubicBezTo>
                  <a:cubicBezTo>
                    <a:pt x="1078" y="312"/>
                    <a:pt x="1037" y="275"/>
                    <a:pt x="1037" y="219"/>
                  </a:cubicBezTo>
                  <a:cubicBezTo>
                    <a:pt x="1037" y="163"/>
                    <a:pt x="1078" y="126"/>
                    <a:pt x="1128" y="126"/>
                  </a:cubicBezTo>
                  <a:moveTo>
                    <a:pt x="1220" y="147"/>
                  </a:moveTo>
                  <a:cubicBezTo>
                    <a:pt x="1202" y="113"/>
                    <a:pt x="1163" y="96"/>
                    <a:pt x="1127" y="96"/>
                  </a:cubicBezTo>
                  <a:cubicBezTo>
                    <a:pt x="1059" y="96"/>
                    <a:pt x="1005" y="144"/>
                    <a:pt x="1005" y="219"/>
                  </a:cubicBezTo>
                  <a:cubicBezTo>
                    <a:pt x="1005" y="294"/>
                    <a:pt x="1059" y="342"/>
                    <a:pt x="1126" y="342"/>
                  </a:cubicBezTo>
                  <a:cubicBezTo>
                    <a:pt x="1162" y="342"/>
                    <a:pt x="1200" y="326"/>
                    <a:pt x="1221" y="290"/>
                  </a:cubicBezTo>
                  <a:cubicBezTo>
                    <a:pt x="1221" y="338"/>
                    <a:pt x="1221" y="338"/>
                    <a:pt x="1221" y="338"/>
                  </a:cubicBezTo>
                  <a:cubicBezTo>
                    <a:pt x="1250" y="338"/>
                    <a:pt x="1250" y="338"/>
                    <a:pt x="1250" y="338"/>
                  </a:cubicBezTo>
                  <a:cubicBezTo>
                    <a:pt x="1250" y="258"/>
                    <a:pt x="1250" y="179"/>
                    <a:pt x="1250" y="100"/>
                  </a:cubicBezTo>
                  <a:cubicBezTo>
                    <a:pt x="1220" y="100"/>
                    <a:pt x="1220" y="100"/>
                    <a:pt x="1220" y="100"/>
                  </a:cubicBezTo>
                  <a:lnTo>
                    <a:pt x="1220" y="147"/>
                  </a:lnTo>
                  <a:close/>
                  <a:moveTo>
                    <a:pt x="1280" y="100"/>
                  </a:moveTo>
                  <a:cubicBezTo>
                    <a:pt x="1280" y="338"/>
                    <a:pt x="1280" y="338"/>
                    <a:pt x="1280" y="338"/>
                  </a:cubicBezTo>
                  <a:cubicBezTo>
                    <a:pt x="1312" y="338"/>
                    <a:pt x="1312" y="338"/>
                    <a:pt x="1312" y="338"/>
                  </a:cubicBezTo>
                  <a:cubicBezTo>
                    <a:pt x="1312" y="202"/>
                    <a:pt x="1312" y="202"/>
                    <a:pt x="1312" y="202"/>
                  </a:cubicBezTo>
                  <a:cubicBezTo>
                    <a:pt x="1312" y="159"/>
                    <a:pt x="1345" y="128"/>
                    <a:pt x="1386" y="127"/>
                  </a:cubicBezTo>
                  <a:cubicBezTo>
                    <a:pt x="1401" y="127"/>
                    <a:pt x="1415" y="132"/>
                    <a:pt x="1427" y="140"/>
                  </a:cubicBezTo>
                  <a:cubicBezTo>
                    <a:pt x="1442" y="113"/>
                    <a:pt x="1442" y="113"/>
                    <a:pt x="1442" y="113"/>
                  </a:cubicBezTo>
                  <a:cubicBezTo>
                    <a:pt x="1425" y="101"/>
                    <a:pt x="1410" y="96"/>
                    <a:pt x="1388" y="96"/>
                  </a:cubicBezTo>
                  <a:cubicBezTo>
                    <a:pt x="1360" y="96"/>
                    <a:pt x="1328" y="107"/>
                    <a:pt x="1312" y="139"/>
                  </a:cubicBezTo>
                  <a:cubicBezTo>
                    <a:pt x="1310" y="100"/>
                    <a:pt x="1310" y="100"/>
                    <a:pt x="1310" y="100"/>
                  </a:cubicBezTo>
                  <a:lnTo>
                    <a:pt x="1280" y="100"/>
                  </a:lnTo>
                  <a:close/>
                  <a:moveTo>
                    <a:pt x="1627" y="284"/>
                  </a:moveTo>
                  <a:cubicBezTo>
                    <a:pt x="1609" y="302"/>
                    <a:pt x="1585" y="311"/>
                    <a:pt x="1561" y="311"/>
                  </a:cubicBezTo>
                  <a:cubicBezTo>
                    <a:pt x="1511" y="311"/>
                    <a:pt x="1469" y="278"/>
                    <a:pt x="1469" y="219"/>
                  </a:cubicBezTo>
                  <a:cubicBezTo>
                    <a:pt x="1469" y="160"/>
                    <a:pt x="1511" y="126"/>
                    <a:pt x="1561" y="126"/>
                  </a:cubicBezTo>
                  <a:cubicBezTo>
                    <a:pt x="1584" y="126"/>
                    <a:pt x="1606" y="134"/>
                    <a:pt x="1624" y="152"/>
                  </a:cubicBezTo>
                  <a:cubicBezTo>
                    <a:pt x="1646" y="131"/>
                    <a:pt x="1646" y="131"/>
                    <a:pt x="1646" y="131"/>
                  </a:cubicBezTo>
                  <a:cubicBezTo>
                    <a:pt x="1620" y="107"/>
                    <a:pt x="1593" y="96"/>
                    <a:pt x="1561" y="96"/>
                  </a:cubicBezTo>
                  <a:cubicBezTo>
                    <a:pt x="1491" y="96"/>
                    <a:pt x="1437" y="141"/>
                    <a:pt x="1437" y="219"/>
                  </a:cubicBezTo>
                  <a:cubicBezTo>
                    <a:pt x="1437" y="297"/>
                    <a:pt x="1493" y="342"/>
                    <a:pt x="1561" y="342"/>
                  </a:cubicBezTo>
                  <a:cubicBezTo>
                    <a:pt x="1593" y="342"/>
                    <a:pt x="1624" y="330"/>
                    <a:pt x="1649" y="306"/>
                  </a:cubicBezTo>
                  <a:lnTo>
                    <a:pt x="1627" y="284"/>
                  </a:lnTo>
                  <a:close/>
                  <a:moveTo>
                    <a:pt x="1672" y="0"/>
                  </a:moveTo>
                  <a:cubicBezTo>
                    <a:pt x="1672" y="338"/>
                    <a:pt x="1672" y="338"/>
                    <a:pt x="1672" y="338"/>
                  </a:cubicBezTo>
                  <a:cubicBezTo>
                    <a:pt x="1704" y="338"/>
                    <a:pt x="1704" y="338"/>
                    <a:pt x="1704" y="338"/>
                  </a:cubicBezTo>
                  <a:cubicBezTo>
                    <a:pt x="1704" y="210"/>
                    <a:pt x="1704" y="210"/>
                    <a:pt x="1704" y="210"/>
                  </a:cubicBezTo>
                  <a:cubicBezTo>
                    <a:pt x="1704" y="163"/>
                    <a:pt x="1737" y="127"/>
                    <a:pt x="1783" y="127"/>
                  </a:cubicBezTo>
                  <a:cubicBezTo>
                    <a:pt x="1831" y="127"/>
                    <a:pt x="1854" y="157"/>
                    <a:pt x="1854" y="204"/>
                  </a:cubicBezTo>
                  <a:cubicBezTo>
                    <a:pt x="1854" y="338"/>
                    <a:pt x="1854" y="338"/>
                    <a:pt x="1854" y="338"/>
                  </a:cubicBezTo>
                  <a:cubicBezTo>
                    <a:pt x="1886" y="338"/>
                    <a:pt x="1886" y="338"/>
                    <a:pt x="1886" y="338"/>
                  </a:cubicBezTo>
                  <a:cubicBezTo>
                    <a:pt x="1886" y="204"/>
                    <a:pt x="1886" y="204"/>
                    <a:pt x="1886" y="204"/>
                  </a:cubicBezTo>
                  <a:cubicBezTo>
                    <a:pt x="1886" y="140"/>
                    <a:pt x="1853" y="96"/>
                    <a:pt x="1787" y="96"/>
                  </a:cubicBezTo>
                  <a:cubicBezTo>
                    <a:pt x="1755" y="97"/>
                    <a:pt x="1724" y="109"/>
                    <a:pt x="1704" y="141"/>
                  </a:cubicBezTo>
                  <a:cubicBezTo>
                    <a:pt x="1704" y="0"/>
                    <a:pt x="1704" y="0"/>
                    <a:pt x="1704" y="0"/>
                  </a:cubicBezTo>
                  <a:lnTo>
                    <a:pt x="1672" y="0"/>
                  </a:lnTo>
                  <a:close/>
                </a:path>
              </a:pathLst>
            </a:custGeom>
            <a:solidFill>
              <a:srgbClr val="6C7A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1" name="Rectangle 10">
            <a:extLst>
              <a:ext uri="{FF2B5EF4-FFF2-40B4-BE49-F238E27FC236}">
                <a16:creationId xmlns:a16="http://schemas.microsoft.com/office/drawing/2014/main" id="{C3FEFC55-8C3A-42B5-9210-060C33C6EFC1}"/>
              </a:ext>
            </a:extLst>
          </p:cNvPr>
          <p:cNvSpPr/>
          <p:nvPr userDrawn="1"/>
        </p:nvSpPr>
        <p:spPr>
          <a:xfrm>
            <a:off x="4957709" y="6414677"/>
            <a:ext cx="2276585" cy="246221"/>
          </a:xfrm>
          <a:prstGeom prst="rect">
            <a:avLst/>
          </a:prstGeom>
        </p:spPr>
        <p:txBody>
          <a:bodyPr wrap="none" anchor="ctr">
            <a:spAutoFit/>
          </a:bodyPr>
          <a:lstStyle/>
          <a:p>
            <a:pPr algn="ctr" eaLnBrk="1" hangingPunct="1"/>
            <a:r>
              <a:rPr lang="en-US" sz="1000" dirty="0">
                <a:solidFill>
                  <a:schemeClr val="bg2">
                    <a:lumMod val="40000"/>
                    <a:lumOff val="60000"/>
                  </a:schemeClr>
                </a:solidFill>
              </a:rPr>
              <a:t>Copyright © 2022 by CSA Research</a:t>
            </a:r>
          </a:p>
        </p:txBody>
      </p:sp>
      <p:sp>
        <p:nvSpPr>
          <p:cNvPr id="17" name="Rectangle 16">
            <a:extLst>
              <a:ext uri="{FF2B5EF4-FFF2-40B4-BE49-F238E27FC236}">
                <a16:creationId xmlns:a16="http://schemas.microsoft.com/office/drawing/2014/main" id="{EAF31CB6-95B2-4A4E-8B56-1C990F8EE779}"/>
              </a:ext>
            </a:extLst>
          </p:cNvPr>
          <p:cNvSpPr/>
          <p:nvPr userDrawn="1"/>
        </p:nvSpPr>
        <p:spPr>
          <a:xfrm>
            <a:off x="0" y="1"/>
            <a:ext cx="11257472" cy="8626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C3ADE22-FD07-4FF4-842F-0A5317C09295}"/>
              </a:ext>
            </a:extLst>
          </p:cNvPr>
          <p:cNvSpPr/>
          <p:nvPr userDrawn="1"/>
        </p:nvSpPr>
        <p:spPr>
          <a:xfrm>
            <a:off x="934528" y="1"/>
            <a:ext cx="11257472" cy="8626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2650151"/>
      </p:ext>
    </p:extLst>
  </p:cSld>
  <p:clrMap bg1="lt1" tx1="dk1" bg2="lt2" tx2="dk2" accent1="accent1" accent2="accent2" accent3="accent3" accent4="accent4" accent5="accent5" accent6="accent6" hlink="hlink" folHlink="folHlink"/>
  <p:sldLayoutIdLst>
    <p:sldLayoutId id="2147483661" r:id="rId1"/>
    <p:sldLayoutId id="2147483669" r:id="rId2"/>
    <p:sldLayoutId id="2147483665" r:id="rId3"/>
    <p:sldLayoutId id="2147483650" r:id="rId4"/>
    <p:sldLayoutId id="2147483654" r:id="rId5"/>
    <p:sldLayoutId id="2147483652" r:id="rId6"/>
    <p:sldLayoutId id="2147483679" r:id="rId7"/>
  </p:sldLayoutIdLst>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341313" indent="-341313" algn="l" defTabSz="914400" rtl="0" eaLnBrk="1" latinLnBrk="0" hangingPunct="1">
        <a:lnSpc>
          <a:spcPct val="100000"/>
        </a:lnSpc>
        <a:spcBef>
          <a:spcPts val="1200"/>
        </a:spcBef>
        <a:spcAft>
          <a:spcPts val="1200"/>
        </a:spcAft>
        <a:buFont typeface="Arial" panose="020B0604020202020204" pitchFamily="34" charset="0"/>
        <a:buChar char="•"/>
        <a:defRPr sz="2400" kern="1200">
          <a:solidFill>
            <a:schemeClr val="tx1"/>
          </a:solidFill>
          <a:latin typeface="+mn-lt"/>
          <a:ea typeface="+mn-ea"/>
          <a:cs typeface="+mn-cs"/>
        </a:defRPr>
      </a:lvl1pPr>
      <a:lvl2pPr marL="800100" indent="-342900" algn="l" defTabSz="914400" rtl="0" eaLnBrk="1" latinLnBrk="0" hangingPunct="1">
        <a:lnSpc>
          <a:spcPct val="100000"/>
        </a:lnSpc>
        <a:spcBef>
          <a:spcPts val="0"/>
        </a:spcBef>
        <a:spcAft>
          <a:spcPts val="1200"/>
        </a:spcAft>
        <a:buFont typeface="Noto Sans" panose="020B0502040504020204" pitchFamily="34"/>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spcAft>
          <a:spcPts val="1200"/>
        </a:spcAft>
        <a:buFont typeface="Courier New" panose="02070309020205020404" pitchFamily="49" charset="0"/>
        <a:buChar char="o"/>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23.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838200" y="1989137"/>
            <a:ext cx="6491748" cy="1722977"/>
          </a:xfrm>
        </p:spPr>
        <p:txBody>
          <a:bodyPr>
            <a:normAutofit/>
          </a:bodyPr>
          <a:lstStyle/>
          <a:p>
            <a:r>
              <a:rPr lang="en-US" dirty="0">
                <a:latin typeface="Arial" charset="0"/>
                <a:ea typeface="MS PGothic" charset="0"/>
              </a:rPr>
              <a:t>Using the Global CX Calculator as a Sales Tool </a:t>
            </a:r>
            <a:endParaRPr lang="en-US" dirty="0"/>
          </a:p>
        </p:txBody>
      </p:sp>
      <p:sp>
        <p:nvSpPr>
          <p:cNvPr id="6" name="Text Placeholder 5"/>
          <p:cNvSpPr>
            <a:spLocks noGrp="1"/>
          </p:cNvSpPr>
          <p:nvPr>
            <p:ph type="body" sz="quarter" idx="10"/>
          </p:nvPr>
        </p:nvSpPr>
        <p:spPr/>
        <p:txBody>
          <a:bodyPr/>
          <a:lstStyle/>
          <a:p>
            <a:r>
              <a:rPr lang="en-US" dirty="0"/>
              <a:t>May 17, 2022</a:t>
            </a:r>
          </a:p>
        </p:txBody>
      </p:sp>
      <p:sp>
        <p:nvSpPr>
          <p:cNvPr id="7" name="Text Placeholder 6"/>
          <p:cNvSpPr>
            <a:spLocks noGrp="1"/>
          </p:cNvSpPr>
          <p:nvPr>
            <p:ph type="body" sz="quarter" idx="11"/>
          </p:nvPr>
        </p:nvSpPr>
        <p:spPr>
          <a:xfrm>
            <a:off x="838200" y="4292995"/>
            <a:ext cx="5607756" cy="352425"/>
          </a:xfrm>
        </p:spPr>
        <p:txBody>
          <a:bodyPr/>
          <a:lstStyle/>
          <a:p>
            <a:r>
              <a:rPr lang="en-US" dirty="0"/>
              <a:t>Arle Lommel &amp; Hélène </a:t>
            </a:r>
            <a:r>
              <a:rPr lang="en-US" dirty="0" err="1"/>
              <a:t>Pielmeier</a:t>
            </a:r>
            <a:endParaRPr lang="en-US" dirty="0"/>
          </a:p>
        </p:txBody>
      </p:sp>
      <p:sp>
        <p:nvSpPr>
          <p:cNvPr id="8" name="Text Placeholder 7">
            <a:extLst>
              <a:ext uri="{FF2B5EF4-FFF2-40B4-BE49-F238E27FC236}">
                <a16:creationId xmlns:a16="http://schemas.microsoft.com/office/drawing/2014/main" id="{DA3EF9BF-1668-462F-B3B0-B8E06E0EBBBC}"/>
              </a:ext>
            </a:extLst>
          </p:cNvPr>
          <p:cNvSpPr>
            <a:spLocks noGrp="1"/>
          </p:cNvSpPr>
          <p:nvPr>
            <p:ph type="body" sz="quarter" idx="13"/>
          </p:nvPr>
        </p:nvSpPr>
        <p:spPr/>
        <p:txBody>
          <a:bodyPr/>
          <a:lstStyle/>
          <a:p>
            <a:r>
              <a:rPr lang="en-US" dirty="0">
                <a:solidFill>
                  <a:schemeClr val="tx1"/>
                </a:solidFill>
              </a:rPr>
              <a:t>Copyright © 2022 by CSA Research</a:t>
            </a:r>
          </a:p>
        </p:txBody>
      </p:sp>
      <p:cxnSp>
        <p:nvCxnSpPr>
          <p:cNvPr id="11" name="Straight Connector 10"/>
          <p:cNvCxnSpPr>
            <a:cxnSpLocks/>
          </p:cNvCxnSpPr>
          <p:nvPr/>
        </p:nvCxnSpPr>
        <p:spPr>
          <a:xfrm>
            <a:off x="889716" y="3800475"/>
            <a:ext cx="2222500" cy="0"/>
          </a:xfrm>
          <a:prstGeom prst="line">
            <a:avLst/>
          </a:prstGeom>
          <a:ln w="12700">
            <a:solidFill>
              <a:schemeClr val="bg2">
                <a:lumMod val="40000"/>
                <a:lumOff val="60000"/>
              </a:schemeClr>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314E60C0-FA16-41F3-841A-4FA56F90D5CB}"/>
              </a:ext>
            </a:extLst>
          </p:cNvPr>
          <p:cNvGrpSpPr/>
          <p:nvPr/>
        </p:nvGrpSpPr>
        <p:grpSpPr>
          <a:xfrm>
            <a:off x="838199" y="930825"/>
            <a:ext cx="2950860" cy="505309"/>
            <a:chOff x="1004888" y="2554288"/>
            <a:chExt cx="10179050" cy="1743075"/>
          </a:xfrm>
        </p:grpSpPr>
        <p:sp>
          <p:nvSpPr>
            <p:cNvPr id="19" name="Freeform 5">
              <a:extLst>
                <a:ext uri="{FF2B5EF4-FFF2-40B4-BE49-F238E27FC236}">
                  <a16:creationId xmlns:a16="http://schemas.microsoft.com/office/drawing/2014/main" id="{CC2EF0B5-6F84-4D9B-84B0-78BB4EEA2625}"/>
                </a:ext>
              </a:extLst>
            </p:cNvPr>
            <p:cNvSpPr>
              <a:spLocks/>
            </p:cNvSpPr>
            <p:nvPr/>
          </p:nvSpPr>
          <p:spPr bwMode="auto">
            <a:xfrm>
              <a:off x="1004888" y="2554288"/>
              <a:ext cx="1793875" cy="1743075"/>
            </a:xfrm>
            <a:custGeom>
              <a:avLst/>
              <a:gdLst>
                <a:gd name="T0" fmla="*/ 568 w 568"/>
                <a:gd name="T1" fmla="*/ 48 h 549"/>
                <a:gd name="T2" fmla="*/ 414 w 568"/>
                <a:gd name="T3" fmla="*/ 0 h 549"/>
                <a:gd name="T4" fmla="*/ 141 w 568"/>
                <a:gd name="T5" fmla="*/ 254 h 549"/>
                <a:gd name="T6" fmla="*/ 71 w 568"/>
                <a:gd name="T7" fmla="*/ 264 h 549"/>
                <a:gd name="T8" fmla="*/ 0 w 568"/>
                <a:gd name="T9" fmla="*/ 274 h 549"/>
                <a:gd name="T10" fmla="*/ 71 w 568"/>
                <a:gd name="T11" fmla="*/ 285 h 549"/>
                <a:gd name="T12" fmla="*/ 141 w 568"/>
                <a:gd name="T13" fmla="*/ 295 h 549"/>
                <a:gd name="T14" fmla="*/ 414 w 568"/>
                <a:gd name="T15" fmla="*/ 549 h 549"/>
                <a:gd name="T16" fmla="*/ 568 w 568"/>
                <a:gd name="T17" fmla="*/ 501 h 549"/>
                <a:gd name="T18" fmla="*/ 438 w 568"/>
                <a:gd name="T19" fmla="*/ 535 h 549"/>
                <a:gd name="T20" fmla="*/ 173 w 568"/>
                <a:gd name="T21" fmla="*/ 274 h 549"/>
                <a:gd name="T22" fmla="*/ 438 w 568"/>
                <a:gd name="T23" fmla="*/ 14 h 549"/>
                <a:gd name="T24" fmla="*/ 568 w 568"/>
                <a:gd name="T25" fmla="*/ 48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8" h="549">
                  <a:moveTo>
                    <a:pt x="568" y="48"/>
                  </a:moveTo>
                  <a:cubicBezTo>
                    <a:pt x="524" y="18"/>
                    <a:pt x="471" y="0"/>
                    <a:pt x="414" y="0"/>
                  </a:cubicBezTo>
                  <a:cubicBezTo>
                    <a:pt x="270" y="0"/>
                    <a:pt x="151" y="112"/>
                    <a:pt x="141" y="254"/>
                  </a:cubicBezTo>
                  <a:cubicBezTo>
                    <a:pt x="71" y="264"/>
                    <a:pt x="71" y="264"/>
                    <a:pt x="71" y="264"/>
                  </a:cubicBezTo>
                  <a:cubicBezTo>
                    <a:pt x="0" y="274"/>
                    <a:pt x="0" y="274"/>
                    <a:pt x="0" y="274"/>
                  </a:cubicBezTo>
                  <a:cubicBezTo>
                    <a:pt x="71" y="285"/>
                    <a:pt x="71" y="285"/>
                    <a:pt x="71" y="285"/>
                  </a:cubicBezTo>
                  <a:cubicBezTo>
                    <a:pt x="141" y="295"/>
                    <a:pt x="141" y="295"/>
                    <a:pt x="141" y="295"/>
                  </a:cubicBezTo>
                  <a:cubicBezTo>
                    <a:pt x="151" y="437"/>
                    <a:pt x="270" y="549"/>
                    <a:pt x="414" y="549"/>
                  </a:cubicBezTo>
                  <a:cubicBezTo>
                    <a:pt x="471" y="549"/>
                    <a:pt x="524" y="531"/>
                    <a:pt x="568" y="501"/>
                  </a:cubicBezTo>
                  <a:cubicBezTo>
                    <a:pt x="530" y="523"/>
                    <a:pt x="485" y="535"/>
                    <a:pt x="438" y="535"/>
                  </a:cubicBezTo>
                  <a:cubicBezTo>
                    <a:pt x="291" y="535"/>
                    <a:pt x="173" y="418"/>
                    <a:pt x="173" y="274"/>
                  </a:cubicBezTo>
                  <a:cubicBezTo>
                    <a:pt x="173" y="131"/>
                    <a:pt x="291" y="14"/>
                    <a:pt x="438" y="14"/>
                  </a:cubicBezTo>
                  <a:cubicBezTo>
                    <a:pt x="485" y="14"/>
                    <a:pt x="530" y="26"/>
                    <a:pt x="568" y="48"/>
                  </a:cubicBezTo>
                </a:path>
              </a:pathLst>
            </a:custGeom>
            <a:solidFill>
              <a:srgbClr val="F580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6">
              <a:extLst>
                <a:ext uri="{FF2B5EF4-FFF2-40B4-BE49-F238E27FC236}">
                  <a16:creationId xmlns:a16="http://schemas.microsoft.com/office/drawing/2014/main" id="{190201D3-0575-43E7-B444-E8937BFC8A1B}"/>
                </a:ext>
              </a:extLst>
            </p:cNvPr>
            <p:cNvSpPr>
              <a:spLocks noEditPoints="1"/>
            </p:cNvSpPr>
            <p:nvPr/>
          </p:nvSpPr>
          <p:spPr bwMode="auto">
            <a:xfrm>
              <a:off x="1819276" y="2859088"/>
              <a:ext cx="3170238" cy="1133475"/>
            </a:xfrm>
            <a:custGeom>
              <a:avLst/>
              <a:gdLst>
                <a:gd name="T0" fmla="*/ 307 w 1004"/>
                <a:gd name="T1" fmla="*/ 306 h 357"/>
                <a:gd name="T2" fmla="*/ 179 w 1004"/>
                <a:gd name="T3" fmla="*/ 356 h 357"/>
                <a:gd name="T4" fmla="*/ 0 w 1004"/>
                <a:gd name="T5" fmla="*/ 183 h 357"/>
                <a:gd name="T6" fmla="*/ 179 w 1004"/>
                <a:gd name="T7" fmla="*/ 5 h 357"/>
                <a:gd name="T8" fmla="*/ 303 w 1004"/>
                <a:gd name="T9" fmla="*/ 56 h 357"/>
                <a:gd name="T10" fmla="*/ 260 w 1004"/>
                <a:gd name="T11" fmla="*/ 97 h 357"/>
                <a:gd name="T12" fmla="*/ 179 w 1004"/>
                <a:gd name="T13" fmla="*/ 65 h 357"/>
                <a:gd name="T14" fmla="*/ 63 w 1004"/>
                <a:gd name="T15" fmla="*/ 183 h 357"/>
                <a:gd name="T16" fmla="*/ 179 w 1004"/>
                <a:gd name="T17" fmla="*/ 297 h 357"/>
                <a:gd name="T18" fmla="*/ 264 w 1004"/>
                <a:gd name="T19" fmla="*/ 262 h 357"/>
                <a:gd name="T20" fmla="*/ 307 w 1004"/>
                <a:gd name="T21" fmla="*/ 306 h 357"/>
                <a:gd name="T22" fmla="*/ 607 w 1004"/>
                <a:gd name="T23" fmla="*/ 67 h 357"/>
                <a:gd name="T24" fmla="*/ 474 w 1004"/>
                <a:gd name="T25" fmla="*/ 0 h 357"/>
                <a:gd name="T26" fmla="*/ 344 w 1004"/>
                <a:gd name="T27" fmla="*/ 98 h 357"/>
                <a:gd name="T28" fmla="*/ 476 w 1004"/>
                <a:gd name="T29" fmla="*/ 200 h 357"/>
                <a:gd name="T30" fmla="*/ 554 w 1004"/>
                <a:gd name="T31" fmla="*/ 250 h 357"/>
                <a:gd name="T32" fmla="*/ 477 w 1004"/>
                <a:gd name="T33" fmla="*/ 300 h 357"/>
                <a:gd name="T34" fmla="*/ 382 w 1004"/>
                <a:gd name="T35" fmla="*/ 247 h 357"/>
                <a:gd name="T36" fmla="*/ 329 w 1004"/>
                <a:gd name="T37" fmla="*/ 274 h 357"/>
                <a:gd name="T38" fmla="*/ 476 w 1004"/>
                <a:gd name="T39" fmla="*/ 357 h 357"/>
                <a:gd name="T40" fmla="*/ 617 w 1004"/>
                <a:gd name="T41" fmla="*/ 250 h 357"/>
                <a:gd name="T42" fmla="*/ 481 w 1004"/>
                <a:gd name="T43" fmla="*/ 143 h 357"/>
                <a:gd name="T44" fmla="*/ 406 w 1004"/>
                <a:gd name="T45" fmla="*/ 100 h 357"/>
                <a:gd name="T46" fmla="*/ 476 w 1004"/>
                <a:gd name="T47" fmla="*/ 55 h 357"/>
                <a:gd name="T48" fmla="*/ 556 w 1004"/>
                <a:gd name="T49" fmla="*/ 93 h 357"/>
                <a:gd name="T50" fmla="*/ 607 w 1004"/>
                <a:gd name="T51" fmla="*/ 67 h 357"/>
                <a:gd name="T52" fmla="*/ 818 w 1004"/>
                <a:gd name="T53" fmla="*/ 82 h 357"/>
                <a:gd name="T54" fmla="*/ 755 w 1004"/>
                <a:gd name="T55" fmla="*/ 226 h 357"/>
                <a:gd name="T56" fmla="*/ 880 w 1004"/>
                <a:gd name="T57" fmla="*/ 226 h 357"/>
                <a:gd name="T58" fmla="*/ 818 w 1004"/>
                <a:gd name="T59" fmla="*/ 82 h 357"/>
                <a:gd name="T60" fmla="*/ 906 w 1004"/>
                <a:gd name="T61" fmla="*/ 285 h 357"/>
                <a:gd name="T62" fmla="*/ 729 w 1004"/>
                <a:gd name="T63" fmla="*/ 285 h 357"/>
                <a:gd name="T64" fmla="*/ 701 w 1004"/>
                <a:gd name="T65" fmla="*/ 349 h 357"/>
                <a:gd name="T66" fmla="*/ 632 w 1004"/>
                <a:gd name="T67" fmla="*/ 349 h 357"/>
                <a:gd name="T68" fmla="*/ 783 w 1004"/>
                <a:gd name="T69" fmla="*/ 11 h 357"/>
                <a:gd name="T70" fmla="*/ 852 w 1004"/>
                <a:gd name="T71" fmla="*/ 11 h 357"/>
                <a:gd name="T72" fmla="*/ 1004 w 1004"/>
                <a:gd name="T73" fmla="*/ 349 h 357"/>
                <a:gd name="T74" fmla="*/ 934 w 1004"/>
                <a:gd name="T75" fmla="*/ 349 h 357"/>
                <a:gd name="T76" fmla="*/ 906 w 1004"/>
                <a:gd name="T77" fmla="*/ 285 h 3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04" h="357">
                  <a:moveTo>
                    <a:pt x="307" y="306"/>
                  </a:moveTo>
                  <a:cubicBezTo>
                    <a:pt x="272" y="340"/>
                    <a:pt x="228" y="356"/>
                    <a:pt x="179" y="356"/>
                  </a:cubicBezTo>
                  <a:cubicBezTo>
                    <a:pt x="54" y="356"/>
                    <a:pt x="1" y="270"/>
                    <a:pt x="0" y="183"/>
                  </a:cubicBezTo>
                  <a:cubicBezTo>
                    <a:pt x="0" y="94"/>
                    <a:pt x="57" y="5"/>
                    <a:pt x="179" y="5"/>
                  </a:cubicBezTo>
                  <a:cubicBezTo>
                    <a:pt x="225" y="5"/>
                    <a:pt x="268" y="22"/>
                    <a:pt x="303" y="56"/>
                  </a:cubicBezTo>
                  <a:cubicBezTo>
                    <a:pt x="260" y="97"/>
                    <a:pt x="260" y="97"/>
                    <a:pt x="260" y="97"/>
                  </a:cubicBezTo>
                  <a:cubicBezTo>
                    <a:pt x="238" y="76"/>
                    <a:pt x="208" y="65"/>
                    <a:pt x="179" y="65"/>
                  </a:cubicBezTo>
                  <a:cubicBezTo>
                    <a:pt x="98" y="65"/>
                    <a:pt x="62" y="126"/>
                    <a:pt x="63" y="183"/>
                  </a:cubicBezTo>
                  <a:cubicBezTo>
                    <a:pt x="63" y="238"/>
                    <a:pt x="96" y="297"/>
                    <a:pt x="179" y="297"/>
                  </a:cubicBezTo>
                  <a:cubicBezTo>
                    <a:pt x="208" y="297"/>
                    <a:pt x="242" y="285"/>
                    <a:pt x="264" y="262"/>
                  </a:cubicBezTo>
                  <a:lnTo>
                    <a:pt x="307" y="306"/>
                  </a:lnTo>
                  <a:close/>
                  <a:moveTo>
                    <a:pt x="607" y="67"/>
                  </a:moveTo>
                  <a:cubicBezTo>
                    <a:pt x="581" y="15"/>
                    <a:pt x="527" y="0"/>
                    <a:pt x="474" y="0"/>
                  </a:cubicBezTo>
                  <a:cubicBezTo>
                    <a:pt x="412" y="0"/>
                    <a:pt x="344" y="29"/>
                    <a:pt x="344" y="98"/>
                  </a:cubicBezTo>
                  <a:cubicBezTo>
                    <a:pt x="344" y="174"/>
                    <a:pt x="407" y="192"/>
                    <a:pt x="476" y="200"/>
                  </a:cubicBezTo>
                  <a:cubicBezTo>
                    <a:pt x="521" y="205"/>
                    <a:pt x="554" y="218"/>
                    <a:pt x="554" y="250"/>
                  </a:cubicBezTo>
                  <a:cubicBezTo>
                    <a:pt x="554" y="287"/>
                    <a:pt x="517" y="300"/>
                    <a:pt x="477" y="300"/>
                  </a:cubicBezTo>
                  <a:cubicBezTo>
                    <a:pt x="436" y="300"/>
                    <a:pt x="397" y="284"/>
                    <a:pt x="382" y="247"/>
                  </a:cubicBezTo>
                  <a:cubicBezTo>
                    <a:pt x="329" y="274"/>
                    <a:pt x="329" y="274"/>
                    <a:pt x="329" y="274"/>
                  </a:cubicBezTo>
                  <a:cubicBezTo>
                    <a:pt x="354" y="336"/>
                    <a:pt x="407" y="357"/>
                    <a:pt x="476" y="357"/>
                  </a:cubicBezTo>
                  <a:cubicBezTo>
                    <a:pt x="551" y="357"/>
                    <a:pt x="617" y="325"/>
                    <a:pt x="617" y="250"/>
                  </a:cubicBezTo>
                  <a:cubicBezTo>
                    <a:pt x="617" y="170"/>
                    <a:pt x="552" y="151"/>
                    <a:pt x="481" y="143"/>
                  </a:cubicBezTo>
                  <a:cubicBezTo>
                    <a:pt x="441" y="138"/>
                    <a:pt x="406" y="130"/>
                    <a:pt x="406" y="100"/>
                  </a:cubicBezTo>
                  <a:cubicBezTo>
                    <a:pt x="406" y="75"/>
                    <a:pt x="429" y="55"/>
                    <a:pt x="476" y="55"/>
                  </a:cubicBezTo>
                  <a:cubicBezTo>
                    <a:pt x="513" y="55"/>
                    <a:pt x="545" y="74"/>
                    <a:pt x="556" y="93"/>
                  </a:cubicBezTo>
                  <a:lnTo>
                    <a:pt x="607" y="67"/>
                  </a:lnTo>
                  <a:close/>
                  <a:moveTo>
                    <a:pt x="818" y="82"/>
                  </a:moveTo>
                  <a:cubicBezTo>
                    <a:pt x="755" y="226"/>
                    <a:pt x="755" y="226"/>
                    <a:pt x="755" y="226"/>
                  </a:cubicBezTo>
                  <a:cubicBezTo>
                    <a:pt x="880" y="226"/>
                    <a:pt x="880" y="226"/>
                    <a:pt x="880" y="226"/>
                  </a:cubicBezTo>
                  <a:lnTo>
                    <a:pt x="818" y="82"/>
                  </a:lnTo>
                  <a:close/>
                  <a:moveTo>
                    <a:pt x="906" y="285"/>
                  </a:moveTo>
                  <a:cubicBezTo>
                    <a:pt x="729" y="285"/>
                    <a:pt x="729" y="285"/>
                    <a:pt x="729" y="285"/>
                  </a:cubicBezTo>
                  <a:cubicBezTo>
                    <a:pt x="701" y="349"/>
                    <a:pt x="701" y="349"/>
                    <a:pt x="701" y="349"/>
                  </a:cubicBezTo>
                  <a:cubicBezTo>
                    <a:pt x="632" y="349"/>
                    <a:pt x="632" y="349"/>
                    <a:pt x="632" y="349"/>
                  </a:cubicBezTo>
                  <a:cubicBezTo>
                    <a:pt x="783" y="11"/>
                    <a:pt x="783" y="11"/>
                    <a:pt x="783" y="11"/>
                  </a:cubicBezTo>
                  <a:cubicBezTo>
                    <a:pt x="852" y="11"/>
                    <a:pt x="852" y="11"/>
                    <a:pt x="852" y="11"/>
                  </a:cubicBezTo>
                  <a:cubicBezTo>
                    <a:pt x="1004" y="349"/>
                    <a:pt x="1004" y="349"/>
                    <a:pt x="1004" y="349"/>
                  </a:cubicBezTo>
                  <a:cubicBezTo>
                    <a:pt x="934" y="349"/>
                    <a:pt x="934" y="349"/>
                    <a:pt x="934" y="349"/>
                  </a:cubicBezTo>
                  <a:lnTo>
                    <a:pt x="906" y="285"/>
                  </a:lnTo>
                  <a:close/>
                </a:path>
              </a:pathLst>
            </a:custGeom>
            <a:solidFill>
              <a:srgbClr val="F5802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7">
              <a:extLst>
                <a:ext uri="{FF2B5EF4-FFF2-40B4-BE49-F238E27FC236}">
                  <a16:creationId xmlns:a16="http://schemas.microsoft.com/office/drawing/2014/main" id="{EEDDD9B2-8186-47A9-8D11-1E6B93A7C820}"/>
                </a:ext>
              </a:extLst>
            </p:cNvPr>
            <p:cNvSpPr>
              <a:spLocks noEditPoints="1"/>
            </p:cNvSpPr>
            <p:nvPr/>
          </p:nvSpPr>
          <p:spPr bwMode="auto">
            <a:xfrm>
              <a:off x="5229225" y="2894014"/>
              <a:ext cx="5954713" cy="1085851"/>
            </a:xfrm>
            <a:custGeom>
              <a:avLst/>
              <a:gdLst>
                <a:gd name="T0" fmla="*/ 230 w 1886"/>
                <a:gd name="T1" fmla="*/ 107 h 342"/>
                <a:gd name="T2" fmla="*/ 34 w 1886"/>
                <a:gd name="T3" fmla="*/ 182 h 342"/>
                <a:gd name="T4" fmla="*/ 152 w 1886"/>
                <a:gd name="T5" fmla="*/ 32 h 342"/>
                <a:gd name="T6" fmla="*/ 263 w 1886"/>
                <a:gd name="T7" fmla="*/ 107 h 342"/>
                <a:gd name="T8" fmla="*/ 0 w 1886"/>
                <a:gd name="T9" fmla="*/ 0 h 342"/>
                <a:gd name="T10" fmla="*/ 34 w 1886"/>
                <a:gd name="T11" fmla="*/ 338 h 342"/>
                <a:gd name="T12" fmla="*/ 121 w 1886"/>
                <a:gd name="T13" fmla="*/ 213 h 342"/>
                <a:gd name="T14" fmla="*/ 277 w 1886"/>
                <a:gd name="T15" fmla="*/ 338 h 342"/>
                <a:gd name="T16" fmla="*/ 300 w 1886"/>
                <a:gd name="T17" fmla="*/ 205 h 342"/>
                <a:gd name="T18" fmla="*/ 477 w 1886"/>
                <a:gd name="T19" fmla="*/ 205 h 342"/>
                <a:gd name="T20" fmla="*/ 507 w 1886"/>
                <a:gd name="T21" fmla="*/ 232 h 342"/>
                <a:gd name="T22" fmla="*/ 267 w 1886"/>
                <a:gd name="T23" fmla="*/ 218 h 342"/>
                <a:gd name="T24" fmla="*/ 492 w 1886"/>
                <a:gd name="T25" fmla="*/ 298 h 342"/>
                <a:gd name="T26" fmla="*/ 390 w 1886"/>
                <a:gd name="T27" fmla="*/ 311 h 342"/>
                <a:gd name="T28" fmla="*/ 507 w 1886"/>
                <a:gd name="T29" fmla="*/ 232 h 342"/>
                <a:gd name="T30" fmla="*/ 627 w 1886"/>
                <a:gd name="T31" fmla="*/ 95 h 342"/>
                <a:gd name="T32" fmla="*/ 625 w 1886"/>
                <a:gd name="T33" fmla="*/ 230 h 342"/>
                <a:gd name="T34" fmla="*/ 629 w 1886"/>
                <a:gd name="T35" fmla="*/ 313 h 342"/>
                <a:gd name="T36" fmla="*/ 523 w 1886"/>
                <a:gd name="T37" fmla="*/ 296 h 342"/>
                <a:gd name="T38" fmla="*/ 726 w 1886"/>
                <a:gd name="T39" fmla="*/ 273 h 342"/>
                <a:gd name="T40" fmla="*/ 563 w 1886"/>
                <a:gd name="T41" fmla="*/ 163 h 342"/>
                <a:gd name="T42" fmla="*/ 698 w 1886"/>
                <a:gd name="T43" fmla="*/ 148 h 342"/>
                <a:gd name="T44" fmla="*/ 776 w 1886"/>
                <a:gd name="T45" fmla="*/ 205 h 342"/>
                <a:gd name="T46" fmla="*/ 953 w 1886"/>
                <a:gd name="T47" fmla="*/ 205 h 342"/>
                <a:gd name="T48" fmla="*/ 983 w 1886"/>
                <a:gd name="T49" fmla="*/ 232 h 342"/>
                <a:gd name="T50" fmla="*/ 743 w 1886"/>
                <a:gd name="T51" fmla="*/ 218 h 342"/>
                <a:gd name="T52" fmla="*/ 968 w 1886"/>
                <a:gd name="T53" fmla="*/ 298 h 342"/>
                <a:gd name="T54" fmla="*/ 866 w 1886"/>
                <a:gd name="T55" fmla="*/ 311 h 342"/>
                <a:gd name="T56" fmla="*/ 983 w 1886"/>
                <a:gd name="T57" fmla="*/ 232 h 342"/>
                <a:gd name="T58" fmla="*/ 1128 w 1886"/>
                <a:gd name="T59" fmla="*/ 312 h 342"/>
                <a:gd name="T60" fmla="*/ 1128 w 1886"/>
                <a:gd name="T61" fmla="*/ 126 h 342"/>
                <a:gd name="T62" fmla="*/ 1127 w 1886"/>
                <a:gd name="T63" fmla="*/ 96 h 342"/>
                <a:gd name="T64" fmla="*/ 1126 w 1886"/>
                <a:gd name="T65" fmla="*/ 342 h 342"/>
                <a:gd name="T66" fmla="*/ 1221 w 1886"/>
                <a:gd name="T67" fmla="*/ 338 h 342"/>
                <a:gd name="T68" fmla="*/ 1250 w 1886"/>
                <a:gd name="T69" fmla="*/ 100 h 342"/>
                <a:gd name="T70" fmla="*/ 1220 w 1886"/>
                <a:gd name="T71" fmla="*/ 147 h 342"/>
                <a:gd name="T72" fmla="*/ 1280 w 1886"/>
                <a:gd name="T73" fmla="*/ 338 h 342"/>
                <a:gd name="T74" fmla="*/ 1312 w 1886"/>
                <a:gd name="T75" fmla="*/ 202 h 342"/>
                <a:gd name="T76" fmla="*/ 1427 w 1886"/>
                <a:gd name="T77" fmla="*/ 140 h 342"/>
                <a:gd name="T78" fmla="*/ 1388 w 1886"/>
                <a:gd name="T79" fmla="*/ 96 h 342"/>
                <a:gd name="T80" fmla="*/ 1310 w 1886"/>
                <a:gd name="T81" fmla="*/ 100 h 342"/>
                <a:gd name="T82" fmla="*/ 1627 w 1886"/>
                <a:gd name="T83" fmla="*/ 284 h 342"/>
                <a:gd name="T84" fmla="*/ 1469 w 1886"/>
                <a:gd name="T85" fmla="*/ 219 h 342"/>
                <a:gd name="T86" fmla="*/ 1624 w 1886"/>
                <a:gd name="T87" fmla="*/ 152 h 342"/>
                <a:gd name="T88" fmla="*/ 1561 w 1886"/>
                <a:gd name="T89" fmla="*/ 96 h 342"/>
                <a:gd name="T90" fmla="*/ 1561 w 1886"/>
                <a:gd name="T91" fmla="*/ 342 h 342"/>
                <a:gd name="T92" fmla="*/ 1627 w 1886"/>
                <a:gd name="T93" fmla="*/ 284 h 342"/>
                <a:gd name="T94" fmla="*/ 1672 w 1886"/>
                <a:gd name="T95" fmla="*/ 338 h 342"/>
                <a:gd name="T96" fmla="*/ 1704 w 1886"/>
                <a:gd name="T97" fmla="*/ 210 h 342"/>
                <a:gd name="T98" fmla="*/ 1854 w 1886"/>
                <a:gd name="T99" fmla="*/ 204 h 342"/>
                <a:gd name="T100" fmla="*/ 1886 w 1886"/>
                <a:gd name="T101" fmla="*/ 338 h 342"/>
                <a:gd name="T102" fmla="*/ 1787 w 1886"/>
                <a:gd name="T103" fmla="*/ 96 h 342"/>
                <a:gd name="T104" fmla="*/ 1704 w 1886"/>
                <a:gd name="T105" fmla="*/ 0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886" h="342">
                  <a:moveTo>
                    <a:pt x="152" y="32"/>
                  </a:moveTo>
                  <a:cubicBezTo>
                    <a:pt x="204" y="32"/>
                    <a:pt x="230" y="65"/>
                    <a:pt x="230" y="107"/>
                  </a:cubicBezTo>
                  <a:cubicBezTo>
                    <a:pt x="230" y="150"/>
                    <a:pt x="204" y="182"/>
                    <a:pt x="150" y="182"/>
                  </a:cubicBezTo>
                  <a:cubicBezTo>
                    <a:pt x="34" y="182"/>
                    <a:pt x="34" y="182"/>
                    <a:pt x="34" y="182"/>
                  </a:cubicBezTo>
                  <a:cubicBezTo>
                    <a:pt x="34" y="32"/>
                    <a:pt x="34" y="32"/>
                    <a:pt x="34" y="32"/>
                  </a:cubicBezTo>
                  <a:lnTo>
                    <a:pt x="152" y="32"/>
                  </a:lnTo>
                  <a:close/>
                  <a:moveTo>
                    <a:pt x="162" y="211"/>
                  </a:moveTo>
                  <a:cubicBezTo>
                    <a:pt x="233" y="208"/>
                    <a:pt x="264" y="160"/>
                    <a:pt x="263" y="107"/>
                  </a:cubicBezTo>
                  <a:cubicBezTo>
                    <a:pt x="263" y="50"/>
                    <a:pt x="227" y="0"/>
                    <a:pt x="152" y="0"/>
                  </a:cubicBezTo>
                  <a:cubicBezTo>
                    <a:pt x="101" y="0"/>
                    <a:pt x="51" y="0"/>
                    <a:pt x="0" y="0"/>
                  </a:cubicBezTo>
                  <a:cubicBezTo>
                    <a:pt x="0" y="338"/>
                    <a:pt x="0" y="338"/>
                    <a:pt x="0" y="338"/>
                  </a:cubicBezTo>
                  <a:cubicBezTo>
                    <a:pt x="34" y="338"/>
                    <a:pt x="34" y="338"/>
                    <a:pt x="34" y="338"/>
                  </a:cubicBezTo>
                  <a:cubicBezTo>
                    <a:pt x="34" y="213"/>
                    <a:pt x="34" y="213"/>
                    <a:pt x="34" y="213"/>
                  </a:cubicBezTo>
                  <a:cubicBezTo>
                    <a:pt x="121" y="213"/>
                    <a:pt x="121" y="213"/>
                    <a:pt x="121" y="213"/>
                  </a:cubicBezTo>
                  <a:cubicBezTo>
                    <a:pt x="233" y="338"/>
                    <a:pt x="233" y="338"/>
                    <a:pt x="233" y="338"/>
                  </a:cubicBezTo>
                  <a:cubicBezTo>
                    <a:pt x="277" y="338"/>
                    <a:pt x="277" y="338"/>
                    <a:pt x="277" y="338"/>
                  </a:cubicBezTo>
                  <a:lnTo>
                    <a:pt x="162" y="211"/>
                  </a:lnTo>
                  <a:close/>
                  <a:moveTo>
                    <a:pt x="300" y="205"/>
                  </a:moveTo>
                  <a:cubicBezTo>
                    <a:pt x="306" y="153"/>
                    <a:pt x="341" y="124"/>
                    <a:pt x="389" y="124"/>
                  </a:cubicBezTo>
                  <a:cubicBezTo>
                    <a:pt x="437" y="124"/>
                    <a:pt x="476" y="153"/>
                    <a:pt x="477" y="205"/>
                  </a:cubicBezTo>
                  <a:lnTo>
                    <a:pt x="300" y="205"/>
                  </a:lnTo>
                  <a:close/>
                  <a:moveTo>
                    <a:pt x="507" y="232"/>
                  </a:moveTo>
                  <a:cubicBezTo>
                    <a:pt x="516" y="138"/>
                    <a:pt x="459" y="95"/>
                    <a:pt x="389" y="95"/>
                  </a:cubicBezTo>
                  <a:cubicBezTo>
                    <a:pt x="318" y="95"/>
                    <a:pt x="267" y="147"/>
                    <a:pt x="267" y="218"/>
                  </a:cubicBezTo>
                  <a:cubicBezTo>
                    <a:pt x="267" y="294"/>
                    <a:pt x="319" y="342"/>
                    <a:pt x="390" y="342"/>
                  </a:cubicBezTo>
                  <a:cubicBezTo>
                    <a:pt x="428" y="342"/>
                    <a:pt x="469" y="327"/>
                    <a:pt x="492" y="298"/>
                  </a:cubicBezTo>
                  <a:cubicBezTo>
                    <a:pt x="471" y="278"/>
                    <a:pt x="471" y="278"/>
                    <a:pt x="471" y="278"/>
                  </a:cubicBezTo>
                  <a:cubicBezTo>
                    <a:pt x="454" y="300"/>
                    <a:pt x="419" y="311"/>
                    <a:pt x="390" y="311"/>
                  </a:cubicBezTo>
                  <a:cubicBezTo>
                    <a:pt x="343" y="311"/>
                    <a:pt x="304" y="282"/>
                    <a:pt x="300" y="232"/>
                  </a:cubicBezTo>
                  <a:lnTo>
                    <a:pt x="507" y="232"/>
                  </a:lnTo>
                  <a:close/>
                  <a:moveTo>
                    <a:pt x="717" y="127"/>
                  </a:moveTo>
                  <a:cubicBezTo>
                    <a:pt x="692" y="105"/>
                    <a:pt x="663" y="95"/>
                    <a:pt x="627" y="95"/>
                  </a:cubicBezTo>
                  <a:cubicBezTo>
                    <a:pt x="580" y="94"/>
                    <a:pt x="531" y="115"/>
                    <a:pt x="531" y="164"/>
                  </a:cubicBezTo>
                  <a:cubicBezTo>
                    <a:pt x="532" y="213"/>
                    <a:pt x="579" y="224"/>
                    <a:pt x="625" y="230"/>
                  </a:cubicBezTo>
                  <a:cubicBezTo>
                    <a:pt x="663" y="236"/>
                    <a:pt x="694" y="241"/>
                    <a:pt x="694" y="273"/>
                  </a:cubicBezTo>
                  <a:cubicBezTo>
                    <a:pt x="694" y="305"/>
                    <a:pt x="656" y="313"/>
                    <a:pt x="629" y="313"/>
                  </a:cubicBezTo>
                  <a:cubicBezTo>
                    <a:pt x="599" y="312"/>
                    <a:pt x="563" y="302"/>
                    <a:pt x="543" y="274"/>
                  </a:cubicBezTo>
                  <a:cubicBezTo>
                    <a:pt x="523" y="296"/>
                    <a:pt x="523" y="296"/>
                    <a:pt x="523" y="296"/>
                  </a:cubicBezTo>
                  <a:cubicBezTo>
                    <a:pt x="547" y="329"/>
                    <a:pt x="588" y="342"/>
                    <a:pt x="629" y="342"/>
                  </a:cubicBezTo>
                  <a:cubicBezTo>
                    <a:pt x="677" y="342"/>
                    <a:pt x="725" y="323"/>
                    <a:pt x="726" y="273"/>
                  </a:cubicBezTo>
                  <a:cubicBezTo>
                    <a:pt x="726" y="215"/>
                    <a:pt x="671" y="208"/>
                    <a:pt x="628" y="202"/>
                  </a:cubicBezTo>
                  <a:cubicBezTo>
                    <a:pt x="598" y="198"/>
                    <a:pt x="563" y="191"/>
                    <a:pt x="563" y="163"/>
                  </a:cubicBezTo>
                  <a:cubicBezTo>
                    <a:pt x="562" y="136"/>
                    <a:pt x="593" y="124"/>
                    <a:pt x="628" y="124"/>
                  </a:cubicBezTo>
                  <a:cubicBezTo>
                    <a:pt x="653" y="124"/>
                    <a:pt x="676" y="128"/>
                    <a:pt x="698" y="148"/>
                  </a:cubicBezTo>
                  <a:lnTo>
                    <a:pt x="717" y="127"/>
                  </a:lnTo>
                  <a:close/>
                  <a:moveTo>
                    <a:pt x="776" y="205"/>
                  </a:moveTo>
                  <a:cubicBezTo>
                    <a:pt x="782" y="153"/>
                    <a:pt x="817" y="124"/>
                    <a:pt x="865" y="124"/>
                  </a:cubicBezTo>
                  <a:cubicBezTo>
                    <a:pt x="913" y="124"/>
                    <a:pt x="952" y="153"/>
                    <a:pt x="953" y="205"/>
                  </a:cubicBezTo>
                  <a:lnTo>
                    <a:pt x="776" y="205"/>
                  </a:lnTo>
                  <a:close/>
                  <a:moveTo>
                    <a:pt x="983" y="232"/>
                  </a:moveTo>
                  <a:cubicBezTo>
                    <a:pt x="992" y="138"/>
                    <a:pt x="935" y="95"/>
                    <a:pt x="864" y="95"/>
                  </a:cubicBezTo>
                  <a:cubicBezTo>
                    <a:pt x="794" y="95"/>
                    <a:pt x="743" y="147"/>
                    <a:pt x="743" y="218"/>
                  </a:cubicBezTo>
                  <a:cubicBezTo>
                    <a:pt x="743" y="294"/>
                    <a:pt x="795" y="342"/>
                    <a:pt x="866" y="342"/>
                  </a:cubicBezTo>
                  <a:cubicBezTo>
                    <a:pt x="904" y="342"/>
                    <a:pt x="944" y="327"/>
                    <a:pt x="968" y="298"/>
                  </a:cubicBezTo>
                  <a:cubicBezTo>
                    <a:pt x="946" y="278"/>
                    <a:pt x="946" y="278"/>
                    <a:pt x="946" y="278"/>
                  </a:cubicBezTo>
                  <a:cubicBezTo>
                    <a:pt x="930" y="300"/>
                    <a:pt x="895" y="311"/>
                    <a:pt x="866" y="311"/>
                  </a:cubicBezTo>
                  <a:cubicBezTo>
                    <a:pt x="819" y="311"/>
                    <a:pt x="780" y="282"/>
                    <a:pt x="776" y="232"/>
                  </a:cubicBezTo>
                  <a:lnTo>
                    <a:pt x="983" y="232"/>
                  </a:lnTo>
                  <a:close/>
                  <a:moveTo>
                    <a:pt x="1128" y="126"/>
                  </a:moveTo>
                  <a:cubicBezTo>
                    <a:pt x="1250" y="126"/>
                    <a:pt x="1250" y="312"/>
                    <a:pt x="1128" y="312"/>
                  </a:cubicBezTo>
                  <a:cubicBezTo>
                    <a:pt x="1078" y="312"/>
                    <a:pt x="1037" y="275"/>
                    <a:pt x="1037" y="219"/>
                  </a:cubicBezTo>
                  <a:cubicBezTo>
                    <a:pt x="1037" y="163"/>
                    <a:pt x="1078" y="126"/>
                    <a:pt x="1128" y="126"/>
                  </a:cubicBezTo>
                  <a:moveTo>
                    <a:pt x="1220" y="147"/>
                  </a:moveTo>
                  <a:cubicBezTo>
                    <a:pt x="1202" y="113"/>
                    <a:pt x="1163" y="96"/>
                    <a:pt x="1127" y="96"/>
                  </a:cubicBezTo>
                  <a:cubicBezTo>
                    <a:pt x="1059" y="96"/>
                    <a:pt x="1005" y="144"/>
                    <a:pt x="1005" y="219"/>
                  </a:cubicBezTo>
                  <a:cubicBezTo>
                    <a:pt x="1005" y="294"/>
                    <a:pt x="1059" y="342"/>
                    <a:pt x="1126" y="342"/>
                  </a:cubicBezTo>
                  <a:cubicBezTo>
                    <a:pt x="1162" y="342"/>
                    <a:pt x="1200" y="326"/>
                    <a:pt x="1221" y="290"/>
                  </a:cubicBezTo>
                  <a:cubicBezTo>
                    <a:pt x="1221" y="338"/>
                    <a:pt x="1221" y="338"/>
                    <a:pt x="1221" y="338"/>
                  </a:cubicBezTo>
                  <a:cubicBezTo>
                    <a:pt x="1250" y="338"/>
                    <a:pt x="1250" y="338"/>
                    <a:pt x="1250" y="338"/>
                  </a:cubicBezTo>
                  <a:cubicBezTo>
                    <a:pt x="1250" y="258"/>
                    <a:pt x="1250" y="179"/>
                    <a:pt x="1250" y="100"/>
                  </a:cubicBezTo>
                  <a:cubicBezTo>
                    <a:pt x="1220" y="100"/>
                    <a:pt x="1220" y="100"/>
                    <a:pt x="1220" y="100"/>
                  </a:cubicBezTo>
                  <a:lnTo>
                    <a:pt x="1220" y="147"/>
                  </a:lnTo>
                  <a:close/>
                  <a:moveTo>
                    <a:pt x="1280" y="100"/>
                  </a:moveTo>
                  <a:cubicBezTo>
                    <a:pt x="1280" y="338"/>
                    <a:pt x="1280" y="338"/>
                    <a:pt x="1280" y="338"/>
                  </a:cubicBezTo>
                  <a:cubicBezTo>
                    <a:pt x="1312" y="338"/>
                    <a:pt x="1312" y="338"/>
                    <a:pt x="1312" y="338"/>
                  </a:cubicBezTo>
                  <a:cubicBezTo>
                    <a:pt x="1312" y="202"/>
                    <a:pt x="1312" y="202"/>
                    <a:pt x="1312" y="202"/>
                  </a:cubicBezTo>
                  <a:cubicBezTo>
                    <a:pt x="1312" y="159"/>
                    <a:pt x="1345" y="128"/>
                    <a:pt x="1386" y="127"/>
                  </a:cubicBezTo>
                  <a:cubicBezTo>
                    <a:pt x="1401" y="127"/>
                    <a:pt x="1415" y="132"/>
                    <a:pt x="1427" y="140"/>
                  </a:cubicBezTo>
                  <a:cubicBezTo>
                    <a:pt x="1442" y="113"/>
                    <a:pt x="1442" y="113"/>
                    <a:pt x="1442" y="113"/>
                  </a:cubicBezTo>
                  <a:cubicBezTo>
                    <a:pt x="1425" y="101"/>
                    <a:pt x="1410" y="96"/>
                    <a:pt x="1388" y="96"/>
                  </a:cubicBezTo>
                  <a:cubicBezTo>
                    <a:pt x="1360" y="96"/>
                    <a:pt x="1328" y="107"/>
                    <a:pt x="1312" y="139"/>
                  </a:cubicBezTo>
                  <a:cubicBezTo>
                    <a:pt x="1310" y="100"/>
                    <a:pt x="1310" y="100"/>
                    <a:pt x="1310" y="100"/>
                  </a:cubicBezTo>
                  <a:lnTo>
                    <a:pt x="1280" y="100"/>
                  </a:lnTo>
                  <a:close/>
                  <a:moveTo>
                    <a:pt x="1627" y="284"/>
                  </a:moveTo>
                  <a:cubicBezTo>
                    <a:pt x="1609" y="302"/>
                    <a:pt x="1585" y="311"/>
                    <a:pt x="1561" y="311"/>
                  </a:cubicBezTo>
                  <a:cubicBezTo>
                    <a:pt x="1511" y="311"/>
                    <a:pt x="1469" y="278"/>
                    <a:pt x="1469" y="219"/>
                  </a:cubicBezTo>
                  <a:cubicBezTo>
                    <a:pt x="1469" y="160"/>
                    <a:pt x="1511" y="126"/>
                    <a:pt x="1561" y="126"/>
                  </a:cubicBezTo>
                  <a:cubicBezTo>
                    <a:pt x="1584" y="126"/>
                    <a:pt x="1606" y="134"/>
                    <a:pt x="1624" y="152"/>
                  </a:cubicBezTo>
                  <a:cubicBezTo>
                    <a:pt x="1646" y="131"/>
                    <a:pt x="1646" y="131"/>
                    <a:pt x="1646" y="131"/>
                  </a:cubicBezTo>
                  <a:cubicBezTo>
                    <a:pt x="1620" y="107"/>
                    <a:pt x="1593" y="96"/>
                    <a:pt x="1561" y="96"/>
                  </a:cubicBezTo>
                  <a:cubicBezTo>
                    <a:pt x="1491" y="96"/>
                    <a:pt x="1437" y="141"/>
                    <a:pt x="1437" y="219"/>
                  </a:cubicBezTo>
                  <a:cubicBezTo>
                    <a:pt x="1437" y="297"/>
                    <a:pt x="1493" y="342"/>
                    <a:pt x="1561" y="342"/>
                  </a:cubicBezTo>
                  <a:cubicBezTo>
                    <a:pt x="1593" y="342"/>
                    <a:pt x="1624" y="330"/>
                    <a:pt x="1649" y="306"/>
                  </a:cubicBezTo>
                  <a:lnTo>
                    <a:pt x="1627" y="284"/>
                  </a:lnTo>
                  <a:close/>
                  <a:moveTo>
                    <a:pt x="1672" y="0"/>
                  </a:moveTo>
                  <a:cubicBezTo>
                    <a:pt x="1672" y="338"/>
                    <a:pt x="1672" y="338"/>
                    <a:pt x="1672" y="338"/>
                  </a:cubicBezTo>
                  <a:cubicBezTo>
                    <a:pt x="1704" y="338"/>
                    <a:pt x="1704" y="338"/>
                    <a:pt x="1704" y="338"/>
                  </a:cubicBezTo>
                  <a:cubicBezTo>
                    <a:pt x="1704" y="210"/>
                    <a:pt x="1704" y="210"/>
                    <a:pt x="1704" y="210"/>
                  </a:cubicBezTo>
                  <a:cubicBezTo>
                    <a:pt x="1704" y="163"/>
                    <a:pt x="1737" y="127"/>
                    <a:pt x="1783" y="127"/>
                  </a:cubicBezTo>
                  <a:cubicBezTo>
                    <a:pt x="1831" y="127"/>
                    <a:pt x="1854" y="157"/>
                    <a:pt x="1854" y="204"/>
                  </a:cubicBezTo>
                  <a:cubicBezTo>
                    <a:pt x="1854" y="338"/>
                    <a:pt x="1854" y="338"/>
                    <a:pt x="1854" y="338"/>
                  </a:cubicBezTo>
                  <a:cubicBezTo>
                    <a:pt x="1886" y="338"/>
                    <a:pt x="1886" y="338"/>
                    <a:pt x="1886" y="338"/>
                  </a:cubicBezTo>
                  <a:cubicBezTo>
                    <a:pt x="1886" y="204"/>
                    <a:pt x="1886" y="204"/>
                    <a:pt x="1886" y="204"/>
                  </a:cubicBezTo>
                  <a:cubicBezTo>
                    <a:pt x="1886" y="140"/>
                    <a:pt x="1853" y="96"/>
                    <a:pt x="1787" y="96"/>
                  </a:cubicBezTo>
                  <a:cubicBezTo>
                    <a:pt x="1755" y="97"/>
                    <a:pt x="1724" y="109"/>
                    <a:pt x="1704" y="141"/>
                  </a:cubicBezTo>
                  <a:cubicBezTo>
                    <a:pt x="1704" y="0"/>
                    <a:pt x="1704" y="0"/>
                    <a:pt x="1704" y="0"/>
                  </a:cubicBezTo>
                  <a:lnTo>
                    <a:pt x="1672" y="0"/>
                  </a:lnTo>
                  <a:close/>
                </a:path>
              </a:pathLst>
            </a:custGeom>
            <a:solidFill>
              <a:srgbClr val="6C7A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348945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F1E34D5D-73AB-4834-BD5C-C55B17BF3B59}"/>
              </a:ext>
            </a:extLst>
          </p:cNvPr>
          <p:cNvSpPr>
            <a:spLocks noGrp="1"/>
          </p:cNvSpPr>
          <p:nvPr>
            <p:ph type="title"/>
          </p:nvPr>
        </p:nvSpPr>
        <p:spPr>
          <a:xfrm>
            <a:off x="6496709" y="1715921"/>
            <a:ext cx="4674259" cy="468792"/>
          </a:xfrm>
        </p:spPr>
        <p:txBody>
          <a:bodyPr/>
          <a:lstStyle/>
          <a:p>
            <a:r>
              <a:rPr lang="en-US" dirty="0">
                <a:solidFill>
                  <a:schemeClr val="tx2"/>
                </a:solidFill>
              </a:rPr>
              <a:t>Agenda</a:t>
            </a:r>
          </a:p>
        </p:txBody>
      </p:sp>
      <p:graphicFrame>
        <p:nvGraphicFramePr>
          <p:cNvPr id="18" name="Content Placeholder 17">
            <a:extLst>
              <a:ext uri="{FF2B5EF4-FFF2-40B4-BE49-F238E27FC236}">
                <a16:creationId xmlns:a16="http://schemas.microsoft.com/office/drawing/2014/main" id="{07830494-2ABA-4141-8486-EF83CB764E6A}"/>
              </a:ext>
            </a:extLst>
          </p:cNvPr>
          <p:cNvGraphicFramePr>
            <a:graphicFrameLocks noGrp="1"/>
          </p:cNvGraphicFramePr>
          <p:nvPr>
            <p:ph sz="quarter" idx="21"/>
            <p:extLst>
              <p:ext uri="{D42A27DB-BD31-4B8C-83A1-F6EECF244321}">
                <p14:modId xmlns:p14="http://schemas.microsoft.com/office/powerpoint/2010/main" val="898373953"/>
              </p:ext>
            </p:extLst>
          </p:nvPr>
        </p:nvGraphicFramePr>
        <p:xfrm>
          <a:off x="6497367" y="2422837"/>
          <a:ext cx="4057743" cy="2007872"/>
        </p:xfrm>
        <a:graphic>
          <a:graphicData uri="http://schemas.openxmlformats.org/drawingml/2006/table">
            <a:tbl>
              <a:tblPr>
                <a:tableStyleId>{2D5ABB26-0587-4C30-8999-92F81FD0307C}</a:tableStyleId>
              </a:tblPr>
              <a:tblGrid>
                <a:gridCol w="4057743">
                  <a:extLst>
                    <a:ext uri="{9D8B030D-6E8A-4147-A177-3AD203B41FA5}">
                      <a16:colId xmlns:a16="http://schemas.microsoft.com/office/drawing/2014/main" val="1872986373"/>
                    </a:ext>
                  </a:extLst>
                </a:gridCol>
              </a:tblGrid>
              <a:tr h="357188">
                <a:tc>
                  <a:txBody>
                    <a:bodyPr/>
                    <a:lstStyle/>
                    <a:p>
                      <a:r>
                        <a:rPr lang="en-US" sz="1600" dirty="0">
                          <a:solidFill>
                            <a:schemeClr val="bg2"/>
                          </a:solidFill>
                        </a:rPr>
                        <a:t>Swiss Cheese and Global CX</a:t>
                      </a:r>
                    </a:p>
                  </a:txBody>
                  <a:tcPr anchor="ctr">
                    <a:lnT w="12700" cap="flat" cmpd="sng" algn="ctr">
                      <a:no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tcPr>
                </a:tc>
                <a:extLst>
                  <a:ext uri="{0D108BD9-81ED-4DB2-BD59-A6C34878D82A}">
                    <a16:rowId xmlns:a16="http://schemas.microsoft.com/office/drawing/2014/main" val="3523611496"/>
                  </a:ext>
                </a:extLst>
              </a:tr>
              <a:tr h="357188">
                <a:tc>
                  <a:txBody>
                    <a:bodyPr/>
                    <a:lstStyle/>
                    <a:p>
                      <a:r>
                        <a:rPr lang="en-US" sz="1600" dirty="0">
                          <a:solidFill>
                            <a:schemeClr val="bg2"/>
                          </a:solidFill>
                        </a:rPr>
                        <a:t>The Global CX Calculator</a:t>
                      </a:r>
                    </a:p>
                  </a:txBody>
                  <a:tcPr anchor="ct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tcPr>
                </a:tc>
                <a:extLst>
                  <a:ext uri="{0D108BD9-81ED-4DB2-BD59-A6C34878D82A}">
                    <a16:rowId xmlns:a16="http://schemas.microsoft.com/office/drawing/2014/main" val="999390377"/>
                  </a:ext>
                </a:extLst>
              </a:tr>
              <a:tr h="357188">
                <a:tc>
                  <a:txBody>
                    <a:bodyPr/>
                    <a:lstStyle/>
                    <a:p>
                      <a:r>
                        <a:rPr lang="en-US" sz="1600" dirty="0">
                          <a:solidFill>
                            <a:schemeClr val="bg2"/>
                          </a:solidFill>
                        </a:rPr>
                        <a:t>Demo Time</a:t>
                      </a:r>
                    </a:p>
                  </a:txBody>
                  <a:tcPr anchor="ct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tcPr>
                </a:tc>
                <a:extLst>
                  <a:ext uri="{0D108BD9-81ED-4DB2-BD59-A6C34878D82A}">
                    <a16:rowId xmlns:a16="http://schemas.microsoft.com/office/drawing/2014/main" val="3544406604"/>
                  </a:ext>
                </a:extLst>
              </a:tr>
              <a:tr h="357188">
                <a:tc>
                  <a:txBody>
                    <a:bodyPr/>
                    <a:lstStyle/>
                    <a:p>
                      <a:r>
                        <a:rPr lang="en-US" sz="1600" dirty="0">
                          <a:solidFill>
                            <a:schemeClr val="bg2"/>
                          </a:solidFill>
                        </a:rPr>
                        <a:t>Using the Calculator with Clients and Prospects</a:t>
                      </a:r>
                    </a:p>
                  </a:txBody>
                  <a:tcPr anchor="ct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tcPr>
                </a:tc>
                <a:extLst>
                  <a:ext uri="{0D108BD9-81ED-4DB2-BD59-A6C34878D82A}">
                    <a16:rowId xmlns:a16="http://schemas.microsoft.com/office/drawing/2014/main" val="3481265812"/>
                  </a:ext>
                </a:extLst>
              </a:tr>
              <a:tr h="357188">
                <a:tc>
                  <a:txBody>
                    <a:bodyPr/>
                    <a:lstStyle/>
                    <a:p>
                      <a:r>
                        <a:rPr lang="en-US" sz="1600" dirty="0">
                          <a:solidFill>
                            <a:schemeClr val="bg2"/>
                          </a:solidFill>
                        </a:rPr>
                        <a:t>Questions</a:t>
                      </a:r>
                    </a:p>
                  </a:txBody>
                  <a:tcPr anchor="ct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tcPr>
                </a:tc>
                <a:extLst>
                  <a:ext uri="{0D108BD9-81ED-4DB2-BD59-A6C34878D82A}">
                    <a16:rowId xmlns:a16="http://schemas.microsoft.com/office/drawing/2014/main" val="1209968188"/>
                  </a:ext>
                </a:extLst>
              </a:tr>
            </a:tbl>
          </a:graphicData>
        </a:graphic>
      </p:graphicFrame>
      <p:cxnSp>
        <p:nvCxnSpPr>
          <p:cNvPr id="19" name="Straight Connector 18">
            <a:extLst>
              <a:ext uri="{FF2B5EF4-FFF2-40B4-BE49-F238E27FC236}">
                <a16:creationId xmlns:a16="http://schemas.microsoft.com/office/drawing/2014/main" id="{3A55C27E-5516-4747-80A2-3FE5D9F5BF6E}"/>
              </a:ext>
            </a:extLst>
          </p:cNvPr>
          <p:cNvCxnSpPr>
            <a:cxnSpLocks/>
          </p:cNvCxnSpPr>
          <p:nvPr/>
        </p:nvCxnSpPr>
        <p:spPr>
          <a:xfrm>
            <a:off x="6568012" y="2270439"/>
            <a:ext cx="709613" cy="0"/>
          </a:xfrm>
          <a:prstGeom prst="line">
            <a:avLst/>
          </a:prstGeom>
          <a:ln w="254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05273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E7ECEA-8661-42E8-9674-CB0669558F7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8332" r="6875" b="18334"/>
          <a:stretch/>
        </p:blipFill>
        <p:spPr>
          <a:xfrm>
            <a:off x="0" y="1257300"/>
            <a:ext cx="11353800" cy="4343400"/>
          </a:xfrm>
          <a:prstGeom prst="rect">
            <a:avLst/>
          </a:prstGeom>
        </p:spPr>
      </p:pic>
      <p:sp>
        <p:nvSpPr>
          <p:cNvPr id="5" name="Title 4"/>
          <p:cNvSpPr>
            <a:spLocks noGrp="1"/>
          </p:cNvSpPr>
          <p:nvPr>
            <p:ph type="ctrTitle"/>
          </p:nvPr>
        </p:nvSpPr>
        <p:spPr>
          <a:xfrm>
            <a:off x="6096000" y="1968500"/>
            <a:ext cx="5257800" cy="2921000"/>
          </a:xfrm>
          <a:solidFill>
            <a:srgbClr val="6075A7"/>
          </a:solidFill>
        </p:spPr>
        <p:txBody>
          <a:bodyPr>
            <a:noAutofit/>
          </a:bodyPr>
          <a:lstStyle/>
          <a:p>
            <a:pPr algn="l">
              <a:lnSpc>
                <a:spcPct val="100000"/>
              </a:lnSpc>
              <a:spcAft>
                <a:spcPts val="1200"/>
              </a:spcAft>
            </a:pPr>
            <a:r>
              <a:rPr lang="en-US" dirty="0"/>
              <a:t>Swiss Cheese and Global CX</a:t>
            </a:r>
            <a:endParaRPr lang="en-US" b="0" dirty="0">
              <a:latin typeface="+mn-lt"/>
            </a:endParaRPr>
          </a:p>
        </p:txBody>
      </p:sp>
      <p:sp>
        <p:nvSpPr>
          <p:cNvPr id="9" name="Rectangle 8"/>
          <p:cNvSpPr/>
          <p:nvPr/>
        </p:nvSpPr>
        <p:spPr>
          <a:xfrm>
            <a:off x="0" y="1968500"/>
            <a:ext cx="6096000" cy="2921000"/>
          </a:xfrm>
          <a:prstGeom prst="rect">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90349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3A96F27-A48F-4A6F-831B-72A868390A1A}"/>
              </a:ext>
            </a:extLst>
          </p:cNvPr>
          <p:cNvSpPr>
            <a:spLocks noGrp="1"/>
          </p:cNvSpPr>
          <p:nvPr>
            <p:ph type="title"/>
          </p:nvPr>
        </p:nvSpPr>
        <p:spPr>
          <a:xfrm>
            <a:off x="838200" y="89012"/>
            <a:ext cx="10515600" cy="1001535"/>
          </a:xfrm>
        </p:spPr>
        <p:txBody>
          <a:bodyPr anchor="ctr">
            <a:normAutofit/>
          </a:bodyPr>
          <a:lstStyle/>
          <a:p>
            <a:r>
              <a:rPr lang="en-US" dirty="0">
                <a:latin typeface="Arial" charset="0"/>
                <a:ea typeface="MS PGothic" charset="0"/>
              </a:rPr>
              <a:t>The “reverse Swiss cheese model”</a:t>
            </a:r>
            <a:endParaRPr lang="en-US" dirty="0"/>
          </a:p>
        </p:txBody>
      </p:sp>
      <p:pic>
        <p:nvPicPr>
          <p:cNvPr id="20" name="Picture 19">
            <a:extLst>
              <a:ext uri="{FF2B5EF4-FFF2-40B4-BE49-F238E27FC236}">
                <a16:creationId xmlns:a16="http://schemas.microsoft.com/office/drawing/2014/main" id="{50228EE6-AFB4-A72F-59AD-F1831CA28B6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1090547"/>
            <a:ext cx="12192000" cy="5047488"/>
          </a:xfrm>
          <a:prstGeom prst="rect">
            <a:avLst/>
          </a:prstGeom>
        </p:spPr>
      </p:pic>
      <p:pic>
        <p:nvPicPr>
          <p:cNvPr id="22" name="Picture 21">
            <a:extLst>
              <a:ext uri="{FF2B5EF4-FFF2-40B4-BE49-F238E27FC236}">
                <a16:creationId xmlns:a16="http://schemas.microsoft.com/office/drawing/2014/main" id="{9DB04B7B-7B00-1412-C273-EDA50D46D274}"/>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0" y="1090547"/>
            <a:ext cx="12192000" cy="5047488"/>
          </a:xfrm>
          <a:prstGeom prst="rect">
            <a:avLst/>
          </a:prstGeom>
        </p:spPr>
      </p:pic>
      <p:pic>
        <p:nvPicPr>
          <p:cNvPr id="24" name="Picture 23">
            <a:extLst>
              <a:ext uri="{FF2B5EF4-FFF2-40B4-BE49-F238E27FC236}">
                <a16:creationId xmlns:a16="http://schemas.microsoft.com/office/drawing/2014/main" id="{6CC90CDC-163C-41DF-7B69-09DAF177906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0" y="1090547"/>
            <a:ext cx="12192000" cy="5047488"/>
          </a:xfrm>
          <a:prstGeom prst="rect">
            <a:avLst/>
          </a:prstGeom>
        </p:spPr>
      </p:pic>
      <p:pic>
        <p:nvPicPr>
          <p:cNvPr id="25" name="Picture 24">
            <a:extLst>
              <a:ext uri="{FF2B5EF4-FFF2-40B4-BE49-F238E27FC236}">
                <a16:creationId xmlns:a16="http://schemas.microsoft.com/office/drawing/2014/main" id="{54DC9A8E-A15A-F3EE-A21E-2848E2B9BC96}"/>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0" y="1090547"/>
            <a:ext cx="12192000" cy="5047488"/>
          </a:xfrm>
          <a:prstGeom prst="rect">
            <a:avLst/>
          </a:prstGeom>
        </p:spPr>
      </p:pic>
      <p:pic>
        <p:nvPicPr>
          <p:cNvPr id="26" name="Picture 25">
            <a:extLst>
              <a:ext uri="{FF2B5EF4-FFF2-40B4-BE49-F238E27FC236}">
                <a16:creationId xmlns:a16="http://schemas.microsoft.com/office/drawing/2014/main" id="{56DA54E3-FD62-81F7-DCBE-29BEB05F256D}"/>
              </a:ext>
            </a:extLst>
          </p:cNvPr>
          <p:cNvPicPr>
            <a:picLocks noChangeAspect="1"/>
          </p:cNvPicPr>
          <p:nvPr/>
        </p:nvPicPr>
        <p:blipFill>
          <a:blip r:embed="rId7" cstate="screen">
            <a:extLst>
              <a:ext uri="{28A0092B-C50C-407E-A947-70E740481C1C}">
                <a14:useLocalDpi xmlns:a14="http://schemas.microsoft.com/office/drawing/2010/main"/>
              </a:ext>
            </a:extLst>
          </a:blip>
          <a:srcRect/>
          <a:stretch/>
        </p:blipFill>
        <p:spPr>
          <a:xfrm>
            <a:off x="14689" y="1090547"/>
            <a:ext cx="12162621" cy="5047488"/>
          </a:xfrm>
          <a:prstGeom prst="rect">
            <a:avLst/>
          </a:prstGeom>
        </p:spPr>
      </p:pic>
      <p:pic>
        <p:nvPicPr>
          <p:cNvPr id="27" name="Picture 26">
            <a:extLst>
              <a:ext uri="{FF2B5EF4-FFF2-40B4-BE49-F238E27FC236}">
                <a16:creationId xmlns:a16="http://schemas.microsoft.com/office/drawing/2014/main" id="{86F8510E-5813-B612-A721-DB5045854203}"/>
              </a:ext>
            </a:extLst>
          </p:cNvPr>
          <p:cNvPicPr>
            <a:picLocks noChangeAspect="1"/>
          </p:cNvPicPr>
          <p:nvPr/>
        </p:nvPicPr>
        <p:blipFill>
          <a:blip r:embed="rId8" cstate="screen">
            <a:extLst>
              <a:ext uri="{28A0092B-C50C-407E-A947-70E740481C1C}">
                <a14:useLocalDpi xmlns:a14="http://schemas.microsoft.com/office/drawing/2010/main"/>
              </a:ext>
            </a:extLst>
          </a:blip>
          <a:srcRect/>
          <a:stretch/>
        </p:blipFill>
        <p:spPr>
          <a:xfrm>
            <a:off x="14689" y="1090547"/>
            <a:ext cx="12162621" cy="5047487"/>
          </a:xfrm>
          <a:prstGeom prst="rect">
            <a:avLst/>
          </a:prstGeom>
        </p:spPr>
      </p:pic>
      <p:pic>
        <p:nvPicPr>
          <p:cNvPr id="28" name="Picture 27">
            <a:extLst>
              <a:ext uri="{FF2B5EF4-FFF2-40B4-BE49-F238E27FC236}">
                <a16:creationId xmlns:a16="http://schemas.microsoft.com/office/drawing/2014/main" id="{A05F9CC5-D593-FE83-010E-CEAEFBF3909A}"/>
              </a:ext>
            </a:extLst>
          </p:cNvPr>
          <p:cNvPicPr>
            <a:picLocks noChangeAspect="1"/>
          </p:cNvPicPr>
          <p:nvPr/>
        </p:nvPicPr>
        <p:blipFill>
          <a:blip r:embed="rId9" cstate="screen">
            <a:extLst>
              <a:ext uri="{28A0092B-C50C-407E-A947-70E740481C1C}">
                <a14:useLocalDpi xmlns:a14="http://schemas.microsoft.com/office/drawing/2010/main"/>
              </a:ext>
            </a:extLst>
          </a:blip>
          <a:srcRect/>
          <a:stretch/>
        </p:blipFill>
        <p:spPr>
          <a:xfrm>
            <a:off x="14690" y="1090547"/>
            <a:ext cx="12162619" cy="5047487"/>
          </a:xfrm>
          <a:prstGeom prst="rect">
            <a:avLst/>
          </a:prstGeom>
        </p:spPr>
      </p:pic>
      <p:pic>
        <p:nvPicPr>
          <p:cNvPr id="29" name="Picture 28">
            <a:extLst>
              <a:ext uri="{FF2B5EF4-FFF2-40B4-BE49-F238E27FC236}">
                <a16:creationId xmlns:a16="http://schemas.microsoft.com/office/drawing/2014/main" id="{2B27408F-AE1C-B998-5865-C9AE6D1AF588}"/>
              </a:ext>
            </a:extLst>
          </p:cNvPr>
          <p:cNvPicPr>
            <a:picLocks noChangeAspect="1"/>
          </p:cNvPicPr>
          <p:nvPr/>
        </p:nvPicPr>
        <p:blipFill>
          <a:blip r:embed="rId10" cstate="screen">
            <a:extLst>
              <a:ext uri="{28A0092B-C50C-407E-A947-70E740481C1C}">
                <a14:useLocalDpi xmlns:a14="http://schemas.microsoft.com/office/drawing/2010/main"/>
              </a:ext>
            </a:extLst>
          </a:blip>
          <a:srcRect/>
          <a:stretch/>
        </p:blipFill>
        <p:spPr>
          <a:xfrm>
            <a:off x="14690" y="1090547"/>
            <a:ext cx="12162619" cy="5047486"/>
          </a:xfrm>
          <a:prstGeom prst="rect">
            <a:avLst/>
          </a:prstGeom>
        </p:spPr>
      </p:pic>
      <p:pic>
        <p:nvPicPr>
          <p:cNvPr id="30" name="Picture 29">
            <a:extLst>
              <a:ext uri="{FF2B5EF4-FFF2-40B4-BE49-F238E27FC236}">
                <a16:creationId xmlns:a16="http://schemas.microsoft.com/office/drawing/2014/main" id="{361A2F9E-0281-5701-61C8-68411B674001}"/>
              </a:ext>
            </a:extLst>
          </p:cNvPr>
          <p:cNvPicPr>
            <a:picLocks noChangeAspect="1"/>
          </p:cNvPicPr>
          <p:nvPr/>
        </p:nvPicPr>
        <p:blipFill>
          <a:blip r:embed="rId11" cstate="screen">
            <a:extLst>
              <a:ext uri="{28A0092B-C50C-407E-A947-70E740481C1C}">
                <a14:useLocalDpi xmlns:a14="http://schemas.microsoft.com/office/drawing/2010/main"/>
              </a:ext>
            </a:extLst>
          </a:blip>
          <a:srcRect/>
          <a:stretch/>
        </p:blipFill>
        <p:spPr>
          <a:xfrm>
            <a:off x="14691" y="1090547"/>
            <a:ext cx="12162616" cy="5047486"/>
          </a:xfrm>
          <a:prstGeom prst="rect">
            <a:avLst/>
          </a:prstGeom>
        </p:spPr>
      </p:pic>
      <p:pic>
        <p:nvPicPr>
          <p:cNvPr id="31" name="Picture 30">
            <a:extLst>
              <a:ext uri="{FF2B5EF4-FFF2-40B4-BE49-F238E27FC236}">
                <a16:creationId xmlns:a16="http://schemas.microsoft.com/office/drawing/2014/main" id="{9DF26B34-1C59-D8DE-C82A-BFCD016F3E7C}"/>
              </a:ext>
            </a:extLst>
          </p:cNvPr>
          <p:cNvPicPr>
            <a:picLocks noChangeAspect="1"/>
          </p:cNvPicPr>
          <p:nvPr/>
        </p:nvPicPr>
        <p:blipFill>
          <a:blip r:embed="rId12" cstate="screen">
            <a:extLst>
              <a:ext uri="{28A0092B-C50C-407E-A947-70E740481C1C}">
                <a14:useLocalDpi xmlns:a14="http://schemas.microsoft.com/office/drawing/2010/main"/>
              </a:ext>
            </a:extLst>
          </a:blip>
          <a:srcRect/>
          <a:stretch/>
        </p:blipFill>
        <p:spPr>
          <a:xfrm>
            <a:off x="14691" y="1090547"/>
            <a:ext cx="12162616" cy="5047485"/>
          </a:xfrm>
          <a:prstGeom prst="rect">
            <a:avLst/>
          </a:prstGeom>
        </p:spPr>
      </p:pic>
    </p:spTree>
    <p:extLst>
      <p:ext uri="{BB962C8B-B14F-4D97-AF65-F5344CB8AC3E}">
        <p14:creationId xmlns:p14="http://schemas.microsoft.com/office/powerpoint/2010/main" val="2133590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5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5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500"/>
                                        <p:tgtEl>
                                          <p:spTgt spid="2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500"/>
                                        <p:tgtEl>
                                          <p:spTgt spid="3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82DFF-30EC-E6D8-AB82-8CCCDDF91757}"/>
              </a:ext>
            </a:extLst>
          </p:cNvPr>
          <p:cNvSpPr>
            <a:spLocks noGrp="1"/>
          </p:cNvSpPr>
          <p:nvPr>
            <p:ph type="title"/>
          </p:nvPr>
        </p:nvSpPr>
        <p:spPr/>
        <p:txBody>
          <a:bodyPr anchor="ctr"/>
          <a:lstStyle/>
          <a:p>
            <a:r>
              <a:rPr lang="en-US" dirty="0"/>
              <a:t>Implications of this model</a:t>
            </a:r>
          </a:p>
        </p:txBody>
      </p:sp>
      <p:sp>
        <p:nvSpPr>
          <p:cNvPr id="5" name="Content Placeholder 4">
            <a:extLst>
              <a:ext uri="{FF2B5EF4-FFF2-40B4-BE49-F238E27FC236}">
                <a16:creationId xmlns:a16="http://schemas.microsoft.com/office/drawing/2014/main" id="{56F4A2EA-47B0-7760-4558-CAEE692F9065}"/>
              </a:ext>
            </a:extLst>
          </p:cNvPr>
          <p:cNvSpPr>
            <a:spLocks noGrp="1"/>
          </p:cNvSpPr>
          <p:nvPr>
            <p:ph idx="1"/>
          </p:nvPr>
        </p:nvSpPr>
        <p:spPr>
          <a:xfrm>
            <a:off x="838200" y="1475118"/>
            <a:ext cx="4973320" cy="4701846"/>
          </a:xfrm>
        </p:spPr>
        <p:txBody>
          <a:bodyPr/>
          <a:lstStyle/>
          <a:p>
            <a:r>
              <a:rPr lang="en-US" dirty="0"/>
              <a:t>“Almost” doesn’t get you there</a:t>
            </a:r>
          </a:p>
          <a:p>
            <a:r>
              <a:rPr lang="en-US" dirty="0"/>
              <a:t>Failure at any single point can result in the customer walking away</a:t>
            </a:r>
          </a:p>
          <a:p>
            <a:r>
              <a:rPr lang="en-US" dirty="0"/>
              <a:t>Enterprises need to factor in the entire journey</a:t>
            </a:r>
          </a:p>
          <a:p>
            <a:r>
              <a:rPr lang="en-US" dirty="0"/>
              <a:t>Many invest the most in phases with the least value per visitor</a:t>
            </a:r>
          </a:p>
        </p:txBody>
      </p:sp>
      <p:pic>
        <p:nvPicPr>
          <p:cNvPr id="6" name="Picture 5">
            <a:extLst>
              <a:ext uri="{FF2B5EF4-FFF2-40B4-BE49-F238E27FC236}">
                <a16:creationId xmlns:a16="http://schemas.microsoft.com/office/drawing/2014/main" id="{D01B7709-DEC1-F8BA-7AD1-79DE67A2A42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922872" y="1475118"/>
            <a:ext cx="6269128" cy="4701846"/>
          </a:xfrm>
          <a:prstGeom prst="rect">
            <a:avLst/>
          </a:prstGeom>
        </p:spPr>
      </p:pic>
    </p:spTree>
    <p:extLst>
      <p:ext uri="{BB962C8B-B14F-4D97-AF65-F5344CB8AC3E}">
        <p14:creationId xmlns:p14="http://schemas.microsoft.com/office/powerpoint/2010/main" val="2391632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F97FD-3DBA-4255-E446-87FCBD6DA74C}"/>
              </a:ext>
            </a:extLst>
          </p:cNvPr>
          <p:cNvSpPr>
            <a:spLocks noGrp="1"/>
          </p:cNvSpPr>
          <p:nvPr>
            <p:ph type="title"/>
          </p:nvPr>
        </p:nvSpPr>
        <p:spPr/>
        <p:txBody>
          <a:bodyPr/>
          <a:lstStyle/>
          <a:p>
            <a:r>
              <a:rPr lang="en-US" dirty="0"/>
              <a:t>“Can’t Read, Won’t Buy” sets the stage</a:t>
            </a:r>
          </a:p>
        </p:txBody>
      </p:sp>
      <p:sp>
        <p:nvSpPr>
          <p:cNvPr id="8" name="Content Placeholder 7">
            <a:extLst>
              <a:ext uri="{FF2B5EF4-FFF2-40B4-BE49-F238E27FC236}">
                <a16:creationId xmlns:a16="http://schemas.microsoft.com/office/drawing/2014/main" id="{8D00B718-583A-0C22-E4F8-C8653AC86A36}"/>
              </a:ext>
            </a:extLst>
          </p:cNvPr>
          <p:cNvSpPr>
            <a:spLocks noGrp="1"/>
          </p:cNvSpPr>
          <p:nvPr>
            <p:ph idx="1"/>
          </p:nvPr>
        </p:nvSpPr>
        <p:spPr>
          <a:xfrm>
            <a:off x="6304280" y="1312558"/>
            <a:ext cx="5703806" cy="4902505"/>
          </a:xfrm>
        </p:spPr>
        <p:txBody>
          <a:bodyPr>
            <a:normAutofit/>
          </a:bodyPr>
          <a:lstStyle/>
          <a:p>
            <a:pPr marL="285750" indent="-285750"/>
            <a:r>
              <a:rPr lang="en-US" sz="2000" dirty="0"/>
              <a:t>The series provides valuable insights into self-reported buying behavior of both B2C and B2B buyers</a:t>
            </a:r>
          </a:p>
          <a:p>
            <a:pPr marL="285750" indent="-285750"/>
            <a:r>
              <a:rPr lang="en-US" sz="2000" dirty="0"/>
              <a:t>Data focuses on key decision points in the customer journey</a:t>
            </a:r>
          </a:p>
          <a:p>
            <a:pPr marL="285750" indent="-285750"/>
            <a:r>
              <a:rPr lang="en-US" sz="2000" dirty="0"/>
              <a:t>Not easy to turn the results into predictions for how current localization is likely to affect customers</a:t>
            </a:r>
          </a:p>
          <a:p>
            <a:pPr marL="0" indent="0" algn="ctr">
              <a:buNone/>
            </a:pPr>
            <a:r>
              <a:rPr lang="en-US" sz="2000" b="1" dirty="0">
                <a:solidFill>
                  <a:srgbClr val="C84938"/>
                </a:solidFill>
              </a:rPr>
              <a:t>Three-quarters of online consumers</a:t>
            </a:r>
            <a:br>
              <a:rPr lang="en-US" sz="2000" b="1" dirty="0">
                <a:solidFill>
                  <a:srgbClr val="C84938"/>
                </a:solidFill>
              </a:rPr>
            </a:br>
            <a:r>
              <a:rPr lang="en-US" sz="2000" b="1" dirty="0">
                <a:solidFill>
                  <a:srgbClr val="C84938"/>
                </a:solidFill>
              </a:rPr>
              <a:t>are unlikely to purchase from sites</a:t>
            </a:r>
            <a:br>
              <a:rPr lang="en-US" sz="2000" b="1" dirty="0">
                <a:solidFill>
                  <a:srgbClr val="C84938"/>
                </a:solidFill>
              </a:rPr>
            </a:br>
            <a:r>
              <a:rPr lang="en-US" sz="2000" b="1" dirty="0">
                <a:solidFill>
                  <a:srgbClr val="C84938"/>
                </a:solidFill>
              </a:rPr>
              <a:t>that do not support their language!</a:t>
            </a:r>
          </a:p>
          <a:p>
            <a:pPr marL="285750" indent="-285750"/>
            <a:endParaRPr lang="en-US" sz="2000" dirty="0"/>
          </a:p>
        </p:txBody>
      </p:sp>
      <p:pic>
        <p:nvPicPr>
          <p:cNvPr id="11" name="Picture 4" descr="Figure">
            <a:extLst>
              <a:ext uri="{FF2B5EF4-FFF2-40B4-BE49-F238E27FC236}">
                <a16:creationId xmlns:a16="http://schemas.microsoft.com/office/drawing/2014/main" id="{A5D3F3A5-4133-566F-A8BE-98F2C622C726}"/>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04379" y="1312558"/>
            <a:ext cx="5283342" cy="4702175"/>
          </a:xfrm>
          <a:prstGeom prst="rect">
            <a:avLst/>
          </a:prstGeom>
          <a:noFill/>
          <a:ln>
            <a:solidFill>
              <a:schemeClr val="tx1"/>
            </a:solid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6666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E7ECEA-8661-42E8-9674-CB0669558F7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8332" r="6875" b="18334"/>
          <a:stretch/>
        </p:blipFill>
        <p:spPr>
          <a:xfrm>
            <a:off x="0" y="1257300"/>
            <a:ext cx="11353800" cy="4343400"/>
          </a:xfrm>
          <a:prstGeom prst="rect">
            <a:avLst/>
          </a:prstGeom>
        </p:spPr>
      </p:pic>
      <p:sp>
        <p:nvSpPr>
          <p:cNvPr id="5" name="Title 4"/>
          <p:cNvSpPr>
            <a:spLocks noGrp="1"/>
          </p:cNvSpPr>
          <p:nvPr>
            <p:ph type="ctrTitle"/>
          </p:nvPr>
        </p:nvSpPr>
        <p:spPr>
          <a:xfrm>
            <a:off x="6096000" y="1968500"/>
            <a:ext cx="5257800" cy="2921000"/>
          </a:xfrm>
          <a:solidFill>
            <a:srgbClr val="6075A7"/>
          </a:solidFill>
        </p:spPr>
        <p:txBody>
          <a:bodyPr>
            <a:noAutofit/>
          </a:bodyPr>
          <a:lstStyle/>
          <a:p>
            <a:pPr algn="l">
              <a:lnSpc>
                <a:spcPct val="100000"/>
              </a:lnSpc>
              <a:spcAft>
                <a:spcPts val="1200"/>
              </a:spcAft>
            </a:pPr>
            <a:r>
              <a:rPr lang="en-US" dirty="0"/>
              <a:t>The Global CX Calculator</a:t>
            </a:r>
            <a:endParaRPr lang="en-US" b="0" dirty="0">
              <a:latin typeface="+mn-lt"/>
            </a:endParaRPr>
          </a:p>
        </p:txBody>
      </p:sp>
      <p:sp>
        <p:nvSpPr>
          <p:cNvPr id="9" name="Rectangle 8"/>
          <p:cNvSpPr/>
          <p:nvPr/>
        </p:nvSpPr>
        <p:spPr>
          <a:xfrm>
            <a:off x="0" y="1968500"/>
            <a:ext cx="6096000" cy="2921000"/>
          </a:xfrm>
          <a:prstGeom prst="rect">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01574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BC2E1-5249-E9E6-E531-332D1C66040A}"/>
              </a:ext>
            </a:extLst>
          </p:cNvPr>
          <p:cNvSpPr>
            <a:spLocks noGrp="1"/>
          </p:cNvSpPr>
          <p:nvPr>
            <p:ph type="title"/>
          </p:nvPr>
        </p:nvSpPr>
        <p:spPr/>
        <p:txBody>
          <a:bodyPr>
            <a:normAutofit/>
          </a:bodyPr>
          <a:lstStyle/>
          <a:p>
            <a:r>
              <a:rPr lang="en-US" sz="2800" dirty="0"/>
              <a:t>The Global CX Calculator: Predictive analytics for CX</a:t>
            </a:r>
          </a:p>
        </p:txBody>
      </p:sp>
      <p:sp>
        <p:nvSpPr>
          <p:cNvPr id="3" name="Content Placeholder 2">
            <a:extLst>
              <a:ext uri="{FF2B5EF4-FFF2-40B4-BE49-F238E27FC236}">
                <a16:creationId xmlns:a16="http://schemas.microsoft.com/office/drawing/2014/main" id="{8F99D0F7-E0C8-4C11-3501-EAB5D5B2B849}"/>
              </a:ext>
            </a:extLst>
          </p:cNvPr>
          <p:cNvSpPr>
            <a:spLocks noGrp="1"/>
          </p:cNvSpPr>
          <p:nvPr>
            <p:ph idx="1"/>
          </p:nvPr>
        </p:nvSpPr>
        <p:spPr>
          <a:xfrm>
            <a:off x="838200" y="2524538"/>
            <a:ext cx="7273128" cy="3652425"/>
          </a:xfrm>
        </p:spPr>
        <p:txBody>
          <a:bodyPr/>
          <a:lstStyle/>
          <a:p>
            <a:r>
              <a:rPr lang="en-US" dirty="0"/>
              <a:t>Uses the insights from over 3,700 global consumers in 29 countries to predict how localization affects willingness to purchase</a:t>
            </a:r>
          </a:p>
          <a:p>
            <a:r>
              <a:rPr lang="en-US" dirty="0"/>
              <a:t>Uses 11 questions about localization levels to take the results and apply them to individuals in each market and predict how likely they are to make it through the customer journey</a:t>
            </a:r>
          </a:p>
        </p:txBody>
      </p:sp>
      <p:pic>
        <p:nvPicPr>
          <p:cNvPr id="4" name="Picture 3">
            <a:extLst>
              <a:ext uri="{FF2B5EF4-FFF2-40B4-BE49-F238E27FC236}">
                <a16:creationId xmlns:a16="http://schemas.microsoft.com/office/drawing/2014/main" id="{A2CF5FD0-9865-7171-6BA4-B55ECCCF3E6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111328" y="1475118"/>
            <a:ext cx="4083467" cy="4453128"/>
          </a:xfrm>
          <a:prstGeom prst="rect">
            <a:avLst/>
          </a:prstGeom>
        </p:spPr>
      </p:pic>
      <p:pic>
        <p:nvPicPr>
          <p:cNvPr id="6" name="Picture 5">
            <a:extLst>
              <a:ext uri="{FF2B5EF4-FFF2-40B4-BE49-F238E27FC236}">
                <a16:creationId xmlns:a16="http://schemas.microsoft.com/office/drawing/2014/main" id="{2C248EE0-103D-A3C6-3FB5-46AB93EA699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64497" y="-9013061"/>
            <a:ext cx="13701008" cy="14941308"/>
          </a:xfrm>
          <a:prstGeom prst="rect">
            <a:avLst/>
          </a:prstGeom>
        </p:spPr>
      </p:pic>
      <p:sp>
        <p:nvSpPr>
          <p:cNvPr id="8" name="TextBox 7">
            <a:extLst>
              <a:ext uri="{FF2B5EF4-FFF2-40B4-BE49-F238E27FC236}">
                <a16:creationId xmlns:a16="http://schemas.microsoft.com/office/drawing/2014/main" id="{98452B42-C60B-048E-9DE0-760631CC2FEE}"/>
              </a:ext>
            </a:extLst>
          </p:cNvPr>
          <p:cNvSpPr txBox="1"/>
          <p:nvPr/>
        </p:nvSpPr>
        <p:spPr>
          <a:xfrm>
            <a:off x="838200" y="1723835"/>
            <a:ext cx="7270333" cy="461665"/>
          </a:xfrm>
          <a:prstGeom prst="rect">
            <a:avLst/>
          </a:prstGeom>
          <a:noFill/>
        </p:spPr>
        <p:txBody>
          <a:bodyPr wrap="square" rtlCol="0">
            <a:spAutoFit/>
          </a:bodyPr>
          <a:lstStyle/>
          <a:p>
            <a:r>
              <a:rPr lang="en-US" sz="2400" dirty="0"/>
              <a:t>The Global CX Calculator</a:t>
            </a:r>
          </a:p>
        </p:txBody>
      </p:sp>
    </p:spTree>
    <p:extLst>
      <p:ext uri="{BB962C8B-B14F-4D97-AF65-F5344CB8AC3E}">
        <p14:creationId xmlns:p14="http://schemas.microsoft.com/office/powerpoint/2010/main" val="1142774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F1EF2-473E-3448-B8CE-1D5BE208B6CC}"/>
              </a:ext>
            </a:extLst>
          </p:cNvPr>
          <p:cNvSpPr>
            <a:spLocks noGrp="1"/>
          </p:cNvSpPr>
          <p:nvPr>
            <p:ph type="title"/>
          </p:nvPr>
        </p:nvSpPr>
        <p:spPr/>
        <p:txBody>
          <a:bodyPr/>
          <a:lstStyle/>
          <a:p>
            <a:r>
              <a:rPr lang="en-US" dirty="0"/>
              <a:t>Introducing the Global CX Calculator</a:t>
            </a:r>
          </a:p>
        </p:txBody>
      </p:sp>
      <p:pic>
        <p:nvPicPr>
          <p:cNvPr id="4" name="Content Placeholder 3">
            <a:extLst>
              <a:ext uri="{FF2B5EF4-FFF2-40B4-BE49-F238E27FC236}">
                <a16:creationId xmlns:a16="http://schemas.microsoft.com/office/drawing/2014/main" id="{C152FBEC-BF9E-3947-A63B-36A9D534676F}"/>
              </a:ext>
            </a:extLst>
          </p:cNvPr>
          <p:cNvPicPr>
            <a:picLocks noGrp="1" noChangeAspect="1"/>
          </p:cNvPicPr>
          <p:nvPr>
            <p:ph idx="1"/>
          </p:nvPr>
        </p:nvPicPr>
        <p:blipFill>
          <a:blip r:embed="rId3" cstate="screen">
            <a:extLst>
              <a:ext uri="{28A0092B-C50C-407E-A947-70E740481C1C}">
                <a14:useLocalDpi xmlns:a14="http://schemas.microsoft.com/office/drawing/2010/main"/>
              </a:ext>
            </a:extLst>
          </a:blip>
          <a:srcRect/>
          <a:stretch/>
        </p:blipFill>
        <p:spPr>
          <a:xfrm>
            <a:off x="1962947" y="1045030"/>
            <a:ext cx="8266105" cy="5131933"/>
          </a:xfrm>
          <a:prstGeom prst="rect">
            <a:avLst/>
          </a:prstGeom>
        </p:spPr>
      </p:pic>
      <p:pic>
        <p:nvPicPr>
          <p:cNvPr id="5" name="Content Placeholder 3">
            <a:extLst>
              <a:ext uri="{FF2B5EF4-FFF2-40B4-BE49-F238E27FC236}">
                <a16:creationId xmlns:a16="http://schemas.microsoft.com/office/drawing/2014/main" id="{A6659868-50B9-7E4B-AC59-7226E50C4848}"/>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962948" y="1045030"/>
            <a:ext cx="8266103" cy="5131933"/>
          </a:xfrm>
          <a:prstGeom prst="rect">
            <a:avLst/>
          </a:prstGeom>
        </p:spPr>
      </p:pic>
      <p:pic>
        <p:nvPicPr>
          <p:cNvPr id="6" name="Content Placeholder 3">
            <a:extLst>
              <a:ext uri="{FF2B5EF4-FFF2-40B4-BE49-F238E27FC236}">
                <a16:creationId xmlns:a16="http://schemas.microsoft.com/office/drawing/2014/main" id="{45135C90-E1A4-1E46-BE47-73CA3C46654E}"/>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962946" y="1045030"/>
            <a:ext cx="8266103" cy="5131932"/>
          </a:xfrm>
          <a:prstGeom prst="rect">
            <a:avLst/>
          </a:prstGeom>
        </p:spPr>
      </p:pic>
      <p:pic>
        <p:nvPicPr>
          <p:cNvPr id="8" name="Content Placeholder 3">
            <a:extLst>
              <a:ext uri="{FF2B5EF4-FFF2-40B4-BE49-F238E27FC236}">
                <a16:creationId xmlns:a16="http://schemas.microsoft.com/office/drawing/2014/main" id="{D1489522-4838-0445-BDEE-3DB7BA43883B}"/>
              </a:ext>
            </a:extLst>
          </p:cNvPr>
          <p:cNvPicPr>
            <a:picLocks noChangeAspect="1"/>
          </p:cNvPicPr>
          <p:nvPr/>
        </p:nvPicPr>
        <p:blipFill>
          <a:blip r:embed="rId6" cstate="screen">
            <a:extLst>
              <a:ext uri="{28A0092B-C50C-407E-A947-70E740481C1C}">
                <a14:useLocalDpi xmlns:a14="http://schemas.microsoft.com/office/drawing/2010/main"/>
              </a:ext>
            </a:extLst>
          </a:blip>
          <a:srcRect/>
          <a:stretch/>
        </p:blipFill>
        <p:spPr>
          <a:xfrm>
            <a:off x="1962944" y="1045030"/>
            <a:ext cx="8266102" cy="5131932"/>
          </a:xfrm>
          <a:prstGeom prst="rect">
            <a:avLst/>
          </a:prstGeom>
        </p:spPr>
      </p:pic>
      <p:pic>
        <p:nvPicPr>
          <p:cNvPr id="9" name="Content Placeholder 3">
            <a:extLst>
              <a:ext uri="{FF2B5EF4-FFF2-40B4-BE49-F238E27FC236}">
                <a16:creationId xmlns:a16="http://schemas.microsoft.com/office/drawing/2014/main" id="{E70A8360-6215-EF4A-B7AB-74F43D73F7D7}"/>
              </a:ext>
            </a:extLst>
          </p:cNvPr>
          <p:cNvPicPr>
            <a:picLocks noChangeAspect="1"/>
          </p:cNvPicPr>
          <p:nvPr/>
        </p:nvPicPr>
        <p:blipFill>
          <a:blip r:embed="rId7" cstate="screen">
            <a:extLst>
              <a:ext uri="{28A0092B-C50C-407E-A947-70E740481C1C}">
                <a14:useLocalDpi xmlns:a14="http://schemas.microsoft.com/office/drawing/2010/main"/>
              </a:ext>
            </a:extLst>
          </a:blip>
          <a:srcRect/>
          <a:stretch/>
        </p:blipFill>
        <p:spPr>
          <a:xfrm>
            <a:off x="1962941" y="1045030"/>
            <a:ext cx="8266102" cy="5131931"/>
          </a:xfrm>
          <a:prstGeom prst="rect">
            <a:avLst/>
          </a:prstGeom>
        </p:spPr>
      </p:pic>
      <p:sp>
        <p:nvSpPr>
          <p:cNvPr id="11" name="TextBox 10">
            <a:extLst>
              <a:ext uri="{FF2B5EF4-FFF2-40B4-BE49-F238E27FC236}">
                <a16:creationId xmlns:a16="http://schemas.microsoft.com/office/drawing/2014/main" id="{3CD505F2-31B0-F34D-AF9D-D13F0F42D497}"/>
              </a:ext>
            </a:extLst>
          </p:cNvPr>
          <p:cNvSpPr txBox="1"/>
          <p:nvPr/>
        </p:nvSpPr>
        <p:spPr>
          <a:xfrm rot="16200000">
            <a:off x="-2430132" y="3470347"/>
            <a:ext cx="5649303" cy="523220"/>
          </a:xfrm>
          <a:prstGeom prst="rect">
            <a:avLst/>
          </a:prstGeom>
          <a:noFill/>
        </p:spPr>
        <p:txBody>
          <a:bodyPr wrap="none" rtlCol="0">
            <a:spAutoFit/>
          </a:bodyPr>
          <a:lstStyle/>
          <a:p>
            <a:r>
              <a:rPr lang="en-US" sz="2800" b="1" dirty="0"/>
              <a:t>https://data.csa-research.com</a:t>
            </a:r>
          </a:p>
        </p:txBody>
      </p:sp>
    </p:spTree>
    <p:extLst>
      <p:ext uri="{BB962C8B-B14F-4D97-AF65-F5344CB8AC3E}">
        <p14:creationId xmlns:p14="http://schemas.microsoft.com/office/powerpoint/2010/main" val="201546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E7ECEA-8661-42E8-9674-CB0669558F7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8332" r="6875" b="18334"/>
          <a:stretch/>
        </p:blipFill>
        <p:spPr>
          <a:xfrm>
            <a:off x="0" y="1257300"/>
            <a:ext cx="11353800" cy="4343400"/>
          </a:xfrm>
          <a:prstGeom prst="rect">
            <a:avLst/>
          </a:prstGeom>
        </p:spPr>
      </p:pic>
      <p:sp>
        <p:nvSpPr>
          <p:cNvPr id="5" name="Title 4"/>
          <p:cNvSpPr>
            <a:spLocks noGrp="1"/>
          </p:cNvSpPr>
          <p:nvPr>
            <p:ph type="ctrTitle"/>
          </p:nvPr>
        </p:nvSpPr>
        <p:spPr>
          <a:xfrm>
            <a:off x="6096000" y="1968500"/>
            <a:ext cx="5257800" cy="2921000"/>
          </a:xfrm>
          <a:solidFill>
            <a:srgbClr val="6075A7"/>
          </a:solidFill>
        </p:spPr>
        <p:txBody>
          <a:bodyPr>
            <a:noAutofit/>
          </a:bodyPr>
          <a:lstStyle/>
          <a:p>
            <a:pPr algn="l">
              <a:lnSpc>
                <a:spcPct val="100000"/>
              </a:lnSpc>
              <a:spcAft>
                <a:spcPts val="1200"/>
              </a:spcAft>
            </a:pPr>
            <a:r>
              <a:rPr lang="en-US" dirty="0">
                <a:latin typeface="+mn-lt"/>
              </a:rPr>
              <a:t>Demo Time</a:t>
            </a:r>
          </a:p>
        </p:txBody>
      </p:sp>
      <p:sp>
        <p:nvSpPr>
          <p:cNvPr id="9" name="Rectangle 8"/>
          <p:cNvSpPr/>
          <p:nvPr/>
        </p:nvSpPr>
        <p:spPr>
          <a:xfrm>
            <a:off x="0" y="1968500"/>
            <a:ext cx="6096000" cy="2921000"/>
          </a:xfrm>
          <a:prstGeom prst="rect">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1576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E7ECEA-8661-42E8-9674-CB0669558F7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8332" r="6875" b="18334"/>
          <a:stretch/>
        </p:blipFill>
        <p:spPr>
          <a:xfrm>
            <a:off x="0" y="1257300"/>
            <a:ext cx="11353800" cy="4343400"/>
          </a:xfrm>
          <a:prstGeom prst="rect">
            <a:avLst/>
          </a:prstGeom>
        </p:spPr>
      </p:pic>
      <p:sp>
        <p:nvSpPr>
          <p:cNvPr id="5" name="Title 4"/>
          <p:cNvSpPr>
            <a:spLocks noGrp="1"/>
          </p:cNvSpPr>
          <p:nvPr>
            <p:ph type="ctrTitle"/>
          </p:nvPr>
        </p:nvSpPr>
        <p:spPr>
          <a:xfrm>
            <a:off x="6096000" y="1968500"/>
            <a:ext cx="5257800" cy="2921000"/>
          </a:xfrm>
          <a:solidFill>
            <a:srgbClr val="6075A7"/>
          </a:solidFill>
        </p:spPr>
        <p:txBody>
          <a:bodyPr>
            <a:noAutofit/>
          </a:bodyPr>
          <a:lstStyle/>
          <a:p>
            <a:pPr algn="l">
              <a:lnSpc>
                <a:spcPct val="100000"/>
              </a:lnSpc>
              <a:spcAft>
                <a:spcPts val="1200"/>
              </a:spcAft>
            </a:pPr>
            <a:r>
              <a:rPr lang="en-US" dirty="0"/>
              <a:t>Using the Calculator with Clients and Prospects</a:t>
            </a:r>
            <a:endParaRPr lang="en-US" b="0" dirty="0">
              <a:latin typeface="+mn-lt"/>
            </a:endParaRPr>
          </a:p>
        </p:txBody>
      </p:sp>
      <p:sp>
        <p:nvSpPr>
          <p:cNvPr id="9" name="Rectangle 8"/>
          <p:cNvSpPr/>
          <p:nvPr/>
        </p:nvSpPr>
        <p:spPr>
          <a:xfrm>
            <a:off x="0" y="1968500"/>
            <a:ext cx="6096000" cy="2921000"/>
          </a:xfrm>
          <a:prstGeom prst="rect">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0233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8A67B-E992-A9FE-BBA4-7028A8AEEE29}"/>
              </a:ext>
            </a:extLst>
          </p:cNvPr>
          <p:cNvSpPr>
            <a:spLocks noGrp="1"/>
          </p:cNvSpPr>
          <p:nvPr>
            <p:ph type="title"/>
          </p:nvPr>
        </p:nvSpPr>
        <p:spPr/>
        <p:txBody>
          <a:bodyPr/>
          <a:lstStyle/>
          <a:p>
            <a:r>
              <a:rPr lang="en-US" dirty="0"/>
              <a:t>Which functions understand the value of CX</a:t>
            </a:r>
          </a:p>
        </p:txBody>
      </p:sp>
      <p:sp>
        <p:nvSpPr>
          <p:cNvPr id="3" name="Content Placeholder 2">
            <a:extLst>
              <a:ext uri="{FF2B5EF4-FFF2-40B4-BE49-F238E27FC236}">
                <a16:creationId xmlns:a16="http://schemas.microsoft.com/office/drawing/2014/main" id="{91C0626C-8A35-AB08-6B3A-6639CC5A80C5}"/>
              </a:ext>
            </a:extLst>
          </p:cNvPr>
          <p:cNvSpPr>
            <a:spLocks noGrp="1"/>
          </p:cNvSpPr>
          <p:nvPr>
            <p:ph idx="1"/>
          </p:nvPr>
        </p:nvSpPr>
        <p:spPr>
          <a:xfrm>
            <a:off x="838200" y="1475118"/>
            <a:ext cx="5100638" cy="4701846"/>
          </a:xfrm>
        </p:spPr>
        <p:txBody>
          <a:bodyPr/>
          <a:lstStyle/>
          <a:p>
            <a:pPr marL="0" indent="0">
              <a:buNone/>
            </a:pPr>
            <a:r>
              <a:rPr lang="en-US" b="1" dirty="0"/>
              <a:t>Good targets</a:t>
            </a:r>
          </a:p>
          <a:p>
            <a:r>
              <a:rPr lang="en-US" dirty="0"/>
              <a:t>Marketing and sales</a:t>
            </a:r>
          </a:p>
          <a:p>
            <a:r>
              <a:rPr lang="en-US" dirty="0"/>
              <a:t>Strategic planners and investors</a:t>
            </a:r>
          </a:p>
          <a:p>
            <a:r>
              <a:rPr lang="en-US" dirty="0"/>
              <a:t>Executives (CEO, CFO, CMO)</a:t>
            </a:r>
          </a:p>
          <a:p>
            <a:r>
              <a:rPr lang="en-US" dirty="0"/>
              <a:t>Localization leads who are arguing for greater investment</a:t>
            </a:r>
          </a:p>
        </p:txBody>
      </p:sp>
      <p:sp>
        <p:nvSpPr>
          <p:cNvPr id="4" name="Content Placeholder 2">
            <a:extLst>
              <a:ext uri="{FF2B5EF4-FFF2-40B4-BE49-F238E27FC236}">
                <a16:creationId xmlns:a16="http://schemas.microsoft.com/office/drawing/2014/main" id="{6E083578-3C54-8A41-2B3D-17B8D4458517}"/>
              </a:ext>
            </a:extLst>
          </p:cNvPr>
          <p:cNvSpPr txBox="1">
            <a:spLocks/>
          </p:cNvSpPr>
          <p:nvPr/>
        </p:nvSpPr>
        <p:spPr>
          <a:xfrm>
            <a:off x="6253163" y="1475118"/>
            <a:ext cx="5100637" cy="4701846"/>
          </a:xfrm>
          <a:prstGeom prst="rect">
            <a:avLst/>
          </a:prstGeom>
        </p:spPr>
        <p:txBody>
          <a:bodyPr vert="horz" lIns="91440" tIns="45720" rIns="91440" bIns="45720" rtlCol="0">
            <a:normAutofit/>
          </a:bodyPr>
          <a:lstStyle>
            <a:lvl1pPr marL="341313" indent="-341313" algn="l" defTabSz="914400" rtl="0" eaLnBrk="1" latinLnBrk="0" hangingPunct="1">
              <a:lnSpc>
                <a:spcPct val="100000"/>
              </a:lnSpc>
              <a:spcBef>
                <a:spcPts val="1200"/>
              </a:spcBef>
              <a:spcAft>
                <a:spcPts val="1200"/>
              </a:spcAft>
              <a:buFont typeface="Arial" panose="020B0604020202020204" pitchFamily="34" charset="0"/>
              <a:buChar char="•"/>
              <a:defRPr sz="2400" kern="1200">
                <a:solidFill>
                  <a:schemeClr val="tx1"/>
                </a:solidFill>
                <a:latin typeface="+mn-lt"/>
                <a:ea typeface="+mn-ea"/>
                <a:cs typeface="+mn-cs"/>
              </a:defRPr>
            </a:lvl1pPr>
            <a:lvl2pPr marL="800100" indent="-365760" algn="l" defTabSz="914400" rtl="0" eaLnBrk="1" latinLnBrk="0" hangingPunct="1">
              <a:lnSpc>
                <a:spcPct val="100000"/>
              </a:lnSpc>
              <a:spcBef>
                <a:spcPts val="0"/>
              </a:spcBef>
              <a:spcAft>
                <a:spcPts val="1200"/>
              </a:spcAft>
              <a:buFont typeface="Noto Sans" panose="020B0502040504020204" pitchFamily="34"/>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spcAft>
                <a:spcPts val="1200"/>
              </a:spcAft>
              <a:buFont typeface="Courier New" panose="02070309020205020404" pitchFamily="49" charset="0"/>
              <a:buChar char="o"/>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Not worth the effort</a:t>
            </a:r>
          </a:p>
          <a:p>
            <a:r>
              <a:rPr lang="en-US" dirty="0"/>
              <a:t>Lower-level staff with no decision-making power</a:t>
            </a:r>
          </a:p>
          <a:p>
            <a:r>
              <a:rPr lang="en-US" dirty="0"/>
              <a:t>Technical leads</a:t>
            </a:r>
          </a:p>
          <a:p>
            <a:r>
              <a:rPr lang="en-US" dirty="0"/>
              <a:t>Procurement staff</a:t>
            </a:r>
          </a:p>
        </p:txBody>
      </p:sp>
    </p:spTree>
    <p:extLst>
      <p:ext uri="{BB962C8B-B14F-4D97-AF65-F5344CB8AC3E}">
        <p14:creationId xmlns:p14="http://schemas.microsoft.com/office/powerpoint/2010/main" val="17218033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79258-5127-47FE-B4A9-AB7B0446FC03}"/>
              </a:ext>
            </a:extLst>
          </p:cNvPr>
          <p:cNvSpPr>
            <a:spLocks noGrp="1"/>
          </p:cNvSpPr>
          <p:nvPr>
            <p:ph type="title"/>
          </p:nvPr>
        </p:nvSpPr>
        <p:spPr/>
        <p:txBody>
          <a:bodyPr/>
          <a:lstStyle/>
          <a:p>
            <a:r>
              <a:rPr lang="en-US" dirty="0"/>
              <a:t>#1: Marketing collateral</a:t>
            </a:r>
          </a:p>
        </p:txBody>
      </p:sp>
      <p:sp>
        <p:nvSpPr>
          <p:cNvPr id="3" name="Content Placeholder 2">
            <a:extLst>
              <a:ext uri="{FF2B5EF4-FFF2-40B4-BE49-F238E27FC236}">
                <a16:creationId xmlns:a16="http://schemas.microsoft.com/office/drawing/2014/main" id="{72D284AC-0877-FC1D-89CA-9CC9AB76DAAD}"/>
              </a:ext>
            </a:extLst>
          </p:cNvPr>
          <p:cNvSpPr>
            <a:spLocks noGrp="1"/>
          </p:cNvSpPr>
          <p:nvPr>
            <p:ph idx="1"/>
          </p:nvPr>
        </p:nvSpPr>
        <p:spPr>
          <a:xfrm>
            <a:off x="838201" y="1475118"/>
            <a:ext cx="4612340" cy="4701846"/>
          </a:xfrm>
        </p:spPr>
        <p:txBody>
          <a:bodyPr/>
          <a:lstStyle/>
          <a:p>
            <a:r>
              <a:rPr lang="en-US" dirty="0"/>
              <a:t>Use the results from the Global CX Calculator to obtain figures for specific markets</a:t>
            </a:r>
          </a:p>
          <a:p>
            <a:r>
              <a:rPr lang="en-US" dirty="0"/>
              <a:t>Combine with other insights to create a compelling narrative of why prospects should invest in localization</a:t>
            </a:r>
          </a:p>
        </p:txBody>
      </p:sp>
      <p:grpSp>
        <p:nvGrpSpPr>
          <p:cNvPr id="8" name="Group 7">
            <a:extLst>
              <a:ext uri="{FF2B5EF4-FFF2-40B4-BE49-F238E27FC236}">
                <a16:creationId xmlns:a16="http://schemas.microsoft.com/office/drawing/2014/main" id="{1F424D0F-0539-0D2B-4A06-4D0682591579}"/>
              </a:ext>
            </a:extLst>
          </p:cNvPr>
          <p:cNvGrpSpPr/>
          <p:nvPr/>
        </p:nvGrpSpPr>
        <p:grpSpPr>
          <a:xfrm>
            <a:off x="6006106" y="1013046"/>
            <a:ext cx="5914060" cy="5163918"/>
            <a:chOff x="6006106" y="1013046"/>
            <a:chExt cx="5914060" cy="5163918"/>
          </a:xfrm>
        </p:grpSpPr>
        <p:sp>
          <p:nvSpPr>
            <p:cNvPr id="5" name="TextBox 4">
              <a:extLst>
                <a:ext uri="{FF2B5EF4-FFF2-40B4-BE49-F238E27FC236}">
                  <a16:creationId xmlns:a16="http://schemas.microsoft.com/office/drawing/2014/main" id="{1EEEC55D-7657-5E09-27DC-0908C453076B}"/>
                </a:ext>
              </a:extLst>
            </p:cNvPr>
            <p:cNvSpPr txBox="1"/>
            <p:nvPr/>
          </p:nvSpPr>
          <p:spPr>
            <a:xfrm>
              <a:off x="6006106" y="4053306"/>
              <a:ext cx="2761376" cy="2123658"/>
            </a:xfrm>
            <a:prstGeom prst="rect">
              <a:avLst/>
            </a:prstGeom>
            <a:noFill/>
          </p:spPr>
          <p:txBody>
            <a:bodyPr wrap="square" rtlCol="0">
              <a:spAutoFit/>
            </a:bodyPr>
            <a:lstStyle/>
            <a:p>
              <a:r>
                <a:rPr lang="en-US" dirty="0"/>
                <a:t>of Spanish speakers </a:t>
              </a:r>
              <a:r>
                <a:rPr lang="en-US" b="1" dirty="0"/>
                <a:t>are unlikely to purchase </a:t>
              </a:r>
              <a:r>
                <a:rPr lang="en-US" dirty="0"/>
                <a:t>from your brand if you do not provide any content in Spanish?</a:t>
              </a:r>
            </a:p>
            <a:p>
              <a:endParaRPr lang="en-US" dirty="0"/>
            </a:p>
            <a:p>
              <a:r>
                <a:rPr lang="en-US" sz="1200" i="1" dirty="0"/>
                <a:t>Source: CSA Research’s Global Customer Experience Calculator</a:t>
              </a:r>
            </a:p>
          </p:txBody>
        </p:sp>
        <p:sp>
          <p:nvSpPr>
            <p:cNvPr id="6" name="TextBox 5">
              <a:extLst>
                <a:ext uri="{FF2B5EF4-FFF2-40B4-BE49-F238E27FC236}">
                  <a16:creationId xmlns:a16="http://schemas.microsoft.com/office/drawing/2014/main" id="{99750159-DA01-94D6-A5A4-2AD896872D87}"/>
                </a:ext>
              </a:extLst>
            </p:cNvPr>
            <p:cNvSpPr txBox="1"/>
            <p:nvPr/>
          </p:nvSpPr>
          <p:spPr>
            <a:xfrm>
              <a:off x="6096000" y="1013046"/>
              <a:ext cx="2502608" cy="369332"/>
            </a:xfrm>
            <a:prstGeom prst="rect">
              <a:avLst/>
            </a:prstGeom>
            <a:noFill/>
          </p:spPr>
          <p:txBody>
            <a:bodyPr wrap="none" rtlCol="0">
              <a:spAutoFit/>
            </a:bodyPr>
            <a:lstStyle/>
            <a:p>
              <a:r>
                <a:rPr lang="en-US" b="1" dirty="0"/>
                <a:t>Did you know that…</a:t>
              </a:r>
            </a:p>
          </p:txBody>
        </p:sp>
        <p:sp>
          <p:nvSpPr>
            <p:cNvPr id="7" name="Rectangle 6">
              <a:extLst>
                <a:ext uri="{FF2B5EF4-FFF2-40B4-BE49-F238E27FC236}">
                  <a16:creationId xmlns:a16="http://schemas.microsoft.com/office/drawing/2014/main" id="{F78287B7-2347-36CD-EC1B-903DCC8B1236}"/>
                </a:ext>
              </a:extLst>
            </p:cNvPr>
            <p:cNvSpPr/>
            <p:nvPr/>
          </p:nvSpPr>
          <p:spPr>
            <a:xfrm>
              <a:off x="6813179" y="3241266"/>
              <a:ext cx="1314784" cy="769441"/>
            </a:xfrm>
            <a:prstGeom prst="rect">
              <a:avLst/>
            </a:prstGeom>
          </p:spPr>
          <p:txBody>
            <a:bodyPr wrap="none">
              <a:spAutoFit/>
            </a:bodyPr>
            <a:lstStyle/>
            <a:p>
              <a:r>
                <a:rPr lang="en-US" sz="4400" b="1" dirty="0"/>
                <a:t>95%</a:t>
              </a:r>
            </a:p>
          </p:txBody>
        </p:sp>
        <p:pic>
          <p:nvPicPr>
            <p:cNvPr id="3074" name="Picture 2" descr="Gran Via, Madrid | Gran Vía (literally &quot;Great Way&quot;) is an or… | Flickr">
              <a:extLst>
                <a:ext uri="{FF2B5EF4-FFF2-40B4-BE49-F238E27FC236}">
                  <a16:creationId xmlns:a16="http://schemas.microsoft.com/office/drawing/2014/main" id="{3B49D92E-7E72-1059-A78C-3F458E6B4AEC}"/>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6006106" y="1515164"/>
              <a:ext cx="2637931" cy="162152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12A482D8-267B-DB94-343B-EDDE092DE9AE}"/>
                </a:ext>
              </a:extLst>
            </p:cNvPr>
            <p:cNvSpPr txBox="1"/>
            <p:nvPr/>
          </p:nvSpPr>
          <p:spPr>
            <a:xfrm>
              <a:off x="9005269" y="4053306"/>
              <a:ext cx="2914897" cy="2123658"/>
            </a:xfrm>
            <a:prstGeom prst="rect">
              <a:avLst/>
            </a:prstGeom>
            <a:noFill/>
          </p:spPr>
          <p:txBody>
            <a:bodyPr wrap="square" rtlCol="0">
              <a:spAutoFit/>
            </a:bodyPr>
            <a:lstStyle/>
            <a:p>
              <a:r>
                <a:rPr lang="en-US" dirty="0"/>
                <a:t>is the value of Spanish in the United States, </a:t>
              </a:r>
              <a:r>
                <a:rPr lang="en-US" b="1" dirty="0"/>
                <a:t>roughly equal to the global value of Dutch and Italian</a:t>
              </a:r>
              <a:r>
                <a:rPr lang="en-US" dirty="0"/>
                <a:t>.</a:t>
              </a:r>
            </a:p>
            <a:p>
              <a:endParaRPr lang="en-US" dirty="0"/>
            </a:p>
            <a:p>
              <a:r>
                <a:rPr lang="en-US" sz="1200" i="1" dirty="0"/>
                <a:t>Source: “Big Opportunities in Domestic Language Needs” (CSA Research)</a:t>
              </a:r>
            </a:p>
          </p:txBody>
        </p:sp>
        <p:sp>
          <p:nvSpPr>
            <p:cNvPr id="10" name="Rectangle 9">
              <a:extLst>
                <a:ext uri="{FF2B5EF4-FFF2-40B4-BE49-F238E27FC236}">
                  <a16:creationId xmlns:a16="http://schemas.microsoft.com/office/drawing/2014/main" id="{5B5CFC53-2B15-1C8D-396B-AC3DA14A3C60}"/>
                </a:ext>
              </a:extLst>
            </p:cNvPr>
            <p:cNvSpPr/>
            <p:nvPr/>
          </p:nvSpPr>
          <p:spPr>
            <a:xfrm>
              <a:off x="9132066" y="3364376"/>
              <a:ext cx="2661305" cy="523220"/>
            </a:xfrm>
            <a:prstGeom prst="rect">
              <a:avLst/>
            </a:prstGeom>
          </p:spPr>
          <p:txBody>
            <a:bodyPr wrap="none">
              <a:spAutoFit/>
            </a:bodyPr>
            <a:lstStyle/>
            <a:p>
              <a:pPr algn="ctr"/>
              <a:r>
                <a:rPr lang="en-US" sz="2800" b="1" dirty="0"/>
                <a:t>US$1.9 trillion</a:t>
              </a:r>
            </a:p>
          </p:txBody>
        </p:sp>
        <p:pic>
          <p:nvPicPr>
            <p:cNvPr id="3076" name="Picture 4">
              <a:extLst>
                <a:ext uri="{FF2B5EF4-FFF2-40B4-BE49-F238E27FC236}">
                  <a16:creationId xmlns:a16="http://schemas.microsoft.com/office/drawing/2014/main" id="{CA9EA8F1-7CDA-1E47-618C-8A2600C597FA}"/>
                </a:ext>
              </a:extLst>
            </p:cNvPr>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9141410" y="1488140"/>
              <a:ext cx="2642616" cy="1648553"/>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095827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29306A-6061-7170-F198-F4EFAF03184B}"/>
              </a:ext>
            </a:extLst>
          </p:cNvPr>
          <p:cNvSpPr>
            <a:spLocks noGrp="1"/>
          </p:cNvSpPr>
          <p:nvPr>
            <p:ph idx="1"/>
          </p:nvPr>
        </p:nvSpPr>
        <p:spPr>
          <a:xfrm>
            <a:off x="838200" y="300038"/>
            <a:ext cx="10515600" cy="5876926"/>
          </a:xfrm>
        </p:spPr>
        <p:txBody>
          <a:bodyPr anchor="ctr">
            <a:normAutofit/>
          </a:bodyPr>
          <a:lstStyle/>
          <a:p>
            <a:pPr marL="0" indent="0" algn="ctr">
              <a:buNone/>
            </a:pPr>
            <a:r>
              <a:rPr lang="en-US" sz="4000" b="1" dirty="0"/>
              <a:t>Discussion: Where would you see the Global CX Calculator fitting in </a:t>
            </a:r>
            <a:r>
              <a:rPr lang="en-US" sz="4000" b="1" dirty="0" err="1"/>
              <a:t>MasterWord’s</a:t>
            </a:r>
            <a:r>
              <a:rPr lang="en-US" sz="4000" b="1" dirty="0"/>
              <a:t> marketing?</a:t>
            </a:r>
          </a:p>
        </p:txBody>
      </p:sp>
    </p:spTree>
    <p:extLst>
      <p:ext uri="{BB962C8B-B14F-4D97-AF65-F5344CB8AC3E}">
        <p14:creationId xmlns:p14="http://schemas.microsoft.com/office/powerpoint/2010/main" val="17807710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669B4-8ADB-8ECE-A79C-0A1BF02455C2}"/>
              </a:ext>
            </a:extLst>
          </p:cNvPr>
          <p:cNvSpPr>
            <a:spLocks noGrp="1"/>
          </p:cNvSpPr>
          <p:nvPr>
            <p:ph type="title"/>
          </p:nvPr>
        </p:nvSpPr>
        <p:spPr>
          <a:xfrm>
            <a:off x="357188" y="85946"/>
            <a:ext cx="11834812" cy="1005840"/>
          </a:xfrm>
        </p:spPr>
        <p:txBody>
          <a:bodyPr>
            <a:normAutofit/>
          </a:bodyPr>
          <a:lstStyle/>
          <a:p>
            <a:r>
              <a:rPr lang="en-US" sz="3000" dirty="0"/>
              <a:t>Option #2: Proactive engagement with clients or prospects</a:t>
            </a:r>
          </a:p>
        </p:txBody>
      </p:sp>
      <p:sp>
        <p:nvSpPr>
          <p:cNvPr id="3" name="Content Placeholder 2">
            <a:extLst>
              <a:ext uri="{FF2B5EF4-FFF2-40B4-BE49-F238E27FC236}">
                <a16:creationId xmlns:a16="http://schemas.microsoft.com/office/drawing/2014/main" id="{56954017-8CF8-507D-5CD6-A45E22284B95}"/>
              </a:ext>
            </a:extLst>
          </p:cNvPr>
          <p:cNvSpPr>
            <a:spLocks noGrp="1"/>
          </p:cNvSpPr>
          <p:nvPr>
            <p:ph idx="1"/>
          </p:nvPr>
        </p:nvSpPr>
        <p:spPr>
          <a:xfrm>
            <a:off x="838200" y="1475118"/>
            <a:ext cx="5534025" cy="4701846"/>
          </a:xfrm>
        </p:spPr>
        <p:txBody>
          <a:bodyPr/>
          <a:lstStyle/>
          <a:p>
            <a:r>
              <a:rPr lang="en-US" dirty="0"/>
              <a:t>Pick one or more client languages, or one you would like to sell to them</a:t>
            </a:r>
          </a:p>
          <a:p>
            <a:r>
              <a:rPr lang="en-US" dirty="0"/>
              <a:t>Run the Global CX Calculator for those languages and identify what the client could gain</a:t>
            </a:r>
          </a:p>
          <a:p>
            <a:r>
              <a:rPr lang="en-US" dirty="0"/>
              <a:t>Run a campaign that focuses on how localization can boost your client’s sales</a:t>
            </a:r>
          </a:p>
        </p:txBody>
      </p:sp>
      <p:sp>
        <p:nvSpPr>
          <p:cNvPr id="4" name="Rectangle 3">
            <a:extLst>
              <a:ext uri="{FF2B5EF4-FFF2-40B4-BE49-F238E27FC236}">
                <a16:creationId xmlns:a16="http://schemas.microsoft.com/office/drawing/2014/main" id="{1634A655-978E-705D-B71C-512FC4DBE6D2}"/>
              </a:ext>
            </a:extLst>
          </p:cNvPr>
          <p:cNvSpPr/>
          <p:nvPr/>
        </p:nvSpPr>
        <p:spPr>
          <a:xfrm>
            <a:off x="6831106" y="1475118"/>
            <a:ext cx="4769223" cy="4405729"/>
          </a:xfrm>
          <a:prstGeom prst="rect">
            <a:avLst/>
          </a:prstGeom>
          <a:solidFill>
            <a:srgbClr val="FFFCEF"/>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chemeClr val="tx1"/>
                </a:solidFill>
                <a:latin typeface="Courier" pitchFamily="2" charset="0"/>
              </a:rPr>
              <a:t>To: Bill &lt;</a:t>
            </a:r>
            <a:r>
              <a:rPr lang="en-US" dirty="0" err="1">
                <a:solidFill>
                  <a:schemeClr val="tx1"/>
                </a:solidFill>
                <a:latin typeface="Courier" pitchFamily="2" charset="0"/>
              </a:rPr>
              <a:t>bill@customer.com</a:t>
            </a:r>
            <a:r>
              <a:rPr lang="en-US" dirty="0">
                <a:solidFill>
                  <a:schemeClr val="tx1"/>
                </a:solidFill>
                <a:latin typeface="Courier" pitchFamily="2" charset="0"/>
              </a:rPr>
              <a:t>&gt;</a:t>
            </a:r>
          </a:p>
          <a:p>
            <a:r>
              <a:rPr lang="en-US" dirty="0">
                <a:solidFill>
                  <a:schemeClr val="tx1"/>
                </a:solidFill>
                <a:latin typeface="Courier" pitchFamily="2" charset="0"/>
              </a:rPr>
              <a:t>Re: </a:t>
            </a:r>
            <a:r>
              <a:rPr lang="en-US" b="1" dirty="0">
                <a:solidFill>
                  <a:schemeClr val="tx1"/>
                </a:solidFill>
                <a:latin typeface="Courier" pitchFamily="2" charset="0"/>
              </a:rPr>
              <a:t>How can you boost sales in French up to 170%</a:t>
            </a:r>
          </a:p>
          <a:p>
            <a:endParaRPr lang="en-US" dirty="0">
              <a:solidFill>
                <a:schemeClr val="tx1"/>
              </a:solidFill>
              <a:latin typeface="Courier" pitchFamily="2" charset="0"/>
            </a:endParaRPr>
          </a:p>
          <a:p>
            <a:r>
              <a:rPr lang="en-US" dirty="0">
                <a:solidFill>
                  <a:schemeClr val="tx1"/>
                </a:solidFill>
                <a:latin typeface="Courier" pitchFamily="2" charset="0"/>
              </a:rPr>
              <a:t>Dear Bill,</a:t>
            </a:r>
          </a:p>
          <a:p>
            <a:r>
              <a:rPr lang="en-US" dirty="0">
                <a:solidFill>
                  <a:schemeClr val="tx1"/>
                </a:solidFill>
                <a:latin typeface="Courier" pitchFamily="2" charset="0"/>
              </a:rPr>
              <a:t> </a:t>
            </a:r>
          </a:p>
          <a:p>
            <a:r>
              <a:rPr lang="en-US" dirty="0">
                <a:solidFill>
                  <a:schemeClr val="tx1"/>
                </a:solidFill>
                <a:latin typeface="Courier" pitchFamily="2" charset="0"/>
              </a:rPr>
              <a:t>Did you know that you may be able to boost your sales to French-speaking customers by up to 170% when you improve your support for their language? Our analysis shows that you may be walking away from substantial revenue in key markets. If you'd like to learn more, let’s set up a call…</a:t>
            </a:r>
          </a:p>
        </p:txBody>
      </p:sp>
    </p:spTree>
    <p:extLst>
      <p:ext uri="{BB962C8B-B14F-4D97-AF65-F5344CB8AC3E}">
        <p14:creationId xmlns:p14="http://schemas.microsoft.com/office/powerpoint/2010/main" val="727820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038F7-4023-A2CD-8425-F6A44D625599}"/>
              </a:ext>
            </a:extLst>
          </p:cNvPr>
          <p:cNvSpPr>
            <a:spLocks noGrp="1"/>
          </p:cNvSpPr>
          <p:nvPr>
            <p:ph type="title"/>
          </p:nvPr>
        </p:nvSpPr>
        <p:spPr/>
        <p:txBody>
          <a:bodyPr/>
          <a:lstStyle/>
          <a:p>
            <a:r>
              <a:rPr lang="en-US" dirty="0"/>
              <a:t>Example of an actual application</a:t>
            </a:r>
          </a:p>
        </p:txBody>
      </p:sp>
      <p:pic>
        <p:nvPicPr>
          <p:cNvPr id="4" name="Content Placeholder 3">
            <a:extLst>
              <a:ext uri="{FF2B5EF4-FFF2-40B4-BE49-F238E27FC236}">
                <a16:creationId xmlns:a16="http://schemas.microsoft.com/office/drawing/2014/main" id="{42956F1A-2ABB-5265-D9CF-AD49E6F2B129}"/>
              </a:ext>
            </a:extLst>
          </p:cNvPr>
          <p:cNvPicPr>
            <a:picLocks noGrp="1" noChangeAspect="1"/>
          </p:cNvPicPr>
          <p:nvPr>
            <p:ph idx="1"/>
          </p:nvPr>
        </p:nvPicPr>
        <p:blipFill>
          <a:blip r:embed="rId3" cstate="screen">
            <a:extLst>
              <a:ext uri="{28A0092B-C50C-407E-A947-70E740481C1C}">
                <a14:useLocalDpi xmlns:a14="http://schemas.microsoft.com/office/drawing/2010/main"/>
              </a:ext>
            </a:extLst>
          </a:blip>
          <a:stretch>
            <a:fillRect/>
          </a:stretch>
        </p:blipFill>
        <p:spPr>
          <a:xfrm>
            <a:off x="4793044" y="1092937"/>
            <a:ext cx="7032243" cy="4702175"/>
          </a:xfrm>
          <a:prstGeom prst="rect">
            <a:avLst/>
          </a:prstGeom>
        </p:spPr>
      </p:pic>
      <p:sp>
        <p:nvSpPr>
          <p:cNvPr id="6" name="TextBox 5">
            <a:extLst>
              <a:ext uri="{FF2B5EF4-FFF2-40B4-BE49-F238E27FC236}">
                <a16:creationId xmlns:a16="http://schemas.microsoft.com/office/drawing/2014/main" id="{F3CE3759-B69B-61A2-219F-4421E24EBBB1}"/>
              </a:ext>
            </a:extLst>
          </p:cNvPr>
          <p:cNvSpPr txBox="1"/>
          <p:nvPr/>
        </p:nvSpPr>
        <p:spPr>
          <a:xfrm>
            <a:off x="924560" y="1104922"/>
            <a:ext cx="3291840" cy="2339102"/>
          </a:xfrm>
          <a:prstGeom prst="rect">
            <a:avLst/>
          </a:prstGeom>
          <a:noFill/>
        </p:spPr>
        <p:txBody>
          <a:bodyPr wrap="square" rtlCol="0">
            <a:spAutoFit/>
          </a:bodyPr>
          <a:lstStyle/>
          <a:p>
            <a:r>
              <a:rPr lang="en-US" dirty="0"/>
              <a:t>Limited localization leads to just 37% of potential customers making it through to purchase and just 21% becoming repeat customers.</a:t>
            </a:r>
          </a:p>
          <a:p>
            <a:endParaRPr lang="en-US" dirty="0"/>
          </a:p>
          <a:p>
            <a:r>
              <a:rPr lang="en-US" sz="2000" b="1" dirty="0"/>
              <a:t>(100%-37%)/37% = 170%</a:t>
            </a:r>
          </a:p>
        </p:txBody>
      </p:sp>
      <p:sp>
        <p:nvSpPr>
          <p:cNvPr id="7" name="TextBox 6">
            <a:extLst>
              <a:ext uri="{FF2B5EF4-FFF2-40B4-BE49-F238E27FC236}">
                <a16:creationId xmlns:a16="http://schemas.microsoft.com/office/drawing/2014/main" id="{4E304B26-447A-856F-25B6-A77A68205976}"/>
              </a:ext>
            </a:extLst>
          </p:cNvPr>
          <p:cNvSpPr txBox="1"/>
          <p:nvPr/>
        </p:nvSpPr>
        <p:spPr>
          <a:xfrm>
            <a:off x="924560" y="3679686"/>
            <a:ext cx="3291841" cy="1477328"/>
          </a:xfrm>
          <a:prstGeom prst="rect">
            <a:avLst/>
          </a:prstGeom>
          <a:noFill/>
        </p:spPr>
        <p:txBody>
          <a:bodyPr wrap="square" rtlCol="0">
            <a:spAutoFit/>
          </a:bodyPr>
          <a:lstStyle/>
          <a:p>
            <a:r>
              <a:rPr lang="en-US" b="1" dirty="0">
                <a:solidFill>
                  <a:srgbClr val="E48D25"/>
                </a:solidFill>
              </a:rPr>
              <a:t>Numbers help get your customers talking. Even if they think you’re wrong and want to tell you why, it opens the door.</a:t>
            </a:r>
          </a:p>
        </p:txBody>
      </p:sp>
      <p:grpSp>
        <p:nvGrpSpPr>
          <p:cNvPr id="12" name="Group 11">
            <a:extLst>
              <a:ext uri="{FF2B5EF4-FFF2-40B4-BE49-F238E27FC236}">
                <a16:creationId xmlns:a16="http://schemas.microsoft.com/office/drawing/2014/main" id="{4D6A4841-E69A-B207-9B0B-FC6A3F0A8FFC}"/>
              </a:ext>
            </a:extLst>
          </p:cNvPr>
          <p:cNvGrpSpPr/>
          <p:nvPr/>
        </p:nvGrpSpPr>
        <p:grpSpPr>
          <a:xfrm>
            <a:off x="9414258" y="2543175"/>
            <a:ext cx="2386326" cy="1485900"/>
            <a:chOff x="9414258" y="2543175"/>
            <a:chExt cx="2386326" cy="1485900"/>
          </a:xfrm>
        </p:grpSpPr>
        <p:sp>
          <p:nvSpPr>
            <p:cNvPr id="10" name="Up-Down Arrow 9">
              <a:extLst>
                <a:ext uri="{FF2B5EF4-FFF2-40B4-BE49-F238E27FC236}">
                  <a16:creationId xmlns:a16="http://schemas.microsoft.com/office/drawing/2014/main" id="{3FDEF308-4A51-381B-7BDC-79A4C5E1279E}"/>
                </a:ext>
              </a:extLst>
            </p:cNvPr>
            <p:cNvSpPr/>
            <p:nvPr/>
          </p:nvSpPr>
          <p:spPr>
            <a:xfrm>
              <a:off x="9414258" y="2543175"/>
              <a:ext cx="592126" cy="1485900"/>
            </a:xfrm>
            <a:prstGeom prst="upDownArrow">
              <a:avLst/>
            </a:prstGeom>
            <a:solidFill>
              <a:srgbClr val="76AA5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D3F35F8-A6BB-7DF1-F502-BD8242605B78}"/>
                </a:ext>
              </a:extLst>
            </p:cNvPr>
            <p:cNvSpPr txBox="1"/>
            <p:nvPr/>
          </p:nvSpPr>
          <p:spPr>
            <a:xfrm>
              <a:off x="9870247" y="2962959"/>
              <a:ext cx="1930337" cy="646331"/>
            </a:xfrm>
            <a:prstGeom prst="rect">
              <a:avLst/>
            </a:prstGeom>
            <a:noFill/>
          </p:spPr>
          <p:txBody>
            <a:bodyPr wrap="none" rtlCol="0">
              <a:spAutoFit/>
            </a:bodyPr>
            <a:lstStyle/>
            <a:p>
              <a:pPr algn="ctr"/>
              <a:r>
                <a:rPr lang="en-US" b="1" dirty="0">
                  <a:solidFill>
                    <a:srgbClr val="76AA51"/>
                  </a:solidFill>
                </a:rPr>
                <a:t>A 63% loss or a</a:t>
              </a:r>
            </a:p>
            <a:p>
              <a:pPr algn="ctr"/>
              <a:r>
                <a:rPr lang="en-US" b="1" dirty="0">
                  <a:solidFill>
                    <a:srgbClr val="76AA51"/>
                  </a:solidFill>
                </a:rPr>
                <a:t>173% increase?</a:t>
              </a:r>
            </a:p>
          </p:txBody>
        </p:sp>
      </p:grpSp>
    </p:spTree>
    <p:extLst>
      <p:ext uri="{BB962C8B-B14F-4D97-AF65-F5344CB8AC3E}">
        <p14:creationId xmlns:p14="http://schemas.microsoft.com/office/powerpoint/2010/main" val="1708182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146D5-DA13-E44D-5794-CFCA6538AEAF}"/>
              </a:ext>
            </a:extLst>
          </p:cNvPr>
          <p:cNvSpPr>
            <a:spLocks noGrp="1"/>
          </p:cNvSpPr>
          <p:nvPr>
            <p:ph type="title"/>
          </p:nvPr>
        </p:nvSpPr>
        <p:spPr/>
        <p:txBody>
          <a:bodyPr/>
          <a:lstStyle/>
          <a:p>
            <a:r>
              <a:rPr lang="en-US" dirty="0"/>
              <a:t>Option #3: Interactive engagement</a:t>
            </a:r>
          </a:p>
        </p:txBody>
      </p:sp>
      <p:sp>
        <p:nvSpPr>
          <p:cNvPr id="3" name="Content Placeholder 2">
            <a:extLst>
              <a:ext uri="{FF2B5EF4-FFF2-40B4-BE49-F238E27FC236}">
                <a16:creationId xmlns:a16="http://schemas.microsoft.com/office/drawing/2014/main" id="{09D9292A-42FB-015B-6945-AB39762A541E}"/>
              </a:ext>
            </a:extLst>
          </p:cNvPr>
          <p:cNvSpPr>
            <a:spLocks noGrp="1"/>
          </p:cNvSpPr>
          <p:nvPr>
            <p:ph idx="1"/>
          </p:nvPr>
        </p:nvSpPr>
        <p:spPr>
          <a:xfrm>
            <a:off x="838200" y="1475118"/>
            <a:ext cx="5257800" cy="4701846"/>
          </a:xfrm>
        </p:spPr>
        <p:txBody>
          <a:bodyPr/>
          <a:lstStyle/>
          <a:p>
            <a:pPr marL="0" indent="0">
              <a:buNone/>
            </a:pPr>
            <a:r>
              <a:rPr lang="en-US" dirty="0"/>
              <a:t>Good for account managers to upsell where you are already consulting with customers</a:t>
            </a:r>
          </a:p>
          <a:p>
            <a:r>
              <a:rPr lang="en-US" dirty="0"/>
              <a:t>Do preliminary analysis for all current and potential languages so you have facts at hand</a:t>
            </a:r>
          </a:p>
          <a:p>
            <a:r>
              <a:rPr lang="en-US" dirty="0"/>
              <a:t>Use the tool live with them to see how changing localization leads to increases</a:t>
            </a:r>
          </a:p>
        </p:txBody>
      </p:sp>
      <p:graphicFrame>
        <p:nvGraphicFramePr>
          <p:cNvPr id="4" name="Table 4">
            <a:extLst>
              <a:ext uri="{FF2B5EF4-FFF2-40B4-BE49-F238E27FC236}">
                <a16:creationId xmlns:a16="http://schemas.microsoft.com/office/drawing/2014/main" id="{82DE7BFB-0D65-A560-2ABE-BEBAABC668AA}"/>
              </a:ext>
            </a:extLst>
          </p:cNvPr>
          <p:cNvGraphicFramePr>
            <a:graphicFrameLocks noGrp="1"/>
          </p:cNvGraphicFramePr>
          <p:nvPr>
            <p:extLst>
              <p:ext uri="{D42A27DB-BD31-4B8C-83A1-F6EECF244321}">
                <p14:modId xmlns:p14="http://schemas.microsoft.com/office/powerpoint/2010/main" val="2304312897"/>
              </p:ext>
            </p:extLst>
          </p:nvPr>
        </p:nvGraphicFramePr>
        <p:xfrm>
          <a:off x="6096000" y="1578305"/>
          <a:ext cx="5619750" cy="1854200"/>
        </p:xfrm>
        <a:graphic>
          <a:graphicData uri="http://schemas.openxmlformats.org/drawingml/2006/table">
            <a:tbl>
              <a:tblPr firstRow="1" bandRow="1">
                <a:tableStyleId>{5C22544A-7EE6-4342-B048-85BDC9FD1C3A}</a:tableStyleId>
              </a:tblPr>
              <a:tblGrid>
                <a:gridCol w="1411288">
                  <a:extLst>
                    <a:ext uri="{9D8B030D-6E8A-4147-A177-3AD203B41FA5}">
                      <a16:colId xmlns:a16="http://schemas.microsoft.com/office/drawing/2014/main" val="1352173572"/>
                    </a:ext>
                  </a:extLst>
                </a:gridCol>
                <a:gridCol w="1408112">
                  <a:extLst>
                    <a:ext uri="{9D8B030D-6E8A-4147-A177-3AD203B41FA5}">
                      <a16:colId xmlns:a16="http://schemas.microsoft.com/office/drawing/2014/main" val="2248680222"/>
                    </a:ext>
                  </a:extLst>
                </a:gridCol>
                <a:gridCol w="2800350">
                  <a:extLst>
                    <a:ext uri="{9D8B030D-6E8A-4147-A177-3AD203B41FA5}">
                      <a16:colId xmlns:a16="http://schemas.microsoft.com/office/drawing/2014/main" val="1513002917"/>
                    </a:ext>
                  </a:extLst>
                </a:gridCol>
              </a:tblGrid>
              <a:tr h="370840">
                <a:tc>
                  <a:txBody>
                    <a:bodyPr/>
                    <a:lstStyle/>
                    <a:p>
                      <a:pPr algn="ctr"/>
                      <a:r>
                        <a:rPr lang="en-US" sz="1600" dirty="0"/>
                        <a:t>Language</a:t>
                      </a:r>
                    </a:p>
                  </a:txBody>
                  <a:tcPr/>
                </a:tc>
                <a:tc>
                  <a:txBody>
                    <a:bodyPr/>
                    <a:lstStyle/>
                    <a:p>
                      <a:pPr algn="ctr"/>
                      <a:r>
                        <a:rPr lang="en-US" sz="1600" dirty="0"/>
                        <a:t>Level</a:t>
                      </a:r>
                    </a:p>
                  </a:txBody>
                  <a:tcPr/>
                </a:tc>
                <a:tc>
                  <a:txBody>
                    <a:bodyPr/>
                    <a:lstStyle/>
                    <a:p>
                      <a:pPr algn="ctr"/>
                      <a:r>
                        <a:rPr lang="en-US" sz="1600" dirty="0"/>
                        <a:t>Potential revenue gain</a:t>
                      </a:r>
                    </a:p>
                  </a:txBody>
                  <a:tcPr/>
                </a:tc>
                <a:extLst>
                  <a:ext uri="{0D108BD9-81ED-4DB2-BD59-A6C34878D82A}">
                    <a16:rowId xmlns:a16="http://schemas.microsoft.com/office/drawing/2014/main" val="2575191958"/>
                  </a:ext>
                </a:extLst>
              </a:tr>
              <a:tr h="370840">
                <a:tc>
                  <a:txBody>
                    <a:bodyPr/>
                    <a:lstStyle/>
                    <a:p>
                      <a:r>
                        <a:rPr lang="en-US" sz="1600" dirty="0">
                          <a:solidFill>
                            <a:srgbClr val="E48D25"/>
                          </a:solidFill>
                        </a:rPr>
                        <a:t>French</a:t>
                      </a:r>
                    </a:p>
                  </a:txBody>
                  <a:tcPr/>
                </a:tc>
                <a:tc>
                  <a:txBody>
                    <a:bodyPr/>
                    <a:lstStyle/>
                    <a:p>
                      <a:r>
                        <a:rPr lang="en-US" sz="1600" dirty="0">
                          <a:solidFill>
                            <a:srgbClr val="E48D25"/>
                          </a:solidFill>
                        </a:rPr>
                        <a:t>Moderate</a:t>
                      </a:r>
                    </a:p>
                  </a:txBody>
                  <a:tcPr/>
                </a:tc>
                <a:tc>
                  <a:txBody>
                    <a:bodyPr/>
                    <a:lstStyle/>
                    <a:p>
                      <a:pPr algn="r"/>
                      <a:r>
                        <a:rPr lang="en-US" sz="1600" dirty="0">
                          <a:solidFill>
                            <a:srgbClr val="E48D25"/>
                          </a:solidFill>
                        </a:rPr>
                        <a:t>+62%</a:t>
                      </a:r>
                    </a:p>
                  </a:txBody>
                  <a:tcPr/>
                </a:tc>
                <a:extLst>
                  <a:ext uri="{0D108BD9-81ED-4DB2-BD59-A6C34878D82A}">
                    <a16:rowId xmlns:a16="http://schemas.microsoft.com/office/drawing/2014/main" val="774926061"/>
                  </a:ext>
                </a:extLst>
              </a:tr>
              <a:tr h="370840">
                <a:tc>
                  <a:txBody>
                    <a:bodyPr/>
                    <a:lstStyle/>
                    <a:p>
                      <a:r>
                        <a:rPr lang="en-US" sz="1600" dirty="0">
                          <a:solidFill>
                            <a:srgbClr val="76AA51"/>
                          </a:solidFill>
                        </a:rPr>
                        <a:t>German</a:t>
                      </a:r>
                    </a:p>
                  </a:txBody>
                  <a:tcPr/>
                </a:tc>
                <a:tc>
                  <a:txBody>
                    <a:bodyPr/>
                    <a:lstStyle/>
                    <a:p>
                      <a:r>
                        <a:rPr lang="en-US" sz="1600" dirty="0">
                          <a:solidFill>
                            <a:srgbClr val="76AA51"/>
                          </a:solidFill>
                        </a:rPr>
                        <a:t>Good</a:t>
                      </a:r>
                    </a:p>
                  </a:txBody>
                  <a:tcPr/>
                </a:tc>
                <a:tc>
                  <a:txBody>
                    <a:bodyPr/>
                    <a:lstStyle/>
                    <a:p>
                      <a:pPr algn="r"/>
                      <a:r>
                        <a:rPr lang="en-US" sz="1600" dirty="0">
                          <a:solidFill>
                            <a:srgbClr val="76AA51"/>
                          </a:solidFill>
                        </a:rPr>
                        <a:t>+9%</a:t>
                      </a:r>
                    </a:p>
                  </a:txBody>
                  <a:tcPr/>
                </a:tc>
                <a:extLst>
                  <a:ext uri="{0D108BD9-81ED-4DB2-BD59-A6C34878D82A}">
                    <a16:rowId xmlns:a16="http://schemas.microsoft.com/office/drawing/2014/main" val="1602343848"/>
                  </a:ext>
                </a:extLst>
              </a:tr>
              <a:tr h="370840">
                <a:tc>
                  <a:txBody>
                    <a:bodyPr/>
                    <a:lstStyle/>
                    <a:p>
                      <a:r>
                        <a:rPr lang="en-US" sz="1600" dirty="0">
                          <a:solidFill>
                            <a:srgbClr val="76AA51"/>
                          </a:solidFill>
                        </a:rPr>
                        <a:t>Spanish</a:t>
                      </a:r>
                    </a:p>
                  </a:txBody>
                  <a:tcPr/>
                </a:tc>
                <a:tc>
                  <a:txBody>
                    <a:bodyPr/>
                    <a:lstStyle/>
                    <a:p>
                      <a:r>
                        <a:rPr lang="en-US" sz="1600" dirty="0">
                          <a:solidFill>
                            <a:srgbClr val="76AA51"/>
                          </a:solidFill>
                        </a:rPr>
                        <a:t>Good</a:t>
                      </a:r>
                    </a:p>
                  </a:txBody>
                  <a:tcPr/>
                </a:tc>
                <a:tc>
                  <a:txBody>
                    <a:bodyPr/>
                    <a:lstStyle/>
                    <a:p>
                      <a:pPr algn="r"/>
                      <a:r>
                        <a:rPr lang="en-US" sz="1600" dirty="0">
                          <a:solidFill>
                            <a:srgbClr val="76AA51"/>
                          </a:solidFill>
                        </a:rPr>
                        <a:t>+8%</a:t>
                      </a:r>
                    </a:p>
                  </a:txBody>
                  <a:tcPr/>
                </a:tc>
                <a:extLst>
                  <a:ext uri="{0D108BD9-81ED-4DB2-BD59-A6C34878D82A}">
                    <a16:rowId xmlns:a16="http://schemas.microsoft.com/office/drawing/2014/main" val="520528104"/>
                  </a:ext>
                </a:extLst>
              </a:tr>
              <a:tr h="370840">
                <a:tc>
                  <a:txBody>
                    <a:bodyPr/>
                    <a:lstStyle/>
                    <a:p>
                      <a:r>
                        <a:rPr lang="en-US" sz="1600" dirty="0">
                          <a:solidFill>
                            <a:srgbClr val="C84938"/>
                          </a:solidFill>
                        </a:rPr>
                        <a:t>Chinese</a:t>
                      </a:r>
                    </a:p>
                  </a:txBody>
                  <a:tcPr/>
                </a:tc>
                <a:tc>
                  <a:txBody>
                    <a:bodyPr/>
                    <a:lstStyle/>
                    <a:p>
                      <a:r>
                        <a:rPr lang="en-US" sz="1600" dirty="0">
                          <a:solidFill>
                            <a:srgbClr val="C84938"/>
                          </a:solidFill>
                        </a:rPr>
                        <a:t>Low</a:t>
                      </a:r>
                    </a:p>
                  </a:txBody>
                  <a:tcPr/>
                </a:tc>
                <a:tc>
                  <a:txBody>
                    <a:bodyPr/>
                    <a:lstStyle/>
                    <a:p>
                      <a:pPr algn="r"/>
                      <a:r>
                        <a:rPr lang="en-US" sz="1600" dirty="0">
                          <a:solidFill>
                            <a:srgbClr val="C84938"/>
                          </a:solidFill>
                        </a:rPr>
                        <a:t>+156%</a:t>
                      </a:r>
                    </a:p>
                  </a:txBody>
                  <a:tcPr/>
                </a:tc>
                <a:extLst>
                  <a:ext uri="{0D108BD9-81ED-4DB2-BD59-A6C34878D82A}">
                    <a16:rowId xmlns:a16="http://schemas.microsoft.com/office/drawing/2014/main" val="3757529932"/>
                  </a:ext>
                </a:extLst>
              </a:tr>
            </a:tbl>
          </a:graphicData>
        </a:graphic>
      </p:graphicFrame>
      <p:sp>
        <p:nvSpPr>
          <p:cNvPr id="5" name="TextBox 4">
            <a:extLst>
              <a:ext uri="{FF2B5EF4-FFF2-40B4-BE49-F238E27FC236}">
                <a16:creationId xmlns:a16="http://schemas.microsoft.com/office/drawing/2014/main" id="{84B9B133-4068-4939-59F0-D38573BB791D}"/>
              </a:ext>
            </a:extLst>
          </p:cNvPr>
          <p:cNvSpPr txBox="1"/>
          <p:nvPr/>
        </p:nvSpPr>
        <p:spPr>
          <a:xfrm>
            <a:off x="6115688" y="4157663"/>
            <a:ext cx="5580374" cy="1569660"/>
          </a:xfrm>
          <a:prstGeom prst="rect">
            <a:avLst/>
          </a:prstGeom>
          <a:noFill/>
        </p:spPr>
        <p:txBody>
          <a:bodyPr wrap="none" rtlCol="0">
            <a:spAutoFit/>
          </a:bodyPr>
          <a:lstStyle/>
          <a:p>
            <a:pPr algn="ctr"/>
            <a:r>
              <a:rPr lang="en-US" sz="2400" b="1" dirty="0">
                <a:solidFill>
                  <a:srgbClr val="875295"/>
                </a:solidFill>
              </a:rPr>
              <a:t>What happens if we increase</a:t>
            </a:r>
          </a:p>
          <a:p>
            <a:pPr algn="ctr"/>
            <a:r>
              <a:rPr lang="en-US" sz="2400" b="1" dirty="0">
                <a:solidFill>
                  <a:srgbClr val="875295"/>
                </a:solidFill>
              </a:rPr>
              <a:t>localization of product information</a:t>
            </a:r>
          </a:p>
          <a:p>
            <a:pPr algn="ctr"/>
            <a:r>
              <a:rPr lang="en-US" sz="2400" b="1" dirty="0">
                <a:solidFill>
                  <a:srgbClr val="875295"/>
                </a:solidFill>
              </a:rPr>
              <a:t>and translate the sales portal</a:t>
            </a:r>
            <a:br>
              <a:rPr lang="en-US" sz="2400" b="1" dirty="0">
                <a:solidFill>
                  <a:srgbClr val="875295"/>
                </a:solidFill>
              </a:rPr>
            </a:br>
            <a:r>
              <a:rPr lang="en-US" sz="2400" b="1" dirty="0">
                <a:solidFill>
                  <a:srgbClr val="875295"/>
                </a:solidFill>
              </a:rPr>
              <a:t>for Chinese?</a:t>
            </a:r>
          </a:p>
        </p:txBody>
      </p:sp>
    </p:spTree>
    <p:extLst>
      <p:ext uri="{BB962C8B-B14F-4D97-AF65-F5344CB8AC3E}">
        <p14:creationId xmlns:p14="http://schemas.microsoft.com/office/powerpoint/2010/main" val="95490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A2FC7-2B9E-983C-6E68-FD0C5011D404}"/>
              </a:ext>
            </a:extLst>
          </p:cNvPr>
          <p:cNvSpPr>
            <a:spLocks noGrp="1"/>
          </p:cNvSpPr>
          <p:nvPr>
            <p:ph type="title"/>
          </p:nvPr>
        </p:nvSpPr>
        <p:spPr/>
        <p:txBody>
          <a:bodyPr/>
          <a:lstStyle/>
          <a:p>
            <a:r>
              <a:rPr lang="en-US" dirty="0"/>
              <a:t>A few final notes</a:t>
            </a:r>
          </a:p>
        </p:txBody>
      </p:sp>
      <p:sp>
        <p:nvSpPr>
          <p:cNvPr id="3" name="Content Placeholder 2">
            <a:extLst>
              <a:ext uri="{FF2B5EF4-FFF2-40B4-BE49-F238E27FC236}">
                <a16:creationId xmlns:a16="http://schemas.microsoft.com/office/drawing/2014/main" id="{18C9B246-BD5F-B9A3-B158-5775106BC760}"/>
              </a:ext>
            </a:extLst>
          </p:cNvPr>
          <p:cNvSpPr>
            <a:spLocks noGrp="1"/>
          </p:cNvSpPr>
          <p:nvPr>
            <p:ph idx="1"/>
          </p:nvPr>
        </p:nvSpPr>
        <p:spPr>
          <a:xfrm>
            <a:off x="838200" y="1475118"/>
            <a:ext cx="5257800" cy="4701846"/>
          </a:xfrm>
        </p:spPr>
        <p:txBody>
          <a:bodyPr>
            <a:normAutofit lnSpcReduction="10000"/>
          </a:bodyPr>
          <a:lstStyle/>
          <a:p>
            <a:r>
              <a:rPr lang="en-US" dirty="0"/>
              <a:t>Use this to start the conversation and move to a deeper level</a:t>
            </a:r>
          </a:p>
          <a:p>
            <a:r>
              <a:rPr lang="en-US" dirty="0"/>
              <a:t>Emphasize possible outcomes</a:t>
            </a:r>
          </a:p>
          <a:p>
            <a:r>
              <a:rPr lang="en-US" dirty="0"/>
              <a:t>Remind customers that they need appealing products and content</a:t>
            </a:r>
          </a:p>
          <a:p>
            <a:r>
              <a:rPr lang="en-US" dirty="0"/>
              <a:t>Time to revenue is difficult to predict</a:t>
            </a:r>
          </a:p>
          <a:p>
            <a:r>
              <a:rPr lang="en-US" dirty="0"/>
              <a:t>Build your </a:t>
            </a:r>
            <a:r>
              <a:rPr lang="en-US"/>
              <a:t>data savviness</a:t>
            </a:r>
            <a:endParaRPr lang="en-US" dirty="0">
              <a:highlight>
                <a:srgbClr val="00FFFF"/>
              </a:highlight>
            </a:endParaRPr>
          </a:p>
        </p:txBody>
      </p:sp>
      <p:graphicFrame>
        <p:nvGraphicFramePr>
          <p:cNvPr id="4" name="Chart 3">
            <a:extLst>
              <a:ext uri="{FF2B5EF4-FFF2-40B4-BE49-F238E27FC236}">
                <a16:creationId xmlns:a16="http://schemas.microsoft.com/office/drawing/2014/main" id="{FBE91897-4C0F-DC42-8A71-B3C384950A6A}"/>
              </a:ext>
            </a:extLst>
          </p:cNvPr>
          <p:cNvGraphicFramePr/>
          <p:nvPr>
            <p:extLst>
              <p:ext uri="{D42A27DB-BD31-4B8C-83A1-F6EECF244321}">
                <p14:modId xmlns:p14="http://schemas.microsoft.com/office/powerpoint/2010/main" val="894157130"/>
              </p:ext>
            </p:extLst>
          </p:nvPr>
        </p:nvGraphicFramePr>
        <p:xfrm>
          <a:off x="6096000" y="645795"/>
          <a:ext cx="5715000" cy="556641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590809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Graphic spid="4" grpId="0">
        <p:bldAsOne/>
      </p:bldGraphic>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A8A52-9F9B-9E7B-D99B-DE3E55AB4CC1}"/>
              </a:ext>
            </a:extLst>
          </p:cNvPr>
          <p:cNvSpPr>
            <a:spLocks noGrp="1"/>
          </p:cNvSpPr>
          <p:nvPr>
            <p:ph type="title"/>
          </p:nvPr>
        </p:nvSpPr>
        <p:spPr/>
        <p:txBody>
          <a:bodyPr/>
          <a:lstStyle/>
          <a:p>
            <a:r>
              <a:rPr lang="en-US" dirty="0"/>
              <a:t>Be strategic, tactful, and realistic</a:t>
            </a:r>
          </a:p>
        </p:txBody>
      </p:sp>
      <p:sp>
        <p:nvSpPr>
          <p:cNvPr id="3" name="Content Placeholder 2">
            <a:extLst>
              <a:ext uri="{FF2B5EF4-FFF2-40B4-BE49-F238E27FC236}">
                <a16:creationId xmlns:a16="http://schemas.microsoft.com/office/drawing/2014/main" id="{9EE06C99-B889-BD4A-AD5B-9F757DE58AA4}"/>
              </a:ext>
            </a:extLst>
          </p:cNvPr>
          <p:cNvSpPr>
            <a:spLocks noGrp="1"/>
          </p:cNvSpPr>
          <p:nvPr>
            <p:ph idx="1"/>
          </p:nvPr>
        </p:nvSpPr>
        <p:spPr/>
        <p:txBody>
          <a:bodyPr/>
          <a:lstStyle/>
          <a:p>
            <a:r>
              <a:rPr lang="en-US" dirty="0"/>
              <a:t>Focus on a realistic opportunity that clients will gain: Help them see strategic opportunities</a:t>
            </a:r>
          </a:p>
          <a:p>
            <a:r>
              <a:rPr lang="en-US" dirty="0"/>
              <a:t>Understand results takes time</a:t>
            </a:r>
          </a:p>
          <a:p>
            <a:r>
              <a:rPr lang="en-US" dirty="0"/>
              <a:t>Help clients prioritize their efforts: This is fodder for brainstorming </a:t>
            </a:r>
          </a:p>
          <a:p>
            <a:r>
              <a:rPr lang="en-US" dirty="0"/>
              <a:t>Be selective in who you approach and what you suggest</a:t>
            </a:r>
          </a:p>
          <a:p>
            <a:r>
              <a:rPr lang="en-US" dirty="0"/>
              <a:t>Please cite CSA Research as the source of your data and seek approval for marketing mailers, website, etc.</a:t>
            </a:r>
          </a:p>
        </p:txBody>
      </p:sp>
    </p:spTree>
    <p:extLst>
      <p:ext uri="{BB962C8B-B14F-4D97-AF65-F5344CB8AC3E}">
        <p14:creationId xmlns:p14="http://schemas.microsoft.com/office/powerpoint/2010/main" val="17534504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9E7ECEA-8661-42E8-9674-CB0669558F7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t="18332" r="6875" b="18334"/>
          <a:stretch/>
        </p:blipFill>
        <p:spPr>
          <a:xfrm>
            <a:off x="0" y="1257300"/>
            <a:ext cx="11353800" cy="4343400"/>
          </a:xfrm>
          <a:prstGeom prst="rect">
            <a:avLst/>
          </a:prstGeom>
        </p:spPr>
      </p:pic>
      <p:sp>
        <p:nvSpPr>
          <p:cNvPr id="5" name="Title 4"/>
          <p:cNvSpPr>
            <a:spLocks noGrp="1"/>
          </p:cNvSpPr>
          <p:nvPr>
            <p:ph type="ctrTitle"/>
          </p:nvPr>
        </p:nvSpPr>
        <p:spPr>
          <a:xfrm>
            <a:off x="6096000" y="1968500"/>
            <a:ext cx="5257800" cy="2921000"/>
          </a:xfrm>
          <a:solidFill>
            <a:srgbClr val="6075A7"/>
          </a:solidFill>
        </p:spPr>
        <p:txBody>
          <a:bodyPr>
            <a:noAutofit/>
          </a:bodyPr>
          <a:lstStyle/>
          <a:p>
            <a:pPr algn="l">
              <a:lnSpc>
                <a:spcPct val="100000"/>
              </a:lnSpc>
              <a:spcAft>
                <a:spcPts val="1200"/>
              </a:spcAft>
            </a:pPr>
            <a:r>
              <a:rPr lang="en-US" dirty="0"/>
              <a:t>Questions?</a:t>
            </a:r>
            <a:endParaRPr lang="en-US" b="0" dirty="0">
              <a:latin typeface="+mn-lt"/>
            </a:endParaRPr>
          </a:p>
        </p:txBody>
      </p:sp>
      <p:sp>
        <p:nvSpPr>
          <p:cNvPr id="9" name="Rectangle 8"/>
          <p:cNvSpPr/>
          <p:nvPr/>
        </p:nvSpPr>
        <p:spPr>
          <a:xfrm>
            <a:off x="0" y="1968500"/>
            <a:ext cx="6096000" cy="2921000"/>
          </a:xfrm>
          <a:prstGeom prst="rect">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76839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0">
            <a:extLst>
              <a:ext uri="{FF2B5EF4-FFF2-40B4-BE49-F238E27FC236}">
                <a16:creationId xmlns:a16="http://schemas.microsoft.com/office/drawing/2014/main" id="{9F50566F-19A0-41C5-8DED-CB7B8050F3DA}"/>
              </a:ext>
            </a:extLst>
          </p:cNvPr>
          <p:cNvPicPr>
            <a:picLocks noGrp="1" noChangeAspect="1"/>
          </p:cNvPicPr>
          <p:nvPr>
            <p:ph type="pic" sz="quarter" idx="10"/>
          </p:nvPr>
        </p:nvPicPr>
        <p:blipFill rotWithShape="1">
          <a:blip r:embed="rId2" cstate="screen">
            <a:extLst>
              <a:ext uri="{28A0092B-C50C-407E-A947-70E740481C1C}">
                <a14:useLocalDpi xmlns:a14="http://schemas.microsoft.com/office/drawing/2010/main"/>
              </a:ext>
            </a:extLst>
          </a:blip>
          <a:srcRect/>
          <a:stretch/>
        </p:blipFill>
        <p:spPr>
          <a:xfrm>
            <a:off x="0" y="86266"/>
            <a:ext cx="12192000" cy="3342734"/>
          </a:xfrm>
        </p:spPr>
      </p:pic>
      <p:sp>
        <p:nvSpPr>
          <p:cNvPr id="12" name="Oval 11">
            <a:extLst>
              <a:ext uri="{FF2B5EF4-FFF2-40B4-BE49-F238E27FC236}">
                <a16:creationId xmlns:a16="http://schemas.microsoft.com/office/drawing/2014/main" id="{BCD19B7A-608A-4076-8A48-827714205BA5}"/>
              </a:ext>
            </a:extLst>
          </p:cNvPr>
          <p:cNvSpPr/>
          <p:nvPr/>
        </p:nvSpPr>
        <p:spPr>
          <a:xfrm>
            <a:off x="5515133" y="3686578"/>
            <a:ext cx="1161734" cy="1161732"/>
          </a:xfrm>
          <a:prstGeom prst="ellipse">
            <a:avLst/>
          </a:prstGeom>
          <a:noFill/>
          <a:ln w="158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DD0E55B5-FC17-46EC-8F4A-EC5B35FE49D4}"/>
              </a:ext>
            </a:extLst>
          </p:cNvPr>
          <p:cNvSpPr/>
          <p:nvPr/>
        </p:nvSpPr>
        <p:spPr>
          <a:xfrm>
            <a:off x="8999085" y="3686578"/>
            <a:ext cx="1161734" cy="1161732"/>
          </a:xfrm>
          <a:prstGeom prst="ellipse">
            <a:avLst/>
          </a:prstGeom>
          <a:noFill/>
          <a:ln w="158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78276143-1E5A-45F4-935F-6A4A3E78D159}"/>
              </a:ext>
            </a:extLst>
          </p:cNvPr>
          <p:cNvSpPr/>
          <p:nvPr/>
        </p:nvSpPr>
        <p:spPr>
          <a:xfrm>
            <a:off x="2030041" y="3686578"/>
            <a:ext cx="1161734" cy="1161732"/>
          </a:xfrm>
          <a:prstGeom prst="ellipse">
            <a:avLst/>
          </a:prstGeom>
          <a:noFill/>
          <a:ln w="158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12">
            <a:extLst>
              <a:ext uri="{FF2B5EF4-FFF2-40B4-BE49-F238E27FC236}">
                <a16:creationId xmlns:a16="http://schemas.microsoft.com/office/drawing/2014/main" id="{28391F50-3E9E-4832-9B8E-DAB97432516B}"/>
              </a:ext>
            </a:extLst>
          </p:cNvPr>
          <p:cNvSpPr txBox="1">
            <a:spLocks/>
          </p:cNvSpPr>
          <p:nvPr/>
        </p:nvSpPr>
        <p:spPr>
          <a:xfrm>
            <a:off x="5097779" y="4945306"/>
            <a:ext cx="1996442" cy="414912"/>
          </a:xfrm>
          <a:prstGeom prst="rect">
            <a:avLst/>
          </a:prstGeom>
        </p:spPr>
        <p:txBody>
          <a:bodyPr anchor="b"/>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INSIGHTS</a:t>
            </a:r>
          </a:p>
        </p:txBody>
      </p:sp>
      <p:sp>
        <p:nvSpPr>
          <p:cNvPr id="10" name="Text Placeholder 13">
            <a:extLst>
              <a:ext uri="{FF2B5EF4-FFF2-40B4-BE49-F238E27FC236}">
                <a16:creationId xmlns:a16="http://schemas.microsoft.com/office/drawing/2014/main" id="{B5184CA0-CFE8-4563-81B8-BFC726820F2D}"/>
              </a:ext>
            </a:extLst>
          </p:cNvPr>
          <p:cNvSpPr txBox="1">
            <a:spLocks/>
          </p:cNvSpPr>
          <p:nvPr/>
        </p:nvSpPr>
        <p:spPr>
          <a:xfrm>
            <a:off x="4524339" y="5360218"/>
            <a:ext cx="3143322" cy="2920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500" dirty="0" err="1">
                <a:solidFill>
                  <a:schemeClr val="tx2"/>
                </a:solidFill>
                <a:ea typeface="ＭＳ Ｐゴシック" charset="-128"/>
                <a:cs typeface="ＭＳ Ｐゴシック" charset="-128"/>
              </a:rPr>
              <a:t>www.csa-research.com</a:t>
            </a:r>
            <a:r>
              <a:rPr lang="en-US" sz="1500" dirty="0">
                <a:solidFill>
                  <a:schemeClr val="tx2"/>
                </a:solidFill>
                <a:ea typeface="ＭＳ Ｐゴシック" charset="-128"/>
                <a:cs typeface="ＭＳ Ｐゴシック" charset="-128"/>
              </a:rPr>
              <a:t>/insights</a:t>
            </a:r>
            <a:endParaRPr lang="en-US" sz="1500" dirty="0">
              <a:solidFill>
                <a:schemeClr val="tx2"/>
              </a:solidFill>
            </a:endParaRPr>
          </a:p>
        </p:txBody>
      </p:sp>
      <p:sp>
        <p:nvSpPr>
          <p:cNvPr id="15" name="Text Placeholder 12">
            <a:extLst>
              <a:ext uri="{FF2B5EF4-FFF2-40B4-BE49-F238E27FC236}">
                <a16:creationId xmlns:a16="http://schemas.microsoft.com/office/drawing/2014/main" id="{998D450D-6EF0-49F3-8CD2-0C25150C1F1A}"/>
              </a:ext>
            </a:extLst>
          </p:cNvPr>
          <p:cNvSpPr txBox="1">
            <a:spLocks/>
          </p:cNvSpPr>
          <p:nvPr/>
        </p:nvSpPr>
        <p:spPr>
          <a:xfrm>
            <a:off x="8581731" y="4945306"/>
            <a:ext cx="1996442" cy="414912"/>
          </a:xfrm>
          <a:prstGeom prst="rect">
            <a:avLst/>
          </a:prstGeom>
        </p:spPr>
        <p:txBody>
          <a:bodyPr anchor="b"/>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TWITTER</a:t>
            </a:r>
          </a:p>
        </p:txBody>
      </p:sp>
      <p:sp>
        <p:nvSpPr>
          <p:cNvPr id="16" name="Text Placeholder 13">
            <a:extLst>
              <a:ext uri="{FF2B5EF4-FFF2-40B4-BE49-F238E27FC236}">
                <a16:creationId xmlns:a16="http://schemas.microsoft.com/office/drawing/2014/main" id="{FF1DA4B0-C731-4170-A010-A920623D14DF}"/>
              </a:ext>
            </a:extLst>
          </p:cNvPr>
          <p:cNvSpPr txBox="1">
            <a:spLocks/>
          </p:cNvSpPr>
          <p:nvPr/>
        </p:nvSpPr>
        <p:spPr>
          <a:xfrm>
            <a:off x="8581731" y="5360218"/>
            <a:ext cx="1996442" cy="2920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500" dirty="0">
                <a:solidFill>
                  <a:schemeClr val="tx2"/>
                </a:solidFill>
                <a:ea typeface="ＭＳ Ｐゴシック" charset="-128"/>
                <a:cs typeface="ＭＳ Ｐゴシック" charset="-128"/>
              </a:rPr>
              <a:t>@</a:t>
            </a:r>
            <a:r>
              <a:rPr lang="en-US" sz="1500" dirty="0" err="1">
                <a:solidFill>
                  <a:schemeClr val="tx2"/>
                </a:solidFill>
                <a:ea typeface="ＭＳ Ｐゴシック" charset="-128"/>
                <a:cs typeface="ＭＳ Ｐゴシック" charset="-128"/>
              </a:rPr>
              <a:t>CSA_Research</a:t>
            </a:r>
            <a:endParaRPr lang="en-US" sz="1500" dirty="0">
              <a:solidFill>
                <a:schemeClr val="tx2"/>
              </a:solidFill>
            </a:endParaRPr>
          </a:p>
        </p:txBody>
      </p:sp>
      <p:sp>
        <p:nvSpPr>
          <p:cNvPr id="17" name="Freeform 8">
            <a:extLst>
              <a:ext uri="{FF2B5EF4-FFF2-40B4-BE49-F238E27FC236}">
                <a16:creationId xmlns:a16="http://schemas.microsoft.com/office/drawing/2014/main" id="{8A243C70-A51C-4A37-B2C6-9BDF2CEF73E3}"/>
              </a:ext>
            </a:extLst>
          </p:cNvPr>
          <p:cNvSpPr>
            <a:spLocks/>
          </p:cNvSpPr>
          <p:nvPr/>
        </p:nvSpPr>
        <p:spPr bwMode="auto">
          <a:xfrm>
            <a:off x="9362876" y="4087950"/>
            <a:ext cx="434150" cy="358986"/>
          </a:xfrm>
          <a:custGeom>
            <a:avLst/>
            <a:gdLst>
              <a:gd name="T0" fmla="*/ 237 w 265"/>
              <a:gd name="T1" fmla="*/ 54 h 215"/>
              <a:gd name="T2" fmla="*/ 238 w 265"/>
              <a:gd name="T3" fmla="*/ 61 h 215"/>
              <a:gd name="T4" fmla="*/ 84 w 265"/>
              <a:gd name="T5" fmla="*/ 215 h 215"/>
              <a:gd name="T6" fmla="*/ 0 w 265"/>
              <a:gd name="T7" fmla="*/ 190 h 215"/>
              <a:gd name="T8" fmla="*/ 14 w 265"/>
              <a:gd name="T9" fmla="*/ 191 h 215"/>
              <a:gd name="T10" fmla="*/ 81 w 265"/>
              <a:gd name="T11" fmla="*/ 168 h 215"/>
              <a:gd name="T12" fmla="*/ 30 w 265"/>
              <a:gd name="T13" fmla="*/ 130 h 215"/>
              <a:gd name="T14" fmla="*/ 40 w 265"/>
              <a:gd name="T15" fmla="*/ 131 h 215"/>
              <a:gd name="T16" fmla="*/ 55 w 265"/>
              <a:gd name="T17" fmla="*/ 129 h 215"/>
              <a:gd name="T18" fmla="*/ 11 w 265"/>
              <a:gd name="T19" fmla="*/ 76 h 215"/>
              <a:gd name="T20" fmla="*/ 11 w 265"/>
              <a:gd name="T21" fmla="*/ 75 h 215"/>
              <a:gd name="T22" fmla="*/ 36 w 265"/>
              <a:gd name="T23" fmla="*/ 82 h 215"/>
              <a:gd name="T24" fmla="*/ 12 w 265"/>
              <a:gd name="T25" fmla="*/ 37 h 215"/>
              <a:gd name="T26" fmla="*/ 19 w 265"/>
              <a:gd name="T27" fmla="*/ 10 h 215"/>
              <a:gd name="T28" fmla="*/ 131 w 265"/>
              <a:gd name="T29" fmla="*/ 67 h 215"/>
              <a:gd name="T30" fmla="*/ 129 w 265"/>
              <a:gd name="T31" fmla="*/ 54 h 215"/>
              <a:gd name="T32" fmla="*/ 183 w 265"/>
              <a:gd name="T33" fmla="*/ 0 h 215"/>
              <a:gd name="T34" fmla="*/ 223 w 265"/>
              <a:gd name="T35" fmla="*/ 17 h 215"/>
              <a:gd name="T36" fmla="*/ 257 w 265"/>
              <a:gd name="T37" fmla="*/ 4 h 215"/>
              <a:gd name="T38" fmla="*/ 233 w 265"/>
              <a:gd name="T39" fmla="*/ 34 h 215"/>
              <a:gd name="T40" fmla="*/ 265 w 265"/>
              <a:gd name="T41" fmla="*/ 26 h 215"/>
              <a:gd name="T42" fmla="*/ 237 w 265"/>
              <a:gd name="T43" fmla="*/ 54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65" h="215">
                <a:moveTo>
                  <a:pt x="237" y="54"/>
                </a:moveTo>
                <a:cubicBezTo>
                  <a:pt x="238" y="56"/>
                  <a:pt x="238" y="58"/>
                  <a:pt x="238" y="61"/>
                </a:cubicBezTo>
                <a:cubicBezTo>
                  <a:pt x="238" y="132"/>
                  <a:pt x="183" y="215"/>
                  <a:pt x="84" y="215"/>
                </a:cubicBezTo>
                <a:cubicBezTo>
                  <a:pt x="53" y="215"/>
                  <a:pt x="24" y="206"/>
                  <a:pt x="0" y="190"/>
                </a:cubicBezTo>
                <a:cubicBezTo>
                  <a:pt x="5" y="191"/>
                  <a:pt x="9" y="191"/>
                  <a:pt x="14" y="191"/>
                </a:cubicBezTo>
                <a:cubicBezTo>
                  <a:pt x="39" y="191"/>
                  <a:pt x="62" y="182"/>
                  <a:pt x="81" y="168"/>
                </a:cubicBezTo>
                <a:cubicBezTo>
                  <a:pt x="57" y="167"/>
                  <a:pt x="37" y="152"/>
                  <a:pt x="30" y="130"/>
                </a:cubicBezTo>
                <a:cubicBezTo>
                  <a:pt x="34" y="131"/>
                  <a:pt x="37" y="131"/>
                  <a:pt x="40" y="131"/>
                </a:cubicBezTo>
                <a:cubicBezTo>
                  <a:pt x="45" y="131"/>
                  <a:pt x="50" y="130"/>
                  <a:pt x="55" y="129"/>
                </a:cubicBezTo>
                <a:cubicBezTo>
                  <a:pt x="30" y="124"/>
                  <a:pt x="11" y="102"/>
                  <a:pt x="11" y="76"/>
                </a:cubicBezTo>
                <a:cubicBezTo>
                  <a:pt x="11" y="76"/>
                  <a:pt x="11" y="76"/>
                  <a:pt x="11" y="75"/>
                </a:cubicBezTo>
                <a:cubicBezTo>
                  <a:pt x="18" y="79"/>
                  <a:pt x="27" y="82"/>
                  <a:pt x="36" y="82"/>
                </a:cubicBezTo>
                <a:cubicBezTo>
                  <a:pt x="21" y="73"/>
                  <a:pt x="12" y="56"/>
                  <a:pt x="12" y="37"/>
                </a:cubicBezTo>
                <a:cubicBezTo>
                  <a:pt x="12" y="27"/>
                  <a:pt x="14" y="18"/>
                  <a:pt x="19" y="10"/>
                </a:cubicBezTo>
                <a:cubicBezTo>
                  <a:pt x="46" y="43"/>
                  <a:pt x="86" y="64"/>
                  <a:pt x="131" y="67"/>
                </a:cubicBezTo>
                <a:cubicBezTo>
                  <a:pt x="130" y="63"/>
                  <a:pt x="129" y="58"/>
                  <a:pt x="129" y="54"/>
                </a:cubicBezTo>
                <a:cubicBezTo>
                  <a:pt x="129" y="24"/>
                  <a:pt x="153" y="0"/>
                  <a:pt x="183" y="0"/>
                </a:cubicBezTo>
                <a:cubicBezTo>
                  <a:pt x="199" y="0"/>
                  <a:pt x="213" y="7"/>
                  <a:pt x="223" y="17"/>
                </a:cubicBezTo>
                <a:cubicBezTo>
                  <a:pt x="235" y="15"/>
                  <a:pt x="247" y="10"/>
                  <a:pt x="257" y="4"/>
                </a:cubicBezTo>
                <a:cubicBezTo>
                  <a:pt x="253" y="17"/>
                  <a:pt x="245" y="27"/>
                  <a:pt x="233" y="34"/>
                </a:cubicBezTo>
                <a:cubicBezTo>
                  <a:pt x="244" y="33"/>
                  <a:pt x="255" y="30"/>
                  <a:pt x="265" y="26"/>
                </a:cubicBezTo>
                <a:cubicBezTo>
                  <a:pt x="257" y="36"/>
                  <a:pt x="248" y="46"/>
                  <a:pt x="237" y="5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Text Placeholder 12">
            <a:extLst>
              <a:ext uri="{FF2B5EF4-FFF2-40B4-BE49-F238E27FC236}">
                <a16:creationId xmlns:a16="http://schemas.microsoft.com/office/drawing/2014/main" id="{52B0BBAB-14F6-4B42-9DF8-8DB9F7CA5E5D}"/>
              </a:ext>
            </a:extLst>
          </p:cNvPr>
          <p:cNvSpPr txBox="1">
            <a:spLocks/>
          </p:cNvSpPr>
          <p:nvPr/>
        </p:nvSpPr>
        <p:spPr>
          <a:xfrm>
            <a:off x="1612687" y="4945306"/>
            <a:ext cx="1996442" cy="414912"/>
          </a:xfrm>
          <a:prstGeom prst="rect">
            <a:avLst/>
          </a:prstGeom>
        </p:spPr>
        <p:txBody>
          <a:bodyPr anchor="b"/>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t>RESEARCH</a:t>
            </a:r>
          </a:p>
        </p:txBody>
      </p:sp>
      <p:sp>
        <p:nvSpPr>
          <p:cNvPr id="21" name="Text Placeholder 13">
            <a:extLst>
              <a:ext uri="{FF2B5EF4-FFF2-40B4-BE49-F238E27FC236}">
                <a16:creationId xmlns:a16="http://schemas.microsoft.com/office/drawing/2014/main" id="{7FC4F9BA-9F7E-4FB0-A36E-D5EADBA429D7}"/>
              </a:ext>
            </a:extLst>
          </p:cNvPr>
          <p:cNvSpPr txBox="1">
            <a:spLocks/>
          </p:cNvSpPr>
          <p:nvPr/>
        </p:nvSpPr>
        <p:spPr>
          <a:xfrm>
            <a:off x="770586" y="5360218"/>
            <a:ext cx="3680644" cy="29209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500" dirty="0" err="1">
                <a:solidFill>
                  <a:schemeClr val="tx2"/>
                </a:solidFill>
                <a:ea typeface="ＭＳ Ｐゴシック" charset="-128"/>
                <a:cs typeface="ＭＳ Ｐゴシック" charset="-128"/>
              </a:rPr>
              <a:t>www.csa-research.com</a:t>
            </a:r>
            <a:endParaRPr lang="en-US" sz="1500" dirty="0">
              <a:solidFill>
                <a:schemeClr val="tx2"/>
              </a:solidFill>
            </a:endParaRPr>
          </a:p>
        </p:txBody>
      </p:sp>
      <p:sp>
        <p:nvSpPr>
          <p:cNvPr id="24" name="Freeform 23">
            <a:extLst>
              <a:ext uri="{FF2B5EF4-FFF2-40B4-BE49-F238E27FC236}">
                <a16:creationId xmlns:a16="http://schemas.microsoft.com/office/drawing/2014/main" id="{6950D919-347F-476D-B69C-3ECF36FF1CC2}"/>
              </a:ext>
            </a:extLst>
          </p:cNvPr>
          <p:cNvSpPr>
            <a:spLocks noEditPoints="1"/>
          </p:cNvSpPr>
          <p:nvPr/>
        </p:nvSpPr>
        <p:spPr bwMode="auto">
          <a:xfrm>
            <a:off x="2460888" y="4087950"/>
            <a:ext cx="300038" cy="352425"/>
          </a:xfrm>
          <a:custGeom>
            <a:avLst/>
            <a:gdLst>
              <a:gd name="T0" fmla="*/ 515 w 515"/>
              <a:gd name="T1" fmla="*/ 214 h 600"/>
              <a:gd name="T2" fmla="*/ 515 w 515"/>
              <a:gd name="T3" fmla="*/ 568 h 600"/>
              <a:gd name="T4" fmla="*/ 482 w 515"/>
              <a:gd name="T5" fmla="*/ 600 h 600"/>
              <a:gd name="T6" fmla="*/ 32 w 515"/>
              <a:gd name="T7" fmla="*/ 600 h 600"/>
              <a:gd name="T8" fmla="*/ 0 w 515"/>
              <a:gd name="T9" fmla="*/ 568 h 600"/>
              <a:gd name="T10" fmla="*/ 0 w 515"/>
              <a:gd name="T11" fmla="*/ 32 h 600"/>
              <a:gd name="T12" fmla="*/ 32 w 515"/>
              <a:gd name="T13" fmla="*/ 0 h 600"/>
              <a:gd name="T14" fmla="*/ 300 w 515"/>
              <a:gd name="T15" fmla="*/ 0 h 600"/>
              <a:gd name="T16" fmla="*/ 300 w 515"/>
              <a:gd name="T17" fmla="*/ 182 h 600"/>
              <a:gd name="T18" fmla="*/ 332 w 515"/>
              <a:gd name="T19" fmla="*/ 214 h 600"/>
              <a:gd name="T20" fmla="*/ 515 w 515"/>
              <a:gd name="T21" fmla="*/ 214 h 600"/>
              <a:gd name="T22" fmla="*/ 386 w 515"/>
              <a:gd name="T23" fmla="*/ 268 h 600"/>
              <a:gd name="T24" fmla="*/ 375 w 515"/>
              <a:gd name="T25" fmla="*/ 257 h 600"/>
              <a:gd name="T26" fmla="*/ 139 w 515"/>
              <a:gd name="T27" fmla="*/ 257 h 600"/>
              <a:gd name="T28" fmla="*/ 129 w 515"/>
              <a:gd name="T29" fmla="*/ 268 h 600"/>
              <a:gd name="T30" fmla="*/ 129 w 515"/>
              <a:gd name="T31" fmla="*/ 289 h 600"/>
              <a:gd name="T32" fmla="*/ 139 w 515"/>
              <a:gd name="T33" fmla="*/ 300 h 600"/>
              <a:gd name="T34" fmla="*/ 375 w 515"/>
              <a:gd name="T35" fmla="*/ 300 h 600"/>
              <a:gd name="T36" fmla="*/ 386 w 515"/>
              <a:gd name="T37" fmla="*/ 289 h 600"/>
              <a:gd name="T38" fmla="*/ 386 w 515"/>
              <a:gd name="T39" fmla="*/ 268 h 600"/>
              <a:gd name="T40" fmla="*/ 386 w 515"/>
              <a:gd name="T41" fmla="*/ 353 h 600"/>
              <a:gd name="T42" fmla="*/ 375 w 515"/>
              <a:gd name="T43" fmla="*/ 343 h 600"/>
              <a:gd name="T44" fmla="*/ 139 w 515"/>
              <a:gd name="T45" fmla="*/ 343 h 600"/>
              <a:gd name="T46" fmla="*/ 129 w 515"/>
              <a:gd name="T47" fmla="*/ 353 h 600"/>
              <a:gd name="T48" fmla="*/ 129 w 515"/>
              <a:gd name="T49" fmla="*/ 375 h 600"/>
              <a:gd name="T50" fmla="*/ 139 w 515"/>
              <a:gd name="T51" fmla="*/ 385 h 600"/>
              <a:gd name="T52" fmla="*/ 375 w 515"/>
              <a:gd name="T53" fmla="*/ 385 h 600"/>
              <a:gd name="T54" fmla="*/ 386 w 515"/>
              <a:gd name="T55" fmla="*/ 375 h 600"/>
              <a:gd name="T56" fmla="*/ 386 w 515"/>
              <a:gd name="T57" fmla="*/ 353 h 600"/>
              <a:gd name="T58" fmla="*/ 386 w 515"/>
              <a:gd name="T59" fmla="*/ 439 h 600"/>
              <a:gd name="T60" fmla="*/ 375 w 515"/>
              <a:gd name="T61" fmla="*/ 428 h 600"/>
              <a:gd name="T62" fmla="*/ 139 w 515"/>
              <a:gd name="T63" fmla="*/ 428 h 600"/>
              <a:gd name="T64" fmla="*/ 129 w 515"/>
              <a:gd name="T65" fmla="*/ 439 h 600"/>
              <a:gd name="T66" fmla="*/ 129 w 515"/>
              <a:gd name="T67" fmla="*/ 460 h 600"/>
              <a:gd name="T68" fmla="*/ 139 w 515"/>
              <a:gd name="T69" fmla="*/ 471 h 600"/>
              <a:gd name="T70" fmla="*/ 375 w 515"/>
              <a:gd name="T71" fmla="*/ 471 h 600"/>
              <a:gd name="T72" fmla="*/ 386 w 515"/>
              <a:gd name="T73" fmla="*/ 460 h 600"/>
              <a:gd name="T74" fmla="*/ 386 w 515"/>
              <a:gd name="T75" fmla="*/ 439 h 600"/>
              <a:gd name="T76" fmla="*/ 501 w 515"/>
              <a:gd name="T77" fmla="*/ 171 h 600"/>
              <a:gd name="T78" fmla="*/ 343 w 515"/>
              <a:gd name="T79" fmla="*/ 171 h 600"/>
              <a:gd name="T80" fmla="*/ 343 w 515"/>
              <a:gd name="T81" fmla="*/ 13 h 600"/>
              <a:gd name="T82" fmla="*/ 355 w 515"/>
              <a:gd name="T83" fmla="*/ 23 h 600"/>
              <a:gd name="T84" fmla="*/ 492 w 515"/>
              <a:gd name="T85" fmla="*/ 159 h 600"/>
              <a:gd name="T86" fmla="*/ 501 w 515"/>
              <a:gd name="T87" fmla="*/ 171 h 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5" h="600">
                <a:moveTo>
                  <a:pt x="515" y="214"/>
                </a:moveTo>
                <a:cubicBezTo>
                  <a:pt x="515" y="568"/>
                  <a:pt x="515" y="568"/>
                  <a:pt x="515" y="568"/>
                </a:cubicBezTo>
                <a:cubicBezTo>
                  <a:pt x="515" y="585"/>
                  <a:pt x="500" y="600"/>
                  <a:pt x="482" y="600"/>
                </a:cubicBezTo>
                <a:cubicBezTo>
                  <a:pt x="32" y="600"/>
                  <a:pt x="32" y="600"/>
                  <a:pt x="32" y="600"/>
                </a:cubicBezTo>
                <a:cubicBezTo>
                  <a:pt x="15" y="600"/>
                  <a:pt x="0" y="585"/>
                  <a:pt x="0" y="568"/>
                </a:cubicBezTo>
                <a:cubicBezTo>
                  <a:pt x="0" y="32"/>
                  <a:pt x="0" y="32"/>
                  <a:pt x="0" y="32"/>
                </a:cubicBezTo>
                <a:cubicBezTo>
                  <a:pt x="0" y="14"/>
                  <a:pt x="15" y="0"/>
                  <a:pt x="32" y="0"/>
                </a:cubicBezTo>
                <a:cubicBezTo>
                  <a:pt x="300" y="0"/>
                  <a:pt x="300" y="0"/>
                  <a:pt x="300" y="0"/>
                </a:cubicBezTo>
                <a:cubicBezTo>
                  <a:pt x="300" y="182"/>
                  <a:pt x="300" y="182"/>
                  <a:pt x="300" y="182"/>
                </a:cubicBezTo>
                <a:cubicBezTo>
                  <a:pt x="300" y="200"/>
                  <a:pt x="315" y="214"/>
                  <a:pt x="332" y="214"/>
                </a:cubicBezTo>
                <a:lnTo>
                  <a:pt x="515" y="214"/>
                </a:lnTo>
                <a:close/>
                <a:moveTo>
                  <a:pt x="386" y="268"/>
                </a:moveTo>
                <a:cubicBezTo>
                  <a:pt x="386" y="262"/>
                  <a:pt x="381" y="257"/>
                  <a:pt x="375" y="257"/>
                </a:cubicBezTo>
                <a:cubicBezTo>
                  <a:pt x="139" y="257"/>
                  <a:pt x="139" y="257"/>
                  <a:pt x="139" y="257"/>
                </a:cubicBezTo>
                <a:cubicBezTo>
                  <a:pt x="133" y="257"/>
                  <a:pt x="129" y="262"/>
                  <a:pt x="129" y="268"/>
                </a:cubicBezTo>
                <a:cubicBezTo>
                  <a:pt x="129" y="289"/>
                  <a:pt x="129" y="289"/>
                  <a:pt x="129" y="289"/>
                </a:cubicBezTo>
                <a:cubicBezTo>
                  <a:pt x="129" y="295"/>
                  <a:pt x="133" y="300"/>
                  <a:pt x="139" y="300"/>
                </a:cubicBezTo>
                <a:cubicBezTo>
                  <a:pt x="375" y="300"/>
                  <a:pt x="375" y="300"/>
                  <a:pt x="375" y="300"/>
                </a:cubicBezTo>
                <a:cubicBezTo>
                  <a:pt x="381" y="300"/>
                  <a:pt x="386" y="295"/>
                  <a:pt x="386" y="289"/>
                </a:cubicBezTo>
                <a:lnTo>
                  <a:pt x="386" y="268"/>
                </a:lnTo>
                <a:close/>
                <a:moveTo>
                  <a:pt x="386" y="353"/>
                </a:moveTo>
                <a:cubicBezTo>
                  <a:pt x="386" y="347"/>
                  <a:pt x="381" y="343"/>
                  <a:pt x="375" y="343"/>
                </a:cubicBezTo>
                <a:cubicBezTo>
                  <a:pt x="139" y="343"/>
                  <a:pt x="139" y="343"/>
                  <a:pt x="139" y="343"/>
                </a:cubicBezTo>
                <a:cubicBezTo>
                  <a:pt x="133" y="343"/>
                  <a:pt x="129" y="347"/>
                  <a:pt x="129" y="353"/>
                </a:cubicBezTo>
                <a:cubicBezTo>
                  <a:pt x="129" y="375"/>
                  <a:pt x="129" y="375"/>
                  <a:pt x="129" y="375"/>
                </a:cubicBezTo>
                <a:cubicBezTo>
                  <a:pt x="129" y="381"/>
                  <a:pt x="133" y="385"/>
                  <a:pt x="139" y="385"/>
                </a:cubicBezTo>
                <a:cubicBezTo>
                  <a:pt x="375" y="385"/>
                  <a:pt x="375" y="385"/>
                  <a:pt x="375" y="385"/>
                </a:cubicBezTo>
                <a:cubicBezTo>
                  <a:pt x="381" y="385"/>
                  <a:pt x="386" y="381"/>
                  <a:pt x="386" y="375"/>
                </a:cubicBezTo>
                <a:lnTo>
                  <a:pt x="386" y="353"/>
                </a:lnTo>
                <a:close/>
                <a:moveTo>
                  <a:pt x="386" y="439"/>
                </a:moveTo>
                <a:cubicBezTo>
                  <a:pt x="386" y="433"/>
                  <a:pt x="381" y="428"/>
                  <a:pt x="375" y="428"/>
                </a:cubicBezTo>
                <a:cubicBezTo>
                  <a:pt x="139" y="428"/>
                  <a:pt x="139" y="428"/>
                  <a:pt x="139" y="428"/>
                </a:cubicBezTo>
                <a:cubicBezTo>
                  <a:pt x="133" y="428"/>
                  <a:pt x="129" y="433"/>
                  <a:pt x="129" y="439"/>
                </a:cubicBezTo>
                <a:cubicBezTo>
                  <a:pt x="129" y="460"/>
                  <a:pt x="129" y="460"/>
                  <a:pt x="129" y="460"/>
                </a:cubicBezTo>
                <a:cubicBezTo>
                  <a:pt x="129" y="467"/>
                  <a:pt x="133" y="471"/>
                  <a:pt x="139" y="471"/>
                </a:cubicBezTo>
                <a:cubicBezTo>
                  <a:pt x="375" y="471"/>
                  <a:pt x="375" y="471"/>
                  <a:pt x="375" y="471"/>
                </a:cubicBezTo>
                <a:cubicBezTo>
                  <a:pt x="381" y="471"/>
                  <a:pt x="386" y="467"/>
                  <a:pt x="386" y="460"/>
                </a:cubicBezTo>
                <a:lnTo>
                  <a:pt x="386" y="439"/>
                </a:lnTo>
                <a:close/>
                <a:moveTo>
                  <a:pt x="501" y="171"/>
                </a:moveTo>
                <a:cubicBezTo>
                  <a:pt x="343" y="171"/>
                  <a:pt x="343" y="171"/>
                  <a:pt x="343" y="171"/>
                </a:cubicBezTo>
                <a:cubicBezTo>
                  <a:pt x="343" y="13"/>
                  <a:pt x="343" y="13"/>
                  <a:pt x="343" y="13"/>
                </a:cubicBezTo>
                <a:cubicBezTo>
                  <a:pt x="348" y="16"/>
                  <a:pt x="352" y="19"/>
                  <a:pt x="355" y="23"/>
                </a:cubicBezTo>
                <a:cubicBezTo>
                  <a:pt x="492" y="159"/>
                  <a:pt x="492" y="159"/>
                  <a:pt x="492" y="159"/>
                </a:cubicBezTo>
                <a:cubicBezTo>
                  <a:pt x="495" y="162"/>
                  <a:pt x="498" y="167"/>
                  <a:pt x="501" y="171"/>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a:p>
        </p:txBody>
      </p:sp>
      <p:sp>
        <p:nvSpPr>
          <p:cNvPr id="25" name="Freeform 67">
            <a:extLst>
              <a:ext uri="{FF2B5EF4-FFF2-40B4-BE49-F238E27FC236}">
                <a16:creationId xmlns:a16="http://schemas.microsoft.com/office/drawing/2014/main" id="{1EFB0A6C-6755-4659-8092-E58B0EA0F48C}"/>
              </a:ext>
            </a:extLst>
          </p:cNvPr>
          <p:cNvSpPr>
            <a:spLocks noEditPoints="1"/>
          </p:cNvSpPr>
          <p:nvPr/>
        </p:nvSpPr>
        <p:spPr bwMode="auto">
          <a:xfrm>
            <a:off x="5921642" y="4087950"/>
            <a:ext cx="348715" cy="352425"/>
          </a:xfrm>
          <a:custGeom>
            <a:avLst/>
            <a:gdLst>
              <a:gd name="T0" fmla="*/ 0 w 514"/>
              <a:gd name="T1" fmla="*/ 257 h 514"/>
              <a:gd name="T2" fmla="*/ 341 w 514"/>
              <a:gd name="T3" fmla="*/ 180 h 514"/>
              <a:gd name="T4" fmla="*/ 370 w 514"/>
              <a:gd name="T5" fmla="*/ 164 h 514"/>
              <a:gd name="T6" fmla="*/ 406 w 514"/>
              <a:gd name="T7" fmla="*/ 155 h 514"/>
              <a:gd name="T8" fmla="*/ 396 w 514"/>
              <a:gd name="T9" fmla="*/ 141 h 514"/>
              <a:gd name="T10" fmla="*/ 372 w 514"/>
              <a:gd name="T11" fmla="*/ 119 h 514"/>
              <a:gd name="T12" fmla="*/ 354 w 514"/>
              <a:gd name="T13" fmla="*/ 121 h 514"/>
              <a:gd name="T14" fmla="*/ 343 w 514"/>
              <a:gd name="T15" fmla="*/ 109 h 514"/>
              <a:gd name="T16" fmla="*/ 309 w 514"/>
              <a:gd name="T17" fmla="*/ 98 h 514"/>
              <a:gd name="T18" fmla="*/ 314 w 514"/>
              <a:gd name="T19" fmla="*/ 131 h 514"/>
              <a:gd name="T20" fmla="*/ 300 w 514"/>
              <a:gd name="T21" fmla="*/ 158 h 514"/>
              <a:gd name="T22" fmla="*/ 274 w 514"/>
              <a:gd name="T23" fmla="*/ 138 h 514"/>
              <a:gd name="T24" fmla="*/ 234 w 514"/>
              <a:gd name="T25" fmla="*/ 119 h 514"/>
              <a:gd name="T26" fmla="*/ 246 w 514"/>
              <a:gd name="T27" fmla="*/ 91 h 514"/>
              <a:gd name="T28" fmla="*/ 284 w 514"/>
              <a:gd name="T29" fmla="*/ 78 h 514"/>
              <a:gd name="T30" fmla="*/ 277 w 514"/>
              <a:gd name="T31" fmla="*/ 63 h 514"/>
              <a:gd name="T32" fmla="*/ 253 w 514"/>
              <a:gd name="T33" fmla="*/ 67 h 514"/>
              <a:gd name="T34" fmla="*/ 225 w 514"/>
              <a:gd name="T35" fmla="*/ 50 h 514"/>
              <a:gd name="T36" fmla="*/ 229 w 514"/>
              <a:gd name="T37" fmla="*/ 69 h 514"/>
              <a:gd name="T38" fmla="*/ 211 w 514"/>
              <a:gd name="T39" fmla="*/ 69 h 514"/>
              <a:gd name="T40" fmla="*/ 189 w 514"/>
              <a:gd name="T41" fmla="*/ 54 h 514"/>
              <a:gd name="T42" fmla="*/ 169 w 514"/>
              <a:gd name="T43" fmla="*/ 63 h 514"/>
              <a:gd name="T44" fmla="*/ 191 w 514"/>
              <a:gd name="T45" fmla="*/ 68 h 514"/>
              <a:gd name="T46" fmla="*/ 176 w 514"/>
              <a:gd name="T47" fmla="*/ 77 h 514"/>
              <a:gd name="T48" fmla="*/ 76 w 514"/>
              <a:gd name="T49" fmla="*/ 143 h 514"/>
              <a:gd name="T50" fmla="*/ 87 w 514"/>
              <a:gd name="T51" fmla="*/ 158 h 514"/>
              <a:gd name="T52" fmla="*/ 106 w 514"/>
              <a:gd name="T53" fmla="*/ 180 h 514"/>
              <a:gd name="T54" fmla="*/ 99 w 514"/>
              <a:gd name="T55" fmla="*/ 211 h 514"/>
              <a:gd name="T56" fmla="*/ 118 w 514"/>
              <a:gd name="T57" fmla="*/ 247 h 514"/>
              <a:gd name="T58" fmla="*/ 145 w 514"/>
              <a:gd name="T59" fmla="*/ 286 h 514"/>
              <a:gd name="T60" fmla="*/ 158 w 514"/>
              <a:gd name="T61" fmla="*/ 304 h 514"/>
              <a:gd name="T62" fmla="*/ 141 w 514"/>
              <a:gd name="T63" fmla="*/ 263 h 514"/>
              <a:gd name="T64" fmla="*/ 168 w 514"/>
              <a:gd name="T65" fmla="*/ 301 h 514"/>
              <a:gd name="T66" fmla="*/ 202 w 514"/>
              <a:gd name="T67" fmla="*/ 340 h 514"/>
              <a:gd name="T68" fmla="*/ 247 w 514"/>
              <a:gd name="T69" fmla="*/ 359 h 514"/>
              <a:gd name="T70" fmla="*/ 285 w 514"/>
              <a:gd name="T71" fmla="*/ 388 h 514"/>
              <a:gd name="T72" fmla="*/ 300 w 514"/>
              <a:gd name="T73" fmla="*/ 385 h 514"/>
              <a:gd name="T74" fmla="*/ 284 w 514"/>
              <a:gd name="T75" fmla="*/ 358 h 514"/>
              <a:gd name="T76" fmla="*/ 264 w 514"/>
              <a:gd name="T77" fmla="*/ 350 h 514"/>
              <a:gd name="T78" fmla="*/ 260 w 514"/>
              <a:gd name="T79" fmla="*/ 319 h 514"/>
              <a:gd name="T80" fmla="*/ 229 w 514"/>
              <a:gd name="T81" fmla="*/ 334 h 514"/>
              <a:gd name="T82" fmla="*/ 225 w 514"/>
              <a:gd name="T83" fmla="*/ 280 h 514"/>
              <a:gd name="T84" fmla="*/ 246 w 514"/>
              <a:gd name="T85" fmla="*/ 275 h 514"/>
              <a:gd name="T86" fmla="*/ 262 w 514"/>
              <a:gd name="T87" fmla="*/ 270 h 514"/>
              <a:gd name="T88" fmla="*/ 286 w 514"/>
              <a:gd name="T89" fmla="*/ 282 h 514"/>
              <a:gd name="T90" fmla="*/ 296 w 514"/>
              <a:gd name="T91" fmla="*/ 274 h 514"/>
              <a:gd name="T92" fmla="*/ 313 w 514"/>
              <a:gd name="T93" fmla="*/ 240 h 514"/>
              <a:gd name="T94" fmla="*/ 311 w 514"/>
              <a:gd name="T95" fmla="*/ 228 h 514"/>
              <a:gd name="T96" fmla="*/ 337 w 514"/>
              <a:gd name="T97" fmla="*/ 210 h 514"/>
              <a:gd name="T98" fmla="*/ 356 w 514"/>
              <a:gd name="T99" fmla="*/ 191 h 514"/>
              <a:gd name="T100" fmla="*/ 366 w 514"/>
              <a:gd name="T101" fmla="*/ 175 h 514"/>
              <a:gd name="T102" fmla="*/ 341 w 514"/>
              <a:gd name="T103" fmla="*/ 180 h 514"/>
              <a:gd name="T104" fmla="*/ 396 w 514"/>
              <a:gd name="T105" fmla="*/ 399 h 514"/>
              <a:gd name="T106" fmla="*/ 365 w 514"/>
              <a:gd name="T107" fmla="*/ 385 h 514"/>
              <a:gd name="T108" fmla="*/ 336 w 514"/>
              <a:gd name="T109" fmla="*/ 385 h 514"/>
              <a:gd name="T110" fmla="*/ 316 w 514"/>
              <a:gd name="T111" fmla="*/ 382 h 514"/>
              <a:gd name="T112" fmla="*/ 308 w 514"/>
              <a:gd name="T113" fmla="*/ 410 h 514"/>
              <a:gd name="T114" fmla="*/ 299 w 514"/>
              <a:gd name="T115" fmla="*/ 448 h 514"/>
              <a:gd name="T116" fmla="*/ 412 w 514"/>
              <a:gd name="T117" fmla="*/ 404 h 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14" h="514">
                <a:moveTo>
                  <a:pt x="514" y="257"/>
                </a:moveTo>
                <a:cubicBezTo>
                  <a:pt x="514" y="399"/>
                  <a:pt x="399" y="514"/>
                  <a:pt x="257" y="514"/>
                </a:cubicBezTo>
                <a:cubicBezTo>
                  <a:pt x="115" y="514"/>
                  <a:pt x="0" y="399"/>
                  <a:pt x="0" y="257"/>
                </a:cubicBezTo>
                <a:cubicBezTo>
                  <a:pt x="0" y="115"/>
                  <a:pt x="115" y="0"/>
                  <a:pt x="257" y="0"/>
                </a:cubicBezTo>
                <a:cubicBezTo>
                  <a:pt x="399" y="0"/>
                  <a:pt x="514" y="115"/>
                  <a:pt x="514" y="257"/>
                </a:cubicBezTo>
                <a:close/>
                <a:moveTo>
                  <a:pt x="341" y="180"/>
                </a:moveTo>
                <a:cubicBezTo>
                  <a:pt x="343" y="180"/>
                  <a:pt x="345" y="174"/>
                  <a:pt x="346" y="173"/>
                </a:cubicBezTo>
                <a:cubicBezTo>
                  <a:pt x="348" y="170"/>
                  <a:pt x="350" y="169"/>
                  <a:pt x="353" y="168"/>
                </a:cubicBezTo>
                <a:cubicBezTo>
                  <a:pt x="359" y="165"/>
                  <a:pt x="364" y="165"/>
                  <a:pt x="370" y="164"/>
                </a:cubicBezTo>
                <a:cubicBezTo>
                  <a:pt x="376" y="162"/>
                  <a:pt x="383" y="162"/>
                  <a:pt x="387" y="167"/>
                </a:cubicBezTo>
                <a:cubicBezTo>
                  <a:pt x="386" y="166"/>
                  <a:pt x="395" y="159"/>
                  <a:pt x="396" y="159"/>
                </a:cubicBezTo>
                <a:cubicBezTo>
                  <a:pt x="399" y="157"/>
                  <a:pt x="404" y="158"/>
                  <a:pt x="406" y="155"/>
                </a:cubicBezTo>
                <a:cubicBezTo>
                  <a:pt x="406" y="154"/>
                  <a:pt x="406" y="148"/>
                  <a:pt x="406" y="148"/>
                </a:cubicBezTo>
                <a:cubicBezTo>
                  <a:pt x="401" y="148"/>
                  <a:pt x="399" y="143"/>
                  <a:pt x="398" y="138"/>
                </a:cubicBezTo>
                <a:cubicBezTo>
                  <a:pt x="398" y="139"/>
                  <a:pt x="398" y="140"/>
                  <a:pt x="396" y="141"/>
                </a:cubicBezTo>
                <a:cubicBezTo>
                  <a:pt x="397" y="136"/>
                  <a:pt x="390" y="140"/>
                  <a:pt x="388" y="139"/>
                </a:cubicBezTo>
                <a:cubicBezTo>
                  <a:pt x="380" y="137"/>
                  <a:pt x="381" y="132"/>
                  <a:pt x="379" y="126"/>
                </a:cubicBezTo>
                <a:cubicBezTo>
                  <a:pt x="377" y="123"/>
                  <a:pt x="374" y="122"/>
                  <a:pt x="372" y="119"/>
                </a:cubicBezTo>
                <a:cubicBezTo>
                  <a:pt x="371" y="117"/>
                  <a:pt x="370" y="112"/>
                  <a:pt x="367" y="112"/>
                </a:cubicBezTo>
                <a:cubicBezTo>
                  <a:pt x="365" y="112"/>
                  <a:pt x="362" y="119"/>
                  <a:pt x="361" y="119"/>
                </a:cubicBezTo>
                <a:cubicBezTo>
                  <a:pt x="358" y="117"/>
                  <a:pt x="357" y="119"/>
                  <a:pt x="354" y="121"/>
                </a:cubicBezTo>
                <a:cubicBezTo>
                  <a:pt x="352" y="122"/>
                  <a:pt x="351" y="121"/>
                  <a:pt x="349" y="123"/>
                </a:cubicBezTo>
                <a:cubicBezTo>
                  <a:pt x="355" y="120"/>
                  <a:pt x="346" y="117"/>
                  <a:pt x="343" y="118"/>
                </a:cubicBezTo>
                <a:cubicBezTo>
                  <a:pt x="348" y="116"/>
                  <a:pt x="345" y="111"/>
                  <a:pt x="343" y="109"/>
                </a:cubicBezTo>
                <a:cubicBezTo>
                  <a:pt x="343" y="109"/>
                  <a:pt x="344" y="109"/>
                  <a:pt x="344" y="109"/>
                </a:cubicBezTo>
                <a:cubicBezTo>
                  <a:pt x="344" y="106"/>
                  <a:pt x="334" y="103"/>
                  <a:pt x="331" y="101"/>
                </a:cubicBezTo>
                <a:cubicBezTo>
                  <a:pt x="328" y="99"/>
                  <a:pt x="312" y="96"/>
                  <a:pt x="309" y="98"/>
                </a:cubicBezTo>
                <a:cubicBezTo>
                  <a:pt x="305" y="100"/>
                  <a:pt x="310" y="107"/>
                  <a:pt x="310" y="110"/>
                </a:cubicBezTo>
                <a:cubicBezTo>
                  <a:pt x="310" y="114"/>
                  <a:pt x="306" y="115"/>
                  <a:pt x="306" y="119"/>
                </a:cubicBezTo>
                <a:cubicBezTo>
                  <a:pt x="306" y="125"/>
                  <a:pt x="316" y="124"/>
                  <a:pt x="314" y="131"/>
                </a:cubicBezTo>
                <a:cubicBezTo>
                  <a:pt x="312" y="136"/>
                  <a:pt x="306" y="137"/>
                  <a:pt x="303" y="141"/>
                </a:cubicBezTo>
                <a:cubicBezTo>
                  <a:pt x="300" y="144"/>
                  <a:pt x="303" y="150"/>
                  <a:pt x="306" y="152"/>
                </a:cubicBezTo>
                <a:cubicBezTo>
                  <a:pt x="309" y="154"/>
                  <a:pt x="301" y="158"/>
                  <a:pt x="300" y="158"/>
                </a:cubicBezTo>
                <a:cubicBezTo>
                  <a:pt x="295" y="161"/>
                  <a:pt x="290" y="153"/>
                  <a:pt x="289" y="148"/>
                </a:cubicBezTo>
                <a:cubicBezTo>
                  <a:pt x="288" y="144"/>
                  <a:pt x="288" y="140"/>
                  <a:pt x="284" y="138"/>
                </a:cubicBezTo>
                <a:cubicBezTo>
                  <a:pt x="282" y="137"/>
                  <a:pt x="275" y="136"/>
                  <a:pt x="274" y="138"/>
                </a:cubicBezTo>
                <a:cubicBezTo>
                  <a:pt x="272" y="133"/>
                  <a:pt x="265" y="131"/>
                  <a:pt x="260" y="129"/>
                </a:cubicBezTo>
                <a:cubicBezTo>
                  <a:pt x="254" y="127"/>
                  <a:pt x="248" y="127"/>
                  <a:pt x="241" y="128"/>
                </a:cubicBezTo>
                <a:cubicBezTo>
                  <a:pt x="243" y="128"/>
                  <a:pt x="240" y="117"/>
                  <a:pt x="234" y="119"/>
                </a:cubicBezTo>
                <a:cubicBezTo>
                  <a:pt x="236" y="115"/>
                  <a:pt x="235" y="112"/>
                  <a:pt x="236" y="108"/>
                </a:cubicBezTo>
                <a:cubicBezTo>
                  <a:pt x="237" y="106"/>
                  <a:pt x="238" y="103"/>
                  <a:pt x="240" y="101"/>
                </a:cubicBezTo>
                <a:cubicBezTo>
                  <a:pt x="241" y="99"/>
                  <a:pt x="248" y="92"/>
                  <a:pt x="246" y="91"/>
                </a:cubicBezTo>
                <a:cubicBezTo>
                  <a:pt x="252" y="92"/>
                  <a:pt x="258" y="92"/>
                  <a:pt x="263" y="88"/>
                </a:cubicBezTo>
                <a:cubicBezTo>
                  <a:pt x="266" y="85"/>
                  <a:pt x="267" y="80"/>
                  <a:pt x="270" y="76"/>
                </a:cubicBezTo>
                <a:cubicBezTo>
                  <a:pt x="274" y="71"/>
                  <a:pt x="280" y="78"/>
                  <a:pt x="284" y="78"/>
                </a:cubicBezTo>
                <a:cubicBezTo>
                  <a:pt x="291" y="78"/>
                  <a:pt x="291" y="71"/>
                  <a:pt x="287" y="68"/>
                </a:cubicBezTo>
                <a:cubicBezTo>
                  <a:pt x="291" y="68"/>
                  <a:pt x="288" y="60"/>
                  <a:pt x="285" y="59"/>
                </a:cubicBezTo>
                <a:cubicBezTo>
                  <a:pt x="282" y="58"/>
                  <a:pt x="271" y="61"/>
                  <a:pt x="277" y="63"/>
                </a:cubicBezTo>
                <a:cubicBezTo>
                  <a:pt x="276" y="63"/>
                  <a:pt x="268" y="79"/>
                  <a:pt x="263" y="71"/>
                </a:cubicBezTo>
                <a:cubicBezTo>
                  <a:pt x="262" y="69"/>
                  <a:pt x="261" y="62"/>
                  <a:pt x="258" y="62"/>
                </a:cubicBezTo>
                <a:cubicBezTo>
                  <a:pt x="255" y="62"/>
                  <a:pt x="254" y="65"/>
                  <a:pt x="253" y="67"/>
                </a:cubicBezTo>
                <a:cubicBezTo>
                  <a:pt x="254" y="63"/>
                  <a:pt x="243" y="60"/>
                  <a:pt x="241" y="59"/>
                </a:cubicBezTo>
                <a:cubicBezTo>
                  <a:pt x="246" y="56"/>
                  <a:pt x="242" y="52"/>
                  <a:pt x="238" y="50"/>
                </a:cubicBezTo>
                <a:cubicBezTo>
                  <a:pt x="235" y="49"/>
                  <a:pt x="227" y="47"/>
                  <a:pt x="225" y="50"/>
                </a:cubicBezTo>
                <a:cubicBezTo>
                  <a:pt x="218" y="58"/>
                  <a:pt x="231" y="59"/>
                  <a:pt x="235" y="61"/>
                </a:cubicBezTo>
                <a:cubicBezTo>
                  <a:pt x="236" y="61"/>
                  <a:pt x="240" y="64"/>
                  <a:pt x="237" y="65"/>
                </a:cubicBezTo>
                <a:cubicBezTo>
                  <a:pt x="235" y="66"/>
                  <a:pt x="229" y="68"/>
                  <a:pt x="229" y="69"/>
                </a:cubicBezTo>
                <a:cubicBezTo>
                  <a:pt x="227" y="72"/>
                  <a:pt x="231" y="76"/>
                  <a:pt x="228" y="79"/>
                </a:cubicBezTo>
                <a:cubicBezTo>
                  <a:pt x="225" y="76"/>
                  <a:pt x="225" y="71"/>
                  <a:pt x="223" y="67"/>
                </a:cubicBezTo>
                <a:cubicBezTo>
                  <a:pt x="226" y="71"/>
                  <a:pt x="211" y="69"/>
                  <a:pt x="211" y="69"/>
                </a:cubicBezTo>
                <a:cubicBezTo>
                  <a:pt x="206" y="69"/>
                  <a:pt x="198" y="72"/>
                  <a:pt x="194" y="67"/>
                </a:cubicBezTo>
                <a:cubicBezTo>
                  <a:pt x="194" y="66"/>
                  <a:pt x="194" y="58"/>
                  <a:pt x="196" y="60"/>
                </a:cubicBezTo>
                <a:cubicBezTo>
                  <a:pt x="193" y="58"/>
                  <a:pt x="191" y="55"/>
                  <a:pt x="189" y="54"/>
                </a:cubicBezTo>
                <a:cubicBezTo>
                  <a:pt x="178" y="58"/>
                  <a:pt x="167" y="62"/>
                  <a:pt x="157" y="68"/>
                </a:cubicBezTo>
                <a:cubicBezTo>
                  <a:pt x="158" y="68"/>
                  <a:pt x="159" y="68"/>
                  <a:pt x="161" y="67"/>
                </a:cubicBezTo>
                <a:cubicBezTo>
                  <a:pt x="164" y="66"/>
                  <a:pt x="166" y="65"/>
                  <a:pt x="169" y="63"/>
                </a:cubicBezTo>
                <a:cubicBezTo>
                  <a:pt x="172" y="62"/>
                  <a:pt x="179" y="58"/>
                  <a:pt x="183" y="61"/>
                </a:cubicBezTo>
                <a:cubicBezTo>
                  <a:pt x="183" y="60"/>
                  <a:pt x="184" y="60"/>
                  <a:pt x="185" y="59"/>
                </a:cubicBezTo>
                <a:cubicBezTo>
                  <a:pt x="187" y="62"/>
                  <a:pt x="189" y="65"/>
                  <a:pt x="191" y="68"/>
                </a:cubicBezTo>
                <a:cubicBezTo>
                  <a:pt x="189" y="66"/>
                  <a:pt x="184" y="67"/>
                  <a:pt x="181" y="67"/>
                </a:cubicBezTo>
                <a:cubicBezTo>
                  <a:pt x="179" y="68"/>
                  <a:pt x="175" y="69"/>
                  <a:pt x="174" y="71"/>
                </a:cubicBezTo>
                <a:cubicBezTo>
                  <a:pt x="175" y="73"/>
                  <a:pt x="176" y="76"/>
                  <a:pt x="176" y="77"/>
                </a:cubicBezTo>
                <a:cubicBezTo>
                  <a:pt x="171" y="74"/>
                  <a:pt x="168" y="69"/>
                  <a:pt x="162" y="69"/>
                </a:cubicBezTo>
                <a:cubicBezTo>
                  <a:pt x="159" y="69"/>
                  <a:pt x="156" y="69"/>
                  <a:pt x="154" y="69"/>
                </a:cubicBezTo>
                <a:cubicBezTo>
                  <a:pt x="122" y="87"/>
                  <a:pt x="95" y="112"/>
                  <a:pt x="76" y="143"/>
                </a:cubicBezTo>
                <a:cubicBezTo>
                  <a:pt x="77" y="145"/>
                  <a:pt x="78" y="146"/>
                  <a:pt x="80" y="146"/>
                </a:cubicBezTo>
                <a:cubicBezTo>
                  <a:pt x="83" y="147"/>
                  <a:pt x="80" y="157"/>
                  <a:pt x="86" y="152"/>
                </a:cubicBezTo>
                <a:cubicBezTo>
                  <a:pt x="88" y="153"/>
                  <a:pt x="88" y="156"/>
                  <a:pt x="87" y="158"/>
                </a:cubicBezTo>
                <a:cubicBezTo>
                  <a:pt x="87" y="158"/>
                  <a:pt x="101" y="166"/>
                  <a:pt x="102" y="167"/>
                </a:cubicBezTo>
                <a:cubicBezTo>
                  <a:pt x="104" y="169"/>
                  <a:pt x="108" y="171"/>
                  <a:pt x="109" y="174"/>
                </a:cubicBezTo>
                <a:cubicBezTo>
                  <a:pt x="110" y="176"/>
                  <a:pt x="108" y="179"/>
                  <a:pt x="106" y="180"/>
                </a:cubicBezTo>
                <a:cubicBezTo>
                  <a:pt x="105" y="179"/>
                  <a:pt x="100" y="174"/>
                  <a:pt x="100" y="176"/>
                </a:cubicBezTo>
                <a:cubicBezTo>
                  <a:pt x="99" y="177"/>
                  <a:pt x="100" y="186"/>
                  <a:pt x="103" y="186"/>
                </a:cubicBezTo>
                <a:cubicBezTo>
                  <a:pt x="98" y="186"/>
                  <a:pt x="100" y="207"/>
                  <a:pt x="99" y="211"/>
                </a:cubicBezTo>
                <a:cubicBezTo>
                  <a:pt x="99" y="212"/>
                  <a:pt x="100" y="212"/>
                  <a:pt x="100" y="212"/>
                </a:cubicBezTo>
                <a:cubicBezTo>
                  <a:pt x="99" y="216"/>
                  <a:pt x="102" y="231"/>
                  <a:pt x="109" y="230"/>
                </a:cubicBezTo>
                <a:cubicBezTo>
                  <a:pt x="104" y="231"/>
                  <a:pt x="116" y="246"/>
                  <a:pt x="118" y="247"/>
                </a:cubicBezTo>
                <a:cubicBezTo>
                  <a:pt x="122" y="250"/>
                  <a:pt x="127" y="252"/>
                  <a:pt x="130" y="256"/>
                </a:cubicBezTo>
                <a:cubicBezTo>
                  <a:pt x="134" y="261"/>
                  <a:pt x="134" y="268"/>
                  <a:pt x="138" y="272"/>
                </a:cubicBezTo>
                <a:cubicBezTo>
                  <a:pt x="137" y="276"/>
                  <a:pt x="145" y="281"/>
                  <a:pt x="145" y="286"/>
                </a:cubicBezTo>
                <a:cubicBezTo>
                  <a:pt x="144" y="287"/>
                  <a:pt x="144" y="287"/>
                  <a:pt x="143" y="287"/>
                </a:cubicBezTo>
                <a:cubicBezTo>
                  <a:pt x="145" y="292"/>
                  <a:pt x="151" y="292"/>
                  <a:pt x="154" y="296"/>
                </a:cubicBezTo>
                <a:cubicBezTo>
                  <a:pt x="155" y="299"/>
                  <a:pt x="154" y="305"/>
                  <a:pt x="158" y="304"/>
                </a:cubicBezTo>
                <a:cubicBezTo>
                  <a:pt x="159" y="296"/>
                  <a:pt x="154" y="289"/>
                  <a:pt x="150" y="283"/>
                </a:cubicBezTo>
                <a:cubicBezTo>
                  <a:pt x="148" y="280"/>
                  <a:pt x="146" y="277"/>
                  <a:pt x="144" y="273"/>
                </a:cubicBezTo>
                <a:cubicBezTo>
                  <a:pt x="143" y="270"/>
                  <a:pt x="142" y="266"/>
                  <a:pt x="141" y="263"/>
                </a:cubicBezTo>
                <a:cubicBezTo>
                  <a:pt x="142" y="263"/>
                  <a:pt x="150" y="266"/>
                  <a:pt x="149" y="267"/>
                </a:cubicBezTo>
                <a:cubicBezTo>
                  <a:pt x="146" y="274"/>
                  <a:pt x="160" y="286"/>
                  <a:pt x="163" y="290"/>
                </a:cubicBezTo>
                <a:cubicBezTo>
                  <a:pt x="164" y="291"/>
                  <a:pt x="172" y="301"/>
                  <a:pt x="168" y="301"/>
                </a:cubicBezTo>
                <a:cubicBezTo>
                  <a:pt x="173" y="301"/>
                  <a:pt x="179" y="308"/>
                  <a:pt x="181" y="311"/>
                </a:cubicBezTo>
                <a:cubicBezTo>
                  <a:pt x="184" y="316"/>
                  <a:pt x="183" y="322"/>
                  <a:pt x="185" y="328"/>
                </a:cubicBezTo>
                <a:cubicBezTo>
                  <a:pt x="187" y="334"/>
                  <a:pt x="196" y="337"/>
                  <a:pt x="202" y="340"/>
                </a:cubicBezTo>
                <a:cubicBezTo>
                  <a:pt x="206" y="343"/>
                  <a:pt x="210" y="346"/>
                  <a:pt x="215" y="348"/>
                </a:cubicBezTo>
                <a:cubicBezTo>
                  <a:pt x="222" y="351"/>
                  <a:pt x="224" y="348"/>
                  <a:pt x="230" y="347"/>
                </a:cubicBezTo>
                <a:cubicBezTo>
                  <a:pt x="238" y="346"/>
                  <a:pt x="239" y="356"/>
                  <a:pt x="247" y="359"/>
                </a:cubicBezTo>
                <a:cubicBezTo>
                  <a:pt x="251" y="362"/>
                  <a:pt x="260" y="365"/>
                  <a:pt x="265" y="363"/>
                </a:cubicBezTo>
                <a:cubicBezTo>
                  <a:pt x="263" y="364"/>
                  <a:pt x="272" y="377"/>
                  <a:pt x="273" y="378"/>
                </a:cubicBezTo>
                <a:cubicBezTo>
                  <a:pt x="276" y="382"/>
                  <a:pt x="281" y="384"/>
                  <a:pt x="285" y="388"/>
                </a:cubicBezTo>
                <a:cubicBezTo>
                  <a:pt x="286" y="388"/>
                  <a:pt x="287" y="387"/>
                  <a:pt x="287" y="385"/>
                </a:cubicBezTo>
                <a:cubicBezTo>
                  <a:pt x="286" y="389"/>
                  <a:pt x="292" y="396"/>
                  <a:pt x="295" y="395"/>
                </a:cubicBezTo>
                <a:cubicBezTo>
                  <a:pt x="299" y="395"/>
                  <a:pt x="300" y="387"/>
                  <a:pt x="300" y="385"/>
                </a:cubicBezTo>
                <a:cubicBezTo>
                  <a:pt x="293" y="388"/>
                  <a:pt x="287" y="385"/>
                  <a:pt x="284" y="379"/>
                </a:cubicBezTo>
                <a:cubicBezTo>
                  <a:pt x="283" y="377"/>
                  <a:pt x="278" y="368"/>
                  <a:pt x="282" y="368"/>
                </a:cubicBezTo>
                <a:cubicBezTo>
                  <a:pt x="289" y="368"/>
                  <a:pt x="284" y="363"/>
                  <a:pt x="284" y="358"/>
                </a:cubicBezTo>
                <a:cubicBezTo>
                  <a:pt x="283" y="353"/>
                  <a:pt x="278" y="350"/>
                  <a:pt x="276" y="346"/>
                </a:cubicBezTo>
                <a:cubicBezTo>
                  <a:pt x="274" y="350"/>
                  <a:pt x="267" y="349"/>
                  <a:pt x="265" y="346"/>
                </a:cubicBezTo>
                <a:cubicBezTo>
                  <a:pt x="265" y="347"/>
                  <a:pt x="264" y="349"/>
                  <a:pt x="264" y="350"/>
                </a:cubicBezTo>
                <a:cubicBezTo>
                  <a:pt x="263" y="350"/>
                  <a:pt x="261" y="350"/>
                  <a:pt x="259" y="350"/>
                </a:cubicBezTo>
                <a:cubicBezTo>
                  <a:pt x="260" y="346"/>
                  <a:pt x="260" y="340"/>
                  <a:pt x="261" y="336"/>
                </a:cubicBezTo>
                <a:cubicBezTo>
                  <a:pt x="263" y="330"/>
                  <a:pt x="274" y="318"/>
                  <a:pt x="260" y="319"/>
                </a:cubicBezTo>
                <a:cubicBezTo>
                  <a:pt x="255" y="319"/>
                  <a:pt x="253" y="321"/>
                  <a:pt x="251" y="326"/>
                </a:cubicBezTo>
                <a:cubicBezTo>
                  <a:pt x="249" y="330"/>
                  <a:pt x="250" y="333"/>
                  <a:pt x="245" y="335"/>
                </a:cubicBezTo>
                <a:cubicBezTo>
                  <a:pt x="242" y="337"/>
                  <a:pt x="232" y="336"/>
                  <a:pt x="229" y="334"/>
                </a:cubicBezTo>
                <a:cubicBezTo>
                  <a:pt x="223" y="331"/>
                  <a:pt x="218" y="319"/>
                  <a:pt x="218" y="312"/>
                </a:cubicBezTo>
                <a:cubicBezTo>
                  <a:pt x="218" y="303"/>
                  <a:pt x="223" y="295"/>
                  <a:pt x="218" y="287"/>
                </a:cubicBezTo>
                <a:cubicBezTo>
                  <a:pt x="220" y="285"/>
                  <a:pt x="222" y="282"/>
                  <a:pt x="225" y="280"/>
                </a:cubicBezTo>
                <a:cubicBezTo>
                  <a:pt x="227" y="279"/>
                  <a:pt x="229" y="281"/>
                  <a:pt x="230" y="277"/>
                </a:cubicBezTo>
                <a:cubicBezTo>
                  <a:pt x="229" y="277"/>
                  <a:pt x="228" y="275"/>
                  <a:pt x="227" y="275"/>
                </a:cubicBezTo>
                <a:cubicBezTo>
                  <a:pt x="232" y="278"/>
                  <a:pt x="242" y="272"/>
                  <a:pt x="246" y="275"/>
                </a:cubicBezTo>
                <a:cubicBezTo>
                  <a:pt x="249" y="277"/>
                  <a:pt x="252" y="278"/>
                  <a:pt x="254" y="275"/>
                </a:cubicBezTo>
                <a:cubicBezTo>
                  <a:pt x="254" y="274"/>
                  <a:pt x="251" y="269"/>
                  <a:pt x="253" y="267"/>
                </a:cubicBezTo>
                <a:cubicBezTo>
                  <a:pt x="254" y="273"/>
                  <a:pt x="257" y="274"/>
                  <a:pt x="262" y="270"/>
                </a:cubicBezTo>
                <a:cubicBezTo>
                  <a:pt x="264" y="272"/>
                  <a:pt x="270" y="271"/>
                  <a:pt x="273" y="273"/>
                </a:cubicBezTo>
                <a:cubicBezTo>
                  <a:pt x="277" y="276"/>
                  <a:pt x="278" y="279"/>
                  <a:pt x="282" y="274"/>
                </a:cubicBezTo>
                <a:cubicBezTo>
                  <a:pt x="285" y="278"/>
                  <a:pt x="285" y="278"/>
                  <a:pt x="286" y="282"/>
                </a:cubicBezTo>
                <a:cubicBezTo>
                  <a:pt x="287" y="286"/>
                  <a:pt x="289" y="295"/>
                  <a:pt x="292" y="297"/>
                </a:cubicBezTo>
                <a:cubicBezTo>
                  <a:pt x="299" y="301"/>
                  <a:pt x="298" y="290"/>
                  <a:pt x="297" y="286"/>
                </a:cubicBezTo>
                <a:cubicBezTo>
                  <a:pt x="297" y="285"/>
                  <a:pt x="297" y="274"/>
                  <a:pt x="296" y="274"/>
                </a:cubicBezTo>
                <a:cubicBezTo>
                  <a:pt x="286" y="272"/>
                  <a:pt x="290" y="263"/>
                  <a:pt x="296" y="258"/>
                </a:cubicBezTo>
                <a:cubicBezTo>
                  <a:pt x="297" y="257"/>
                  <a:pt x="304" y="254"/>
                  <a:pt x="308" y="252"/>
                </a:cubicBezTo>
                <a:cubicBezTo>
                  <a:pt x="311" y="249"/>
                  <a:pt x="314" y="244"/>
                  <a:pt x="313" y="240"/>
                </a:cubicBezTo>
                <a:cubicBezTo>
                  <a:pt x="314" y="240"/>
                  <a:pt x="316" y="239"/>
                  <a:pt x="316" y="237"/>
                </a:cubicBezTo>
                <a:cubicBezTo>
                  <a:pt x="315" y="237"/>
                  <a:pt x="311" y="233"/>
                  <a:pt x="311" y="234"/>
                </a:cubicBezTo>
                <a:cubicBezTo>
                  <a:pt x="313" y="232"/>
                  <a:pt x="313" y="230"/>
                  <a:pt x="311" y="228"/>
                </a:cubicBezTo>
                <a:cubicBezTo>
                  <a:pt x="315" y="226"/>
                  <a:pt x="313" y="223"/>
                  <a:pt x="316" y="221"/>
                </a:cubicBezTo>
                <a:cubicBezTo>
                  <a:pt x="320" y="226"/>
                  <a:pt x="328" y="221"/>
                  <a:pt x="324" y="217"/>
                </a:cubicBezTo>
                <a:cubicBezTo>
                  <a:pt x="327" y="212"/>
                  <a:pt x="335" y="214"/>
                  <a:pt x="337" y="210"/>
                </a:cubicBezTo>
                <a:cubicBezTo>
                  <a:pt x="342" y="211"/>
                  <a:pt x="338" y="205"/>
                  <a:pt x="341" y="201"/>
                </a:cubicBezTo>
                <a:cubicBezTo>
                  <a:pt x="343" y="198"/>
                  <a:pt x="347" y="198"/>
                  <a:pt x="350" y="197"/>
                </a:cubicBezTo>
                <a:cubicBezTo>
                  <a:pt x="350" y="197"/>
                  <a:pt x="359" y="192"/>
                  <a:pt x="356" y="191"/>
                </a:cubicBezTo>
                <a:cubicBezTo>
                  <a:pt x="362" y="192"/>
                  <a:pt x="373" y="186"/>
                  <a:pt x="364" y="181"/>
                </a:cubicBezTo>
                <a:cubicBezTo>
                  <a:pt x="366" y="178"/>
                  <a:pt x="361" y="177"/>
                  <a:pt x="358" y="176"/>
                </a:cubicBezTo>
                <a:cubicBezTo>
                  <a:pt x="361" y="175"/>
                  <a:pt x="364" y="177"/>
                  <a:pt x="366" y="175"/>
                </a:cubicBezTo>
                <a:cubicBezTo>
                  <a:pt x="370" y="172"/>
                  <a:pt x="367" y="171"/>
                  <a:pt x="363" y="170"/>
                </a:cubicBezTo>
                <a:cubicBezTo>
                  <a:pt x="359" y="169"/>
                  <a:pt x="353" y="172"/>
                  <a:pt x="349" y="174"/>
                </a:cubicBezTo>
                <a:cubicBezTo>
                  <a:pt x="346" y="176"/>
                  <a:pt x="345" y="180"/>
                  <a:pt x="341" y="180"/>
                </a:cubicBezTo>
                <a:close/>
                <a:moveTo>
                  <a:pt x="412" y="404"/>
                </a:moveTo>
                <a:cubicBezTo>
                  <a:pt x="410" y="402"/>
                  <a:pt x="406" y="403"/>
                  <a:pt x="404" y="402"/>
                </a:cubicBezTo>
                <a:cubicBezTo>
                  <a:pt x="401" y="401"/>
                  <a:pt x="399" y="400"/>
                  <a:pt x="396" y="399"/>
                </a:cubicBezTo>
                <a:cubicBezTo>
                  <a:pt x="396" y="392"/>
                  <a:pt x="389" y="390"/>
                  <a:pt x="384" y="387"/>
                </a:cubicBezTo>
                <a:cubicBezTo>
                  <a:pt x="380" y="383"/>
                  <a:pt x="377" y="380"/>
                  <a:pt x="371" y="381"/>
                </a:cubicBezTo>
                <a:cubicBezTo>
                  <a:pt x="370" y="381"/>
                  <a:pt x="363" y="384"/>
                  <a:pt x="365" y="385"/>
                </a:cubicBezTo>
                <a:cubicBezTo>
                  <a:pt x="360" y="381"/>
                  <a:pt x="358" y="379"/>
                  <a:pt x="353" y="378"/>
                </a:cubicBezTo>
                <a:cubicBezTo>
                  <a:pt x="347" y="376"/>
                  <a:pt x="344" y="369"/>
                  <a:pt x="338" y="375"/>
                </a:cubicBezTo>
                <a:cubicBezTo>
                  <a:pt x="336" y="378"/>
                  <a:pt x="337" y="382"/>
                  <a:pt x="336" y="385"/>
                </a:cubicBezTo>
                <a:cubicBezTo>
                  <a:pt x="331" y="381"/>
                  <a:pt x="340" y="377"/>
                  <a:pt x="336" y="373"/>
                </a:cubicBezTo>
                <a:cubicBezTo>
                  <a:pt x="332" y="368"/>
                  <a:pt x="325" y="376"/>
                  <a:pt x="322" y="378"/>
                </a:cubicBezTo>
                <a:cubicBezTo>
                  <a:pt x="320" y="379"/>
                  <a:pt x="317" y="380"/>
                  <a:pt x="316" y="382"/>
                </a:cubicBezTo>
                <a:cubicBezTo>
                  <a:pt x="314" y="384"/>
                  <a:pt x="314" y="387"/>
                  <a:pt x="312" y="390"/>
                </a:cubicBezTo>
                <a:cubicBezTo>
                  <a:pt x="311" y="387"/>
                  <a:pt x="306" y="388"/>
                  <a:pt x="305" y="386"/>
                </a:cubicBezTo>
                <a:cubicBezTo>
                  <a:pt x="307" y="394"/>
                  <a:pt x="307" y="402"/>
                  <a:pt x="308" y="410"/>
                </a:cubicBezTo>
                <a:cubicBezTo>
                  <a:pt x="309" y="415"/>
                  <a:pt x="308" y="423"/>
                  <a:pt x="304" y="426"/>
                </a:cubicBezTo>
                <a:cubicBezTo>
                  <a:pt x="300" y="430"/>
                  <a:pt x="295" y="434"/>
                  <a:pt x="295" y="440"/>
                </a:cubicBezTo>
                <a:cubicBezTo>
                  <a:pt x="294" y="444"/>
                  <a:pt x="295" y="447"/>
                  <a:pt x="299" y="448"/>
                </a:cubicBezTo>
                <a:cubicBezTo>
                  <a:pt x="299" y="453"/>
                  <a:pt x="293" y="457"/>
                  <a:pt x="294" y="462"/>
                </a:cubicBezTo>
                <a:cubicBezTo>
                  <a:pt x="294" y="463"/>
                  <a:pt x="294" y="466"/>
                  <a:pt x="294" y="468"/>
                </a:cubicBezTo>
                <a:cubicBezTo>
                  <a:pt x="340" y="460"/>
                  <a:pt x="381" y="437"/>
                  <a:pt x="412" y="404"/>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GB"/>
          </a:p>
        </p:txBody>
      </p:sp>
      <p:sp>
        <p:nvSpPr>
          <p:cNvPr id="22" name="Rectangle 21">
            <a:extLst>
              <a:ext uri="{FF2B5EF4-FFF2-40B4-BE49-F238E27FC236}">
                <a16:creationId xmlns:a16="http://schemas.microsoft.com/office/drawing/2014/main" id="{325A3055-6510-4339-9961-2B75BD9B42C4}"/>
              </a:ext>
            </a:extLst>
          </p:cNvPr>
          <p:cNvSpPr/>
          <p:nvPr/>
        </p:nvSpPr>
        <p:spPr>
          <a:xfrm>
            <a:off x="0" y="86265"/>
            <a:ext cx="12192000" cy="3342735"/>
          </a:xfrm>
          <a:prstGeom prst="rect">
            <a:avLst/>
          </a:prstGeom>
          <a:solidFill>
            <a:schemeClr val="tx1">
              <a:lumMod val="20000"/>
              <a:lumOff val="8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9D1C64E4-169A-4195-B4FE-F02EC8A777D2}"/>
              </a:ext>
            </a:extLst>
          </p:cNvPr>
          <p:cNvSpPr>
            <a:spLocks noGrp="1"/>
          </p:cNvSpPr>
          <p:nvPr>
            <p:ph type="title"/>
          </p:nvPr>
        </p:nvSpPr>
        <p:spPr/>
        <p:txBody>
          <a:bodyPr/>
          <a:lstStyle/>
          <a:p>
            <a:r>
              <a:rPr lang="en-US" dirty="0">
                <a:solidFill>
                  <a:schemeClr val="tx1"/>
                </a:solidFill>
              </a:rPr>
              <a:t>Thank you!</a:t>
            </a:r>
          </a:p>
        </p:txBody>
      </p:sp>
      <p:sp>
        <p:nvSpPr>
          <p:cNvPr id="6" name="Content Placeholder 5">
            <a:extLst>
              <a:ext uri="{FF2B5EF4-FFF2-40B4-BE49-F238E27FC236}">
                <a16:creationId xmlns:a16="http://schemas.microsoft.com/office/drawing/2014/main" id="{9AC44313-7989-467A-A5BF-591ACA49A51D}"/>
              </a:ext>
            </a:extLst>
          </p:cNvPr>
          <p:cNvSpPr>
            <a:spLocks noGrp="1"/>
          </p:cNvSpPr>
          <p:nvPr>
            <p:ph idx="1"/>
          </p:nvPr>
        </p:nvSpPr>
        <p:spPr>
          <a:xfrm>
            <a:off x="838200" y="2016633"/>
            <a:ext cx="5257800" cy="1170948"/>
          </a:xfrm>
        </p:spPr>
        <p:txBody>
          <a:bodyPr>
            <a:normAutofit fontScale="92500" lnSpcReduction="20000"/>
          </a:bodyPr>
          <a:lstStyle/>
          <a:p>
            <a:pPr marL="273050" indent="-273050">
              <a:spcBef>
                <a:spcPts val="600"/>
              </a:spcBef>
              <a:defRPr/>
            </a:pPr>
            <a:r>
              <a:rPr lang="en-US" sz="2000" dirty="0">
                <a:solidFill>
                  <a:schemeClr val="tx1"/>
                </a:solidFill>
                <a:ea typeface="ＭＳ Ｐゴシック" charset="-128"/>
                <a:cs typeface="ＭＳ Ｐゴシック" charset="-128"/>
              </a:rPr>
              <a:t>Arle Lommel</a:t>
            </a:r>
          </a:p>
          <a:p>
            <a:pPr marL="273050" indent="-273050">
              <a:spcBef>
                <a:spcPts val="600"/>
              </a:spcBef>
              <a:defRPr/>
            </a:pPr>
            <a:r>
              <a:rPr lang="en-US" sz="2000" dirty="0" err="1">
                <a:solidFill>
                  <a:schemeClr val="tx1"/>
                </a:solidFill>
                <a:ea typeface="ＭＳ Ｐゴシック" charset="-128"/>
                <a:cs typeface="ＭＳ Ｐゴシック" charset="-128"/>
              </a:rPr>
              <a:t>alommel@csa-research.com</a:t>
            </a:r>
            <a:endParaRPr lang="en-US" sz="2000" dirty="0">
              <a:solidFill>
                <a:schemeClr val="tx1"/>
              </a:solidFill>
              <a:ea typeface="ＭＳ Ｐゴシック" charset="-128"/>
              <a:cs typeface="ＭＳ Ｐゴシック" charset="-128"/>
            </a:endParaRPr>
          </a:p>
          <a:p>
            <a:pPr marL="273050" indent="-273050">
              <a:spcBef>
                <a:spcPts val="600"/>
              </a:spcBef>
              <a:defRPr/>
            </a:pPr>
            <a:r>
              <a:rPr lang="en-US" sz="2000" dirty="0">
                <a:solidFill>
                  <a:schemeClr val="tx1"/>
                </a:solidFill>
                <a:ea typeface="ＭＳ Ｐゴシック" charset="-128"/>
                <a:cs typeface="ＭＳ Ｐゴシック" charset="-128"/>
              </a:rPr>
              <a:t>+1.812.369.1153</a:t>
            </a:r>
          </a:p>
        </p:txBody>
      </p:sp>
      <p:cxnSp>
        <p:nvCxnSpPr>
          <p:cNvPr id="8" name="Straight Connector 7">
            <a:extLst>
              <a:ext uri="{FF2B5EF4-FFF2-40B4-BE49-F238E27FC236}">
                <a16:creationId xmlns:a16="http://schemas.microsoft.com/office/drawing/2014/main" id="{723A7D1D-AFDE-4BB5-9AC3-7C21888074EE}"/>
              </a:ext>
            </a:extLst>
          </p:cNvPr>
          <p:cNvCxnSpPr/>
          <p:nvPr/>
        </p:nvCxnSpPr>
        <p:spPr>
          <a:xfrm>
            <a:off x="4625197" y="1786071"/>
            <a:ext cx="2941607"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Content Placeholder 5">
            <a:extLst>
              <a:ext uri="{FF2B5EF4-FFF2-40B4-BE49-F238E27FC236}">
                <a16:creationId xmlns:a16="http://schemas.microsoft.com/office/drawing/2014/main" id="{EA90D8D7-42E1-A196-AE28-9DEF33385121}"/>
              </a:ext>
            </a:extLst>
          </p:cNvPr>
          <p:cNvSpPr txBox="1">
            <a:spLocks/>
          </p:cNvSpPr>
          <p:nvPr/>
        </p:nvSpPr>
        <p:spPr>
          <a:xfrm>
            <a:off x="6110288" y="2016633"/>
            <a:ext cx="5257800" cy="1170948"/>
          </a:xfrm>
          <a:prstGeom prst="rect">
            <a:avLst/>
          </a:prstGeom>
        </p:spPr>
        <p:txBody>
          <a:bodyPr vert="horz" lIns="91440" tIns="45720" rIns="91440" bIns="45720" rtlCol="0" anchor="ctr">
            <a:normAutofit fontScale="92500" lnSpcReduction="20000"/>
          </a:bodyPr>
          <a:lstStyle>
            <a:lvl1pPr marL="0" indent="0" algn="ctr" defTabSz="914400" rtl="0" eaLnBrk="1" latinLnBrk="0" hangingPunct="1">
              <a:lnSpc>
                <a:spcPct val="100000"/>
              </a:lnSpc>
              <a:spcBef>
                <a:spcPts val="1200"/>
              </a:spcBef>
              <a:spcAft>
                <a:spcPts val="600"/>
              </a:spcAft>
              <a:buFont typeface="Arial" panose="020B0604020202020204" pitchFamily="34" charset="0"/>
              <a:buNone/>
              <a:defRPr sz="2400" kern="1200">
                <a:solidFill>
                  <a:schemeClr val="bg1"/>
                </a:solidFill>
                <a:latin typeface="+mn-lt"/>
                <a:ea typeface="+mn-ea"/>
                <a:cs typeface="+mn-cs"/>
              </a:defRPr>
            </a:lvl1pPr>
            <a:lvl2pPr marL="800100" indent="-342900" algn="l" defTabSz="914400" rtl="0" eaLnBrk="1" latinLnBrk="0" hangingPunct="1">
              <a:lnSpc>
                <a:spcPct val="100000"/>
              </a:lnSpc>
              <a:spcBef>
                <a:spcPts val="0"/>
              </a:spcBef>
              <a:spcAft>
                <a:spcPts val="1200"/>
              </a:spcAft>
              <a:buFont typeface="Noto Sans" panose="020B0502040504020204" pitchFamily="34"/>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0"/>
              </a:spcBef>
              <a:spcAft>
                <a:spcPts val="1200"/>
              </a:spcAft>
              <a:buFont typeface="Courier New" panose="02070309020205020404" pitchFamily="49" charset="0"/>
              <a:buChar char="o"/>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spcAft>
                <a:spcPts val="120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3050" indent="-273050">
              <a:spcBef>
                <a:spcPts val="600"/>
              </a:spcBef>
              <a:defRPr/>
            </a:pPr>
            <a:r>
              <a:rPr lang="en-US" sz="2000" dirty="0">
                <a:solidFill>
                  <a:schemeClr val="tx1"/>
                </a:solidFill>
                <a:ea typeface="ＭＳ Ｐゴシック" charset="-128"/>
                <a:cs typeface="ＭＳ Ｐゴシック" charset="-128"/>
              </a:rPr>
              <a:t>Hélène </a:t>
            </a:r>
            <a:r>
              <a:rPr lang="en-US" sz="2000" dirty="0" err="1">
                <a:solidFill>
                  <a:schemeClr val="tx1"/>
                </a:solidFill>
                <a:ea typeface="ＭＳ Ｐゴシック" charset="-128"/>
                <a:cs typeface="ＭＳ Ｐゴシック" charset="-128"/>
              </a:rPr>
              <a:t>Pielmeier</a:t>
            </a:r>
            <a:endParaRPr lang="en-US" sz="2000" dirty="0">
              <a:solidFill>
                <a:schemeClr val="tx1"/>
              </a:solidFill>
              <a:ea typeface="ＭＳ Ｐゴシック" charset="-128"/>
              <a:cs typeface="ＭＳ Ｐゴシック" charset="-128"/>
            </a:endParaRPr>
          </a:p>
          <a:p>
            <a:pPr marL="273050" indent="-273050">
              <a:spcBef>
                <a:spcPts val="600"/>
              </a:spcBef>
              <a:defRPr/>
            </a:pPr>
            <a:r>
              <a:rPr lang="en-US" sz="2000" dirty="0" err="1">
                <a:solidFill>
                  <a:schemeClr val="tx1"/>
                </a:solidFill>
                <a:ea typeface="ＭＳ Ｐゴシック" charset="-128"/>
                <a:cs typeface="ＭＳ Ｐゴシック" charset="-128"/>
              </a:rPr>
              <a:t>helene@csa-research.com</a:t>
            </a:r>
            <a:endParaRPr lang="en-US" sz="2000" dirty="0">
              <a:solidFill>
                <a:schemeClr val="tx1"/>
              </a:solidFill>
              <a:ea typeface="ＭＳ Ｐゴシック" charset="-128"/>
              <a:cs typeface="ＭＳ Ｐゴシック" charset="-128"/>
            </a:endParaRPr>
          </a:p>
          <a:p>
            <a:pPr marL="273050" indent="-273050">
              <a:spcBef>
                <a:spcPts val="600"/>
              </a:spcBef>
              <a:defRPr/>
            </a:pPr>
            <a:r>
              <a:rPr lang="en-US" sz="2000" dirty="0">
                <a:solidFill>
                  <a:schemeClr val="tx1"/>
                </a:solidFill>
                <a:ea typeface="ＭＳ Ｐゴシック" charset="-128"/>
                <a:cs typeface="ＭＳ Ｐゴシック" charset="-128"/>
              </a:rPr>
              <a:t>+1.978.275.0500 x809</a:t>
            </a:r>
          </a:p>
        </p:txBody>
      </p:sp>
    </p:spTree>
    <p:extLst>
      <p:ext uri="{BB962C8B-B14F-4D97-AF65-F5344CB8AC3E}">
        <p14:creationId xmlns:p14="http://schemas.microsoft.com/office/powerpoint/2010/main" val="3506624679"/>
      </p:ext>
    </p:extLst>
  </p:cSld>
  <p:clrMapOvr>
    <a:masterClrMapping/>
  </p:clrMapOvr>
</p:sld>
</file>

<file path=ppt/theme/theme1.xml><?xml version="1.0" encoding="utf-8"?>
<a:theme xmlns:a="http://schemas.openxmlformats.org/drawingml/2006/main" name="Office Theme">
  <a:themeElements>
    <a:clrScheme name="Custom 1">
      <a:dk1>
        <a:srgbClr val="5A5A5A"/>
      </a:dk1>
      <a:lt1>
        <a:srgbClr val="FFFFFF"/>
      </a:lt1>
      <a:dk2>
        <a:srgbClr val="E48D25"/>
      </a:dk2>
      <a:lt2>
        <a:srgbClr val="6075A7"/>
      </a:lt2>
      <a:accent1>
        <a:srgbClr val="6075A7"/>
      </a:accent1>
      <a:accent2>
        <a:srgbClr val="5A5A5A"/>
      </a:accent2>
      <a:accent3>
        <a:srgbClr val="E48D25"/>
      </a:accent3>
      <a:accent4>
        <a:srgbClr val="C84938"/>
      </a:accent4>
      <a:accent5>
        <a:srgbClr val="76AA51"/>
      </a:accent5>
      <a:accent6>
        <a:srgbClr val="00A79D"/>
      </a:accent6>
      <a:hlink>
        <a:srgbClr val="A97C50"/>
      </a:hlink>
      <a:folHlink>
        <a:srgbClr val="875295"/>
      </a:folHlink>
    </a:clrScheme>
    <a:fontScheme name="CSA FONTS">
      <a:majorFont>
        <a:latin typeface="Noto Sans"/>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92227764-A824-4DA7-83C6-B66267989D26}" vid="{8970A801-F9FE-49CC-8BCA-BA94487CB2C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1705</TotalTime>
  <Words>4196</Words>
  <Application>Microsoft Macintosh PowerPoint</Application>
  <PresentationFormat>Widescreen</PresentationFormat>
  <Paragraphs>241</Paragraphs>
  <Slides>21</Slides>
  <Notes>19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ＭＳ Ｐゴシック</vt:lpstr>
      <vt:lpstr>Arial</vt:lpstr>
      <vt:lpstr>Calibri</vt:lpstr>
      <vt:lpstr>Courier</vt:lpstr>
      <vt:lpstr>Courier New</vt:lpstr>
      <vt:lpstr>Noto Sans</vt:lpstr>
      <vt:lpstr>Office Theme</vt:lpstr>
      <vt:lpstr>Using the Global CX Calculator as a Sales Tool </vt:lpstr>
      <vt:lpstr>Agenda</vt:lpstr>
      <vt:lpstr>Swiss Cheese and Global CX</vt:lpstr>
      <vt:lpstr>The “reverse Swiss cheese model”</vt:lpstr>
      <vt:lpstr>Implications of this model</vt:lpstr>
      <vt:lpstr>“Can’t Read, Won’t Buy” sets the stage</vt:lpstr>
      <vt:lpstr>The Global CX Calculator</vt:lpstr>
      <vt:lpstr>The Global CX Calculator: Predictive analytics for CX</vt:lpstr>
      <vt:lpstr>Introducing the Global CX Calculator</vt:lpstr>
      <vt:lpstr>Demo Time</vt:lpstr>
      <vt:lpstr>Using the Calculator with Clients and Prospects</vt:lpstr>
      <vt:lpstr>Which functions understand the value of CX</vt:lpstr>
      <vt:lpstr>#1: Marketing collateral</vt:lpstr>
      <vt:lpstr>PowerPoint Presentation</vt:lpstr>
      <vt:lpstr>Option #2: Proactive engagement with clients or prospects</vt:lpstr>
      <vt:lpstr>Example of an actual application</vt:lpstr>
      <vt:lpstr>Option #3: Interactive engagement</vt:lpstr>
      <vt:lpstr>A few final notes</vt:lpstr>
      <vt:lpstr>Be strategic, tactful, and realistic</vt:lpstr>
      <vt:lpstr>Questions?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Your Title Goes Here</dc:title>
  <dc:creator>Arle Lommel</dc:creator>
  <cp:lastModifiedBy>Arle Lommel</cp:lastModifiedBy>
  <cp:revision>15</cp:revision>
  <cp:lastPrinted>2019-02-07T22:07:52Z</cp:lastPrinted>
  <dcterms:created xsi:type="dcterms:W3CDTF">2022-05-11T17:18:32Z</dcterms:created>
  <dcterms:modified xsi:type="dcterms:W3CDTF">2026-08-16T03:11:47Z</dcterms:modified>
</cp:coreProperties>
</file>